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Proxima Nova"/>
      <p:regular r:id="rId25"/>
      <p:bold r:id="rId26"/>
      <p:italic r:id="rId27"/>
      <p:boldItalic r:id="rId28"/>
    </p:embeddedFont>
    <p:embeddedFont>
      <p:font typeface="Caveat"/>
      <p:regular r:id="rId29"/>
      <p:bold r:id="rId30"/>
    </p:embeddedFont>
    <p:embeddedFont>
      <p:font typeface="Oswald"/>
      <p:regular r:id="rId31"/>
      <p:bold r:id="rId32"/>
    </p:embeddedFont>
    <p:embeddedFont>
      <p:font typeface="Alfa Slab One"/>
      <p:regular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6D62B5A-C923-49C5-A220-9FF72489388F}">
  <a:tblStyle styleId="{56D62B5A-C923-49C5-A220-9FF72489388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ProximaNova-bold.fntdata"/><Relationship Id="rId25" Type="http://schemas.openxmlformats.org/officeDocument/2006/relationships/font" Target="fonts/ProximaNova-regular.fntdata"/><Relationship Id="rId28" Type="http://schemas.openxmlformats.org/officeDocument/2006/relationships/font" Target="fonts/ProximaNova-boldItalic.fntdata"/><Relationship Id="rId27" Type="http://schemas.openxmlformats.org/officeDocument/2006/relationships/font" Target="fonts/ProximaNova-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Caveat-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Oswald-regular.fntdata"/><Relationship Id="rId30" Type="http://schemas.openxmlformats.org/officeDocument/2006/relationships/font" Target="fonts/Caveat-bold.fntdata"/><Relationship Id="rId11" Type="http://schemas.openxmlformats.org/officeDocument/2006/relationships/slide" Target="slides/slide5.xml"/><Relationship Id="rId33" Type="http://schemas.openxmlformats.org/officeDocument/2006/relationships/font" Target="fonts/AlfaSlabOne-regular.fntdata"/><Relationship Id="rId10" Type="http://schemas.openxmlformats.org/officeDocument/2006/relationships/slide" Target="slides/slide4.xml"/><Relationship Id="rId32" Type="http://schemas.openxmlformats.org/officeDocument/2006/relationships/font" Target="fonts/Oswald-bold.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eekyants.com/blog/ai-demand-forecasting-for-restaurants-cut-food-waste-boost-margins" TargetMode="External"/><Relationship Id="rId3" Type="http://schemas.openxmlformats.org/officeDocument/2006/relationships/hyperlink" Target="https://www.jobaajlearnings.com/casestudies/Starbucks-Rewards-A-Global-Loyalty-Ecosystem-Case-Study" TargetMode="External"/><Relationship Id="rId4" Type="http://schemas.openxmlformats.org/officeDocument/2006/relationships/hyperlink" Target="https://gosnappy.io/blog/ways-ai-can-help-your-restaurant/"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409a925bbac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409a925bbac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409a925bbac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409a925bbac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i="1" lang="en-GB" sz="1400">
                <a:solidFill>
                  <a:schemeClr val="dk1"/>
                </a:solidFill>
                <a:latin typeface="Calibri"/>
                <a:ea typeface="Calibri"/>
                <a:cs typeface="Calibri"/>
                <a:sym typeface="Calibri"/>
              </a:rPr>
              <a:t>OldTown White Coffee customer insights are fragmented </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Imagine the same customer:</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Orders breakfast at an OldTown café through TabSquare QR code, Orders coffee through Grab the following week, Buys OldTown 3-in-1 coffee sachets through Shopee, Returns to another outlet a month later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OldTown already reaches customers through cafés, delivery platforms and online marketplaces. But without an owned system, these will appear as four separate transactions</a:t>
            </a:r>
            <a:r>
              <a:rPr b="1" lang="en-GB">
                <a:solidFill>
                  <a:schemeClr val="dk1"/>
                </a:solidFill>
              </a:rPr>
              <a:t> </a:t>
            </a:r>
            <a:r>
              <a:rPr lang="en-GB">
                <a:solidFill>
                  <a:schemeClr val="dk1"/>
                </a:solidFill>
              </a:rPr>
              <a:t>instead of one complete customer relationship.</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OldTown may not easily know that they came from the same customer, how to personalise which products the customer prefers, how frequent they would buy and which promotion could bring them back.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weakens OldTown’s overall ability to build loyalty and personalise its marketing to suit customers needs.</a:t>
            </a:r>
            <a:endParaRPr>
              <a:solidFill>
                <a:schemeClr val="dk1"/>
              </a:solidFill>
            </a:endParaRPr>
          </a:p>
          <a:p>
            <a:pPr indent="0" lvl="0" marL="0" rtl="0" algn="l">
              <a:spcBef>
                <a:spcPts val="1200"/>
              </a:spcBef>
              <a:spcAft>
                <a:spcPts val="0"/>
              </a:spcAft>
              <a:buNone/>
            </a:pPr>
            <a:r>
              <a:rPr lang="en-GB"/>
              <a:t>Meanwhile, competitors such as starbucks and luckin have their own customer ecosystem apps which are connected through loyalty memberships, </a:t>
            </a:r>
            <a:r>
              <a:rPr lang="en-GB">
                <a:solidFill>
                  <a:schemeClr val="dk1"/>
                </a:solidFill>
              </a:rPr>
              <a:t>personalised </a:t>
            </a:r>
            <a:r>
              <a:rPr lang="en-GB"/>
              <a:t>customer profiles for promotions and data driven product testing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409a925bbac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409a925bbac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Lets dive into luckin’s scaling model as luckin heavily relies on technology and AI</a:t>
            </a:r>
            <a:endParaRPr/>
          </a:p>
          <a:p>
            <a:pPr indent="0" lvl="0" marL="0" rtl="0" algn="l">
              <a:spcBef>
                <a:spcPts val="0"/>
              </a:spcBef>
              <a:spcAft>
                <a:spcPts val="0"/>
              </a:spcAft>
              <a:buNone/>
            </a:pPr>
            <a:r>
              <a:rPr lang="en-GB"/>
              <a:t>Mention the top main points of luckin scaling model (dont need mention all the details)</a:t>
            </a:r>
            <a:endParaRPr/>
          </a:p>
          <a:p>
            <a:pPr indent="0" lvl="0" marL="0" rtl="0" algn="l">
              <a:spcBef>
                <a:spcPts val="0"/>
              </a:spcBef>
              <a:spcAft>
                <a:spcPts val="0"/>
              </a:spcAft>
              <a:buNone/>
            </a:pPr>
            <a:r>
              <a:rPr lang="en-GB"/>
              <a:t>The bottom are OTWC gaps in comparison to luckin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409a925bbac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409a925bbac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409a925bbac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409a925bbac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409a925bbac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409a925bbac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409a925bbac_1_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409a925bbac_1_3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409abcc5f9d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409abcc5f9d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409a925bbac_1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409a925bbac_1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So this part of the app focuses on improving customer experience and brand loyalty.</a:t>
            </a:r>
            <a:endParaRPr/>
          </a:p>
          <a:p>
            <a:pPr indent="0" lvl="0" marL="0" rtl="0" algn="l">
              <a:spcBef>
                <a:spcPts val="0"/>
              </a:spcBef>
              <a:spcAft>
                <a:spcPts val="0"/>
              </a:spcAft>
              <a:buNone/>
            </a:pPr>
            <a:r>
              <a:rPr lang="en-GB"/>
              <a:t>Can mention the bolded parts and read of slide basically HAHA</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409a925bbac_1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409a925bbac_1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As OTWC have no product testing capabilities, we would like to introduce kopi pulse</a:t>
            </a:r>
            <a:endParaRPr/>
          </a:p>
          <a:p>
            <a:pPr indent="0" lvl="0" marL="0" rtl="0" algn="l">
              <a:spcBef>
                <a:spcPts val="0"/>
              </a:spcBef>
              <a:spcAft>
                <a:spcPts val="0"/>
              </a:spcAft>
              <a:buNone/>
            </a:pPr>
            <a:r>
              <a:rPr lang="en-GB"/>
              <a:t>Kopi pulse is a product testing feature which allows customers to vote for a new beverage and the highest voted drink will be made available in store</a:t>
            </a:r>
            <a:endParaRPr/>
          </a:p>
          <a:p>
            <a:pPr indent="0" lvl="0" marL="0" rtl="0" algn="l">
              <a:spcBef>
                <a:spcPts val="0"/>
              </a:spcBef>
              <a:spcAft>
                <a:spcPts val="0"/>
              </a:spcAft>
              <a:buNone/>
            </a:pPr>
            <a:r>
              <a:rPr lang="en-GB"/>
              <a:t>Then read off slides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409abcc5f9d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409abcc5f9d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409a925bbac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409a925bbac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409a925bbac_1_6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409a925bbac_1_6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409a925bbac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409a925bbac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409a925bbac_1_7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409a925bbac_1_7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GB" sz="965">
                <a:solidFill>
                  <a:srgbClr val="666666"/>
                </a:solidFill>
                <a:latin typeface="Calibri"/>
                <a:ea typeface="Calibri"/>
                <a:cs typeface="Calibri"/>
                <a:sym typeface="Calibri"/>
              </a:rPr>
              <a:t>GeekyAnts. (2025). AI demand forecasting for restaurants: Cut food waste and boost margins. </a:t>
            </a:r>
            <a:r>
              <a:rPr lang="en-GB" sz="965" u="sng">
                <a:solidFill>
                  <a:srgbClr val="1C3AA9"/>
                </a:solidFill>
                <a:latin typeface="Calibri"/>
                <a:ea typeface="Calibri"/>
                <a:cs typeface="Calibri"/>
                <a:sym typeface="Calibri"/>
                <a:hlinkClick r:id="rId2">
                  <a:extLst>
                    <a:ext uri="{A12FA001-AC4F-418D-AE19-62706E023703}">
                      <ahyp:hlinkClr val="tx"/>
                    </a:ext>
                  </a:extLst>
                </a:hlinkClick>
              </a:rPr>
              <a:t>https://geekyants.com/blog/ai-demand-forecasting-for-restaurants-cut-food-waste-boost-margins</a:t>
            </a:r>
            <a:endParaRPr sz="965">
              <a:solidFill>
                <a:srgbClr val="666666"/>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965">
              <a:solidFill>
                <a:srgbClr val="666666"/>
              </a:solidFill>
              <a:latin typeface="Calibri"/>
              <a:ea typeface="Calibri"/>
              <a:cs typeface="Calibri"/>
              <a:sym typeface="Calibri"/>
            </a:endParaRPr>
          </a:p>
          <a:p>
            <a:pPr indent="0" lvl="0" marL="0" rtl="0" algn="l">
              <a:lnSpc>
                <a:spcPct val="95000"/>
              </a:lnSpc>
              <a:spcBef>
                <a:spcPts val="0"/>
              </a:spcBef>
              <a:spcAft>
                <a:spcPts val="0"/>
              </a:spcAft>
              <a:buClr>
                <a:schemeClr val="dk1"/>
              </a:buClr>
              <a:buSzPts val="1100"/>
              <a:buFont typeface="Arial"/>
              <a:buNone/>
            </a:pPr>
            <a:r>
              <a:rPr lang="en-GB" sz="965">
                <a:solidFill>
                  <a:srgbClr val="666666"/>
                </a:solidFill>
                <a:latin typeface="Calibri"/>
                <a:ea typeface="Calibri"/>
                <a:cs typeface="Calibri"/>
                <a:sym typeface="Calibri"/>
              </a:rPr>
              <a:t>Jobaaj Learnings. (2025). Starbucks Rewards: A global loyalty ecosystem case study. </a:t>
            </a:r>
            <a:r>
              <a:rPr lang="en-GB" sz="965" u="sng">
                <a:solidFill>
                  <a:srgbClr val="1C3AA9"/>
                </a:solidFill>
                <a:latin typeface="Calibri"/>
                <a:ea typeface="Calibri"/>
                <a:cs typeface="Calibri"/>
                <a:sym typeface="Calibri"/>
                <a:hlinkClick r:id="rId3">
                  <a:extLst>
                    <a:ext uri="{A12FA001-AC4F-418D-AE19-62706E023703}">
                      <ahyp:hlinkClr val="tx"/>
                    </a:ext>
                  </a:extLst>
                </a:hlinkClick>
              </a:rPr>
              <a:t>https://www.jobaajlearnings.com/casestudies/Starbucks-Rewards-A-Global-Loyalty-Ecosystem-Case-Study</a:t>
            </a:r>
            <a:endParaRPr sz="965">
              <a:solidFill>
                <a:srgbClr val="666666"/>
              </a:solidFill>
              <a:latin typeface="Calibri"/>
              <a:ea typeface="Calibri"/>
              <a:cs typeface="Calibri"/>
              <a:sym typeface="Calibri"/>
            </a:endParaRPr>
          </a:p>
          <a:p>
            <a:pPr indent="0" lvl="0" marL="0" rtl="0" algn="l">
              <a:lnSpc>
                <a:spcPct val="95000"/>
              </a:lnSpc>
              <a:spcBef>
                <a:spcPts val="0"/>
              </a:spcBef>
              <a:spcAft>
                <a:spcPts val="0"/>
              </a:spcAft>
              <a:buClr>
                <a:schemeClr val="dk1"/>
              </a:buClr>
              <a:buSzPts val="1100"/>
              <a:buFont typeface="Arial"/>
              <a:buNone/>
            </a:pPr>
            <a:r>
              <a:t/>
            </a:r>
            <a:endParaRPr sz="965">
              <a:solidFill>
                <a:srgbClr val="666666"/>
              </a:solidFill>
              <a:latin typeface="Calibri"/>
              <a:ea typeface="Calibri"/>
              <a:cs typeface="Calibri"/>
              <a:sym typeface="Calibri"/>
            </a:endParaRPr>
          </a:p>
          <a:p>
            <a:pPr indent="0" lvl="0" marL="0" rtl="0" algn="l">
              <a:lnSpc>
                <a:spcPct val="75000"/>
              </a:lnSpc>
              <a:spcBef>
                <a:spcPts val="0"/>
              </a:spcBef>
              <a:spcAft>
                <a:spcPts val="0"/>
              </a:spcAft>
              <a:buClr>
                <a:schemeClr val="dk1"/>
              </a:buClr>
              <a:buSzPts val="1018"/>
              <a:buFont typeface="Arial"/>
              <a:buNone/>
            </a:pPr>
            <a:r>
              <a:t/>
            </a:r>
            <a:endParaRPr sz="965">
              <a:solidFill>
                <a:srgbClr val="666666"/>
              </a:solidFill>
              <a:latin typeface="Calibri"/>
              <a:ea typeface="Calibri"/>
              <a:cs typeface="Calibri"/>
              <a:sym typeface="Calibri"/>
            </a:endParaRPr>
          </a:p>
          <a:p>
            <a:pPr indent="0" lvl="0" marL="0" rtl="0" algn="l">
              <a:lnSpc>
                <a:spcPct val="75000"/>
              </a:lnSpc>
              <a:spcBef>
                <a:spcPts val="0"/>
              </a:spcBef>
              <a:spcAft>
                <a:spcPts val="0"/>
              </a:spcAft>
              <a:buNone/>
            </a:pPr>
            <a:r>
              <a:rPr lang="en-GB" sz="965">
                <a:solidFill>
                  <a:srgbClr val="666666"/>
                </a:solidFill>
                <a:latin typeface="Calibri"/>
                <a:ea typeface="Calibri"/>
                <a:cs typeface="Calibri"/>
                <a:sym typeface="Calibri"/>
              </a:rPr>
              <a:t>GoSnappy.io. (2024). 10 ways AI can help your restaurant increase margins. </a:t>
            </a:r>
            <a:r>
              <a:rPr lang="en-GB" sz="965" u="sng">
                <a:solidFill>
                  <a:srgbClr val="1C3AA9"/>
                </a:solidFill>
                <a:latin typeface="Calibri"/>
                <a:ea typeface="Calibri"/>
                <a:cs typeface="Calibri"/>
                <a:sym typeface="Calibri"/>
                <a:hlinkClick r:id="rId4">
                  <a:extLst>
                    <a:ext uri="{A12FA001-AC4F-418D-AE19-62706E023703}">
                      <ahyp:hlinkClr val="tx"/>
                    </a:ext>
                  </a:extLst>
                </a:hlinkClick>
              </a:rPr>
              <a:t>https://gosnappy.io/blog/ways-ai-can-help-your-restaurant/</a:t>
            </a:r>
            <a:endParaRPr sz="965">
              <a:solidFill>
                <a:srgbClr val="666666"/>
              </a:solidFill>
              <a:latin typeface="Calibri"/>
              <a:ea typeface="Calibri"/>
              <a:cs typeface="Calibri"/>
              <a:sym typeface="Calibri"/>
            </a:endParaRPr>
          </a:p>
          <a:p>
            <a:pPr indent="0" lvl="0" marL="0" rtl="0" algn="l">
              <a:spcBef>
                <a:spcPts val="12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409a925bbac_1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409a925bbac_1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409a925bbac_1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409a925bbac_1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4278300" y="2751163"/>
            <a:ext cx="587400" cy="0"/>
          </a:xfrm>
          <a:prstGeom prst="straightConnector1">
            <a:avLst/>
          </a:prstGeom>
          <a:noFill/>
          <a:ln cap="flat" cmpd="sng" w="76200">
            <a:solidFill>
              <a:schemeClr val="dk1"/>
            </a:solidFill>
            <a:prstDash val="solid"/>
            <a:round/>
            <a:headEnd len="sm" w="sm" type="none"/>
            <a:tailEnd len="sm" w="sm" type="none"/>
          </a:ln>
        </p:spPr>
      </p:cxnSp>
      <p:sp>
        <p:nvSpPr>
          <p:cNvPr id="11" name="Google Shape;11;p2"/>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2" name="Google Shape;12;p2"/>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FFF8E3"/>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2535475" y="1908450"/>
            <a:ext cx="4816500" cy="745500"/>
          </a:xfrm>
          <a:prstGeom prst="rect">
            <a:avLst/>
          </a:prstGeom>
        </p:spPr>
        <p:txBody>
          <a:bodyPr anchorCtr="0" anchor="ctr"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Clr>
                <a:schemeClr val="lt1"/>
              </a:buClr>
              <a:buSzPts val="2000"/>
              <a:buNone/>
              <a:defRPr sz="2000">
                <a:solidFill>
                  <a:schemeClr val="lt1"/>
                </a:solidFill>
              </a:defRPr>
            </a:lvl2pPr>
            <a:lvl3pPr lvl="2">
              <a:spcBef>
                <a:spcPts val="0"/>
              </a:spcBef>
              <a:spcAft>
                <a:spcPts val="0"/>
              </a:spcAft>
              <a:buClr>
                <a:schemeClr val="lt1"/>
              </a:buClr>
              <a:buSzPts val="2000"/>
              <a:buNone/>
              <a:defRPr sz="2000">
                <a:solidFill>
                  <a:schemeClr val="lt1"/>
                </a:solidFill>
              </a:defRPr>
            </a:lvl3pPr>
            <a:lvl4pPr lvl="3">
              <a:spcBef>
                <a:spcPts val="0"/>
              </a:spcBef>
              <a:spcAft>
                <a:spcPts val="0"/>
              </a:spcAft>
              <a:buClr>
                <a:schemeClr val="lt1"/>
              </a:buClr>
              <a:buSzPts val="2000"/>
              <a:buNone/>
              <a:defRPr sz="2000">
                <a:solidFill>
                  <a:schemeClr val="lt1"/>
                </a:solidFill>
              </a:defRPr>
            </a:lvl4pPr>
            <a:lvl5pPr lvl="4">
              <a:spcBef>
                <a:spcPts val="0"/>
              </a:spcBef>
              <a:spcAft>
                <a:spcPts val="0"/>
              </a:spcAft>
              <a:buClr>
                <a:schemeClr val="lt1"/>
              </a:buClr>
              <a:buSzPts val="2000"/>
              <a:buNone/>
              <a:defRPr sz="2000">
                <a:solidFill>
                  <a:schemeClr val="lt1"/>
                </a:solidFill>
              </a:defRPr>
            </a:lvl5pPr>
            <a:lvl6pPr lvl="5">
              <a:spcBef>
                <a:spcPts val="0"/>
              </a:spcBef>
              <a:spcAft>
                <a:spcPts val="0"/>
              </a:spcAft>
              <a:buClr>
                <a:schemeClr val="lt1"/>
              </a:buClr>
              <a:buSzPts val="2000"/>
              <a:buNone/>
              <a:defRPr sz="2000">
                <a:solidFill>
                  <a:schemeClr val="lt1"/>
                </a:solidFill>
              </a:defRPr>
            </a:lvl6pPr>
            <a:lvl7pPr lvl="6">
              <a:spcBef>
                <a:spcPts val="0"/>
              </a:spcBef>
              <a:spcAft>
                <a:spcPts val="0"/>
              </a:spcAft>
              <a:buClr>
                <a:schemeClr val="lt1"/>
              </a:buClr>
              <a:buSzPts val="2000"/>
              <a:buNone/>
              <a:defRPr sz="2000">
                <a:solidFill>
                  <a:schemeClr val="lt1"/>
                </a:solidFill>
              </a:defRPr>
            </a:lvl7pPr>
            <a:lvl8pPr lvl="7">
              <a:spcBef>
                <a:spcPts val="0"/>
              </a:spcBef>
              <a:spcAft>
                <a:spcPts val="0"/>
              </a:spcAft>
              <a:buClr>
                <a:schemeClr val="lt1"/>
              </a:buClr>
              <a:buSzPts val="2000"/>
              <a:buNone/>
              <a:defRPr sz="2000">
                <a:solidFill>
                  <a:schemeClr val="lt1"/>
                </a:solidFill>
              </a:defRPr>
            </a:lvl8pPr>
            <a:lvl9pPr lvl="8">
              <a:spcBef>
                <a:spcPts val="0"/>
              </a:spcBef>
              <a:spcAft>
                <a:spcPts val="0"/>
              </a:spcAft>
              <a:buClr>
                <a:schemeClr val="lt1"/>
              </a:buClr>
              <a:buSzPts val="2000"/>
              <a:buNone/>
              <a:defRPr sz="2000">
                <a:solidFill>
                  <a:schemeClr val="lt1"/>
                </a:solidFill>
              </a:defRPr>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pic>
        <p:nvPicPr>
          <p:cNvPr id="17" name="Google Shape;17;p3" title="logo.png"/>
          <p:cNvPicPr preferRelativeResize="0"/>
          <p:nvPr/>
        </p:nvPicPr>
        <p:blipFill>
          <a:blip r:embed="rId2">
            <a:alphaModFix/>
          </a:blip>
          <a:stretch>
            <a:fillRect/>
          </a:stretch>
        </p:blipFill>
        <p:spPr>
          <a:xfrm>
            <a:off x="7399050" y="127150"/>
            <a:ext cx="1564799" cy="1398625"/>
          </a:xfrm>
          <a:prstGeom prst="rect">
            <a:avLst/>
          </a:prstGeom>
          <a:noFill/>
          <a:ln>
            <a:noFill/>
          </a:ln>
        </p:spPr>
      </p:pic>
      <p:sp>
        <p:nvSpPr>
          <p:cNvPr id="18" name="Google Shape;18;p3"/>
          <p:cNvSpPr/>
          <p:nvPr/>
        </p:nvSpPr>
        <p:spPr>
          <a:xfrm>
            <a:off x="-100" y="4238250"/>
            <a:ext cx="9144000" cy="905400"/>
          </a:xfrm>
          <a:prstGeom prst="rect">
            <a:avLst/>
          </a:prstGeom>
          <a:solidFill>
            <a:srgbClr val="533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9" name="Google Shape;19;p3"/>
          <p:cNvSpPr/>
          <p:nvPr/>
        </p:nvSpPr>
        <p:spPr>
          <a:xfrm>
            <a:off x="561575" y="1727100"/>
            <a:ext cx="1186800" cy="1108200"/>
          </a:xfrm>
          <a:prstGeom prst="ellipse">
            <a:avLst/>
          </a:prstGeom>
          <a:solidFill>
            <a:srgbClr val="533F00"/>
          </a:solidFill>
          <a:ln cap="flat" cmpd="sng" w="38100">
            <a:solidFill>
              <a:srgbClr val="533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swald"/>
              <a:ea typeface="Oswald"/>
              <a:cs typeface="Oswald"/>
              <a:sym typeface="Oswald"/>
            </a:endParaRPr>
          </a:p>
        </p:txBody>
      </p:sp>
      <p:cxnSp>
        <p:nvCxnSpPr>
          <p:cNvPr id="20" name="Google Shape;20;p3"/>
          <p:cNvCxnSpPr>
            <a:stCxn id="21" idx="3"/>
            <a:endCxn id="22" idx="1"/>
          </p:cNvCxnSpPr>
          <p:nvPr/>
        </p:nvCxnSpPr>
        <p:spPr>
          <a:xfrm flipH="1" rot="10800000">
            <a:off x="1631850" y="2272700"/>
            <a:ext cx="864900" cy="8400"/>
          </a:xfrm>
          <a:prstGeom prst="straightConnector1">
            <a:avLst/>
          </a:prstGeom>
          <a:noFill/>
          <a:ln cap="flat" cmpd="sng" w="38100">
            <a:solidFill>
              <a:srgbClr val="533F00"/>
            </a:solidFill>
            <a:prstDash val="solid"/>
            <a:round/>
            <a:headEnd len="med" w="med" type="none"/>
            <a:tailEnd len="med" w="med"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rgbClr val="533F00"/>
              </a:buClr>
              <a:buSzPts val="3000"/>
              <a:buNone/>
              <a:defRPr>
                <a:solidFill>
                  <a:srgbClr val="533F00"/>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 name="Google Shape;25;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 name="Google Shape;2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 name="Google Shape;29;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4" name="Google Shape;34;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5" name="Shape 35"/>
        <p:cNvGrpSpPr/>
        <p:nvPr/>
      </p:nvGrpSpPr>
      <p:grpSpPr>
        <a:xfrm>
          <a:off x="0" y="0"/>
          <a:ext cx="0" cy="0"/>
          <a:chOff x="0" y="0"/>
          <a:chExt cx="0" cy="0"/>
        </a:xfrm>
      </p:grpSpPr>
      <p:sp>
        <p:nvSpPr>
          <p:cNvPr id="36" name="Google Shape;36;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11700" y="1490875"/>
            <a:ext cx="2808000" cy="30780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838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5" name="Google Shape;45;p9"/>
          <p:cNvSpPr txBox="1"/>
          <p:nvPr>
            <p:ph type="title"/>
          </p:nvPr>
        </p:nvSpPr>
        <p:spPr>
          <a:xfrm>
            <a:off x="265500" y="1375599"/>
            <a:ext cx="4045200" cy="15519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p9"/>
          <p:cNvSpPr txBox="1"/>
          <p:nvPr>
            <p:ph idx="1" type="subTitle"/>
          </p:nvPr>
        </p:nvSpPr>
        <p:spPr>
          <a:xfrm>
            <a:off x="265500" y="2981125"/>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txBox="1"/>
          <p:nvPr>
            <p:ph hasCustomPrompt="1" type="title"/>
          </p:nvPr>
        </p:nvSpPr>
        <p:spPr>
          <a:xfrm>
            <a:off x="311700" y="1167925"/>
            <a:ext cx="8520600" cy="19800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1000"/>
              <a:buNone/>
              <a:defRPr sz="11000">
                <a:solidFill>
                  <a:schemeClr val="dk1"/>
                </a:solidFill>
              </a:defRPr>
            </a:lvl1pPr>
            <a:lvl2pPr lvl="1" algn="ctr">
              <a:spcBef>
                <a:spcPts val="0"/>
              </a:spcBef>
              <a:spcAft>
                <a:spcPts val="0"/>
              </a:spcAft>
              <a:buClr>
                <a:schemeClr val="dk1"/>
              </a:buClr>
              <a:buSzPts val="11000"/>
              <a:buNone/>
              <a:defRPr sz="11000">
                <a:solidFill>
                  <a:schemeClr val="dk1"/>
                </a:solidFill>
              </a:defRPr>
            </a:lvl2pPr>
            <a:lvl3pPr lvl="2" algn="ctr">
              <a:spcBef>
                <a:spcPts val="0"/>
              </a:spcBef>
              <a:spcAft>
                <a:spcPts val="0"/>
              </a:spcAft>
              <a:buClr>
                <a:schemeClr val="dk1"/>
              </a:buClr>
              <a:buSzPts val="11000"/>
              <a:buNone/>
              <a:defRPr sz="11000">
                <a:solidFill>
                  <a:schemeClr val="dk1"/>
                </a:solidFill>
              </a:defRPr>
            </a:lvl3pPr>
            <a:lvl4pPr lvl="3" algn="ctr">
              <a:spcBef>
                <a:spcPts val="0"/>
              </a:spcBef>
              <a:spcAft>
                <a:spcPts val="0"/>
              </a:spcAft>
              <a:buClr>
                <a:schemeClr val="dk1"/>
              </a:buClr>
              <a:buSzPts val="11000"/>
              <a:buNone/>
              <a:defRPr sz="11000">
                <a:solidFill>
                  <a:schemeClr val="dk1"/>
                </a:solidFill>
              </a:defRPr>
            </a:lvl4pPr>
            <a:lvl5pPr lvl="4" algn="ctr">
              <a:spcBef>
                <a:spcPts val="0"/>
              </a:spcBef>
              <a:spcAft>
                <a:spcPts val="0"/>
              </a:spcAft>
              <a:buClr>
                <a:schemeClr val="dk1"/>
              </a:buClr>
              <a:buSzPts val="11000"/>
              <a:buNone/>
              <a:defRPr sz="11000">
                <a:solidFill>
                  <a:schemeClr val="dk1"/>
                </a:solidFill>
              </a:defRPr>
            </a:lvl5pPr>
            <a:lvl6pPr lvl="5" algn="ctr">
              <a:spcBef>
                <a:spcPts val="0"/>
              </a:spcBef>
              <a:spcAft>
                <a:spcPts val="0"/>
              </a:spcAft>
              <a:buClr>
                <a:schemeClr val="dk1"/>
              </a:buClr>
              <a:buSzPts val="11000"/>
              <a:buNone/>
              <a:defRPr sz="11000">
                <a:solidFill>
                  <a:schemeClr val="dk1"/>
                </a:solidFill>
              </a:defRPr>
            </a:lvl6pPr>
            <a:lvl7pPr lvl="6" algn="ctr">
              <a:spcBef>
                <a:spcPts val="0"/>
              </a:spcBef>
              <a:spcAft>
                <a:spcPts val="0"/>
              </a:spcAft>
              <a:buClr>
                <a:schemeClr val="dk1"/>
              </a:buClr>
              <a:buSzPts val="11000"/>
              <a:buNone/>
              <a:defRPr sz="11000">
                <a:solidFill>
                  <a:schemeClr val="dk1"/>
                </a:solidFill>
              </a:defRPr>
            </a:lvl7pPr>
            <a:lvl8pPr lvl="7" algn="ctr">
              <a:spcBef>
                <a:spcPts val="0"/>
              </a:spcBef>
              <a:spcAft>
                <a:spcPts val="0"/>
              </a:spcAft>
              <a:buClr>
                <a:schemeClr val="dk1"/>
              </a:buClr>
              <a:buSzPts val="11000"/>
              <a:buNone/>
              <a:defRPr sz="11000">
                <a:solidFill>
                  <a:schemeClr val="dk1"/>
                </a:solidFill>
              </a:defRPr>
            </a:lvl8pPr>
            <a:lvl9pPr lvl="8" algn="ctr">
              <a:spcBef>
                <a:spcPts val="0"/>
              </a:spcBef>
              <a:spcAft>
                <a:spcPts val="0"/>
              </a:spcAft>
              <a:buClr>
                <a:schemeClr val="dk1"/>
              </a:buClr>
              <a:buSzPts val="11000"/>
              <a:buNone/>
              <a:defRPr sz="11000">
                <a:solidFill>
                  <a:schemeClr val="dk1"/>
                </a:solidFill>
              </a:defRPr>
            </a:lvl9pPr>
          </a:lstStyle>
          <a:p>
            <a:r>
              <a:t>xx%</a:t>
            </a:r>
          </a:p>
        </p:txBody>
      </p:sp>
      <p:sp>
        <p:nvSpPr>
          <p:cNvPr id="54" name="Google Shape;54;p11"/>
          <p:cNvSpPr txBox="1"/>
          <p:nvPr>
            <p:ph idx="1" type="body"/>
          </p:nvPr>
        </p:nvSpPr>
        <p:spPr>
          <a:xfrm>
            <a:off x="311700" y="32242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rgbClr val="FFF8E3"/>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533F00"/>
              </a:buClr>
              <a:buSzPts val="3000"/>
              <a:buFont typeface="Alfa Slab One"/>
              <a:buNone/>
              <a:defRPr sz="3000">
                <a:solidFill>
                  <a:srgbClr val="533F00"/>
                </a:solidFill>
                <a:latin typeface="Alfa Slab One"/>
                <a:ea typeface="Alfa Slab One"/>
                <a:cs typeface="Alfa Slab One"/>
                <a:sym typeface="Alfa Slab One"/>
              </a:defRPr>
            </a:lvl1pPr>
            <a:lvl2pPr lvl="1">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2pPr>
            <a:lvl3pPr lvl="2">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3pPr>
            <a:lvl4pPr lvl="3">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4pPr>
            <a:lvl5pPr lvl="4">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5pPr>
            <a:lvl6pPr lvl="5">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6pPr>
            <a:lvl7pPr lvl="6">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7pPr>
            <a:lvl8pPr lvl="7">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8pPr>
            <a:lvl9pPr lvl="8">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swald"/>
              <a:buChar char="●"/>
              <a:defRPr sz="1800">
                <a:solidFill>
                  <a:schemeClr val="dk2"/>
                </a:solidFill>
                <a:latin typeface="Oswald"/>
                <a:ea typeface="Oswald"/>
                <a:cs typeface="Oswald"/>
                <a:sym typeface="Oswald"/>
              </a:defRPr>
            </a:lvl1pPr>
            <a:lvl2pPr indent="-317500" lvl="1" marL="914400">
              <a:lnSpc>
                <a:spcPct val="115000"/>
              </a:lnSpc>
              <a:spcBef>
                <a:spcPts val="0"/>
              </a:spcBef>
              <a:spcAft>
                <a:spcPts val="0"/>
              </a:spcAft>
              <a:buClr>
                <a:schemeClr val="dk2"/>
              </a:buClr>
              <a:buSzPts val="1400"/>
              <a:buFont typeface="Oswald"/>
              <a:buChar char="○"/>
              <a:defRPr>
                <a:solidFill>
                  <a:schemeClr val="dk2"/>
                </a:solidFill>
                <a:latin typeface="Oswald"/>
                <a:ea typeface="Oswald"/>
                <a:cs typeface="Oswald"/>
                <a:sym typeface="Oswald"/>
              </a:defRPr>
            </a:lvl2pPr>
            <a:lvl3pPr indent="-317500" lvl="2" marL="1371600">
              <a:lnSpc>
                <a:spcPct val="115000"/>
              </a:lnSpc>
              <a:spcBef>
                <a:spcPts val="0"/>
              </a:spcBef>
              <a:spcAft>
                <a:spcPts val="0"/>
              </a:spcAft>
              <a:buClr>
                <a:schemeClr val="dk2"/>
              </a:buClr>
              <a:buSzPts val="1400"/>
              <a:buFont typeface="Oswald"/>
              <a:buChar char="■"/>
              <a:defRPr>
                <a:solidFill>
                  <a:schemeClr val="dk2"/>
                </a:solidFill>
                <a:latin typeface="Oswald"/>
                <a:ea typeface="Oswald"/>
                <a:cs typeface="Oswald"/>
                <a:sym typeface="Oswald"/>
              </a:defRPr>
            </a:lvl3pPr>
            <a:lvl4pPr indent="-317500" lvl="3" marL="1828800">
              <a:lnSpc>
                <a:spcPct val="115000"/>
              </a:lnSpc>
              <a:spcBef>
                <a:spcPts val="0"/>
              </a:spcBef>
              <a:spcAft>
                <a:spcPts val="0"/>
              </a:spcAft>
              <a:buClr>
                <a:schemeClr val="dk2"/>
              </a:buClr>
              <a:buSzPts val="1400"/>
              <a:buFont typeface="Oswald"/>
              <a:buChar char="●"/>
              <a:defRPr>
                <a:solidFill>
                  <a:schemeClr val="dk2"/>
                </a:solidFill>
                <a:latin typeface="Oswald"/>
                <a:ea typeface="Oswald"/>
                <a:cs typeface="Oswald"/>
                <a:sym typeface="Oswald"/>
              </a:defRPr>
            </a:lvl4pPr>
            <a:lvl5pPr indent="-317500" lvl="4" marL="2286000">
              <a:lnSpc>
                <a:spcPct val="115000"/>
              </a:lnSpc>
              <a:spcBef>
                <a:spcPts val="0"/>
              </a:spcBef>
              <a:spcAft>
                <a:spcPts val="0"/>
              </a:spcAft>
              <a:buClr>
                <a:schemeClr val="dk2"/>
              </a:buClr>
              <a:buSzPts val="1400"/>
              <a:buFont typeface="Oswald"/>
              <a:buChar char="○"/>
              <a:defRPr>
                <a:solidFill>
                  <a:schemeClr val="dk2"/>
                </a:solidFill>
                <a:latin typeface="Oswald"/>
                <a:ea typeface="Oswald"/>
                <a:cs typeface="Oswald"/>
                <a:sym typeface="Oswald"/>
              </a:defRPr>
            </a:lvl5pPr>
            <a:lvl6pPr indent="-317500" lvl="5" marL="2743200">
              <a:lnSpc>
                <a:spcPct val="115000"/>
              </a:lnSpc>
              <a:spcBef>
                <a:spcPts val="0"/>
              </a:spcBef>
              <a:spcAft>
                <a:spcPts val="0"/>
              </a:spcAft>
              <a:buClr>
                <a:schemeClr val="dk2"/>
              </a:buClr>
              <a:buSzPts val="1400"/>
              <a:buFont typeface="Oswald"/>
              <a:buChar char="■"/>
              <a:defRPr>
                <a:solidFill>
                  <a:schemeClr val="dk2"/>
                </a:solidFill>
                <a:latin typeface="Oswald"/>
                <a:ea typeface="Oswald"/>
                <a:cs typeface="Oswald"/>
                <a:sym typeface="Oswald"/>
              </a:defRPr>
            </a:lvl6pPr>
            <a:lvl7pPr indent="-317500" lvl="6" marL="3200400">
              <a:lnSpc>
                <a:spcPct val="115000"/>
              </a:lnSpc>
              <a:spcBef>
                <a:spcPts val="0"/>
              </a:spcBef>
              <a:spcAft>
                <a:spcPts val="0"/>
              </a:spcAft>
              <a:buClr>
                <a:schemeClr val="dk2"/>
              </a:buClr>
              <a:buSzPts val="1400"/>
              <a:buFont typeface="Oswald"/>
              <a:buChar char="●"/>
              <a:defRPr>
                <a:solidFill>
                  <a:schemeClr val="dk2"/>
                </a:solidFill>
                <a:latin typeface="Oswald"/>
                <a:ea typeface="Oswald"/>
                <a:cs typeface="Oswald"/>
                <a:sym typeface="Oswald"/>
              </a:defRPr>
            </a:lvl7pPr>
            <a:lvl8pPr indent="-317500" lvl="7" marL="3657600">
              <a:lnSpc>
                <a:spcPct val="115000"/>
              </a:lnSpc>
              <a:spcBef>
                <a:spcPts val="0"/>
              </a:spcBef>
              <a:spcAft>
                <a:spcPts val="0"/>
              </a:spcAft>
              <a:buClr>
                <a:schemeClr val="dk2"/>
              </a:buClr>
              <a:buSzPts val="1400"/>
              <a:buFont typeface="Oswald"/>
              <a:buChar char="○"/>
              <a:defRPr>
                <a:solidFill>
                  <a:schemeClr val="dk2"/>
                </a:solidFill>
                <a:latin typeface="Oswald"/>
                <a:ea typeface="Oswald"/>
                <a:cs typeface="Oswald"/>
                <a:sym typeface="Oswald"/>
              </a:defRPr>
            </a:lvl8pPr>
            <a:lvl9pPr indent="-317500" lvl="8" marL="4114800">
              <a:lnSpc>
                <a:spcPct val="115000"/>
              </a:lnSpc>
              <a:spcBef>
                <a:spcPts val="0"/>
              </a:spcBef>
              <a:spcAft>
                <a:spcPts val="0"/>
              </a:spcAft>
              <a:buClr>
                <a:schemeClr val="dk2"/>
              </a:buClr>
              <a:buSzPts val="1400"/>
              <a:buFont typeface="Oswald"/>
              <a:buChar char="■"/>
              <a:defRPr>
                <a:solidFill>
                  <a:schemeClr val="dk2"/>
                </a:solidFill>
                <a:latin typeface="Oswald"/>
                <a:ea typeface="Oswald"/>
                <a:cs typeface="Oswald"/>
                <a:sym typeface="Oswald"/>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4.png"/><Relationship Id="rId9"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5.jpg"/><Relationship Id="rId7" Type="http://schemas.openxmlformats.org/officeDocument/2006/relationships/image" Target="../media/image10.png"/><Relationship Id="rId8"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jp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11.png"/><Relationship Id="rId6"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1" Type="http://schemas.openxmlformats.org/officeDocument/2006/relationships/hyperlink" Target="https://www.youtube.com/watch?v=zNAbk8IIpoI" TargetMode="External"/><Relationship Id="rId10" Type="http://schemas.openxmlformats.org/officeDocument/2006/relationships/hyperlink" Target="https://thelowdown.momentum.asia/luckin-coffee-rise-fall-and-reinvention-part-4/" TargetMode="External"/><Relationship Id="rId13" Type="http://schemas.openxmlformats.org/officeDocument/2006/relationships/hyperlink" Target="https://www.backscoop.com/newsletter-posts/oldtown-white-coffee-the-brand-that-introduced-malaysian-white-coffee-to-the-world" TargetMode="External"/><Relationship Id="rId12" Type="http://schemas.openxmlformats.org/officeDocument/2006/relationships/hyperlink" Target="https://www.youtube.com/watch?v=zNAbk8IIpoI" TargetMode="External"/><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sg.finance.yahoo.com/news/don-t-know-eat-let-091115470.html" TargetMode="External"/><Relationship Id="rId4" Type="http://schemas.openxmlformats.org/officeDocument/2006/relationships/hyperlink" Target="https://sg.finance.yahoo.com/news/don-t-know-eat-let-091115470.html" TargetMode="External"/><Relationship Id="rId9" Type="http://schemas.openxmlformats.org/officeDocument/2006/relationships/hyperlink" Target="https://insideretail.asia/2026/03/03/luckin-coffees-30000-store-moment-can-scale-sustain-chinas-coffee-boom/" TargetMode="External"/><Relationship Id="rId15" Type="http://schemas.openxmlformats.org/officeDocument/2006/relationships/hyperlink" Target="https://www.jobaajlearnings.com/casestudies/Starbucks-Rewards-A-Global-Loyalty-Ecosystem-Case-Study" TargetMode="External"/><Relationship Id="rId14" Type="http://schemas.openxmlformats.org/officeDocument/2006/relationships/hyperlink" Target="https://geekyants.com/blog/ai-demand-forecasting-for-restaurants-cut-food-waste-boost-margins" TargetMode="External"/><Relationship Id="rId17" Type="http://schemas.openxmlformats.org/officeDocument/2006/relationships/hyperlink" Target="https://gemini.google.com" TargetMode="External"/><Relationship Id="rId16" Type="http://schemas.openxmlformats.org/officeDocument/2006/relationships/hyperlink" Target="https://gosnappy.io/blog/ways-ai-can-help-your-restaurant/" TargetMode="External"/><Relationship Id="rId5" Type="http://schemas.openxmlformats.org/officeDocument/2006/relationships/hyperlink" Target="https://www.lazada.com.my/shop/oldtown-white-coffee/" TargetMode="External"/><Relationship Id="rId6" Type="http://schemas.openxmlformats.org/officeDocument/2006/relationships/hyperlink" Target="https://www.lazada.com.my/shop/oldtown-white-coffee/" TargetMode="External"/><Relationship Id="rId7" Type="http://schemas.openxmlformats.org/officeDocument/2006/relationships/hyperlink" Target="https://www.minimeinsights.com/2024/06/09/oldtown-white-coffee-robotic-chef-and-barista-open-for-franchise/" TargetMode="External"/><Relationship Id="rId8" Type="http://schemas.openxmlformats.org/officeDocument/2006/relationships/hyperlink" Target="https://vulcanpost.com/910825/luckin-coffee-singapore-expansio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8E3"/>
        </a:solidFill>
      </p:bgPr>
    </p:bg>
    <p:spTree>
      <p:nvGrpSpPr>
        <p:cNvPr id="61" name="Shape 61"/>
        <p:cNvGrpSpPr/>
        <p:nvPr/>
      </p:nvGrpSpPr>
      <p:grpSpPr>
        <a:xfrm>
          <a:off x="0" y="0"/>
          <a:ext cx="0" cy="0"/>
          <a:chOff x="0" y="0"/>
          <a:chExt cx="0" cy="0"/>
        </a:xfrm>
      </p:grpSpPr>
      <p:sp>
        <p:nvSpPr>
          <p:cNvPr id="62" name="Google Shape;62;p13"/>
          <p:cNvSpPr/>
          <p:nvPr/>
        </p:nvSpPr>
        <p:spPr>
          <a:xfrm>
            <a:off x="-100" y="4035400"/>
            <a:ext cx="9144000" cy="1108200"/>
          </a:xfrm>
          <a:prstGeom prst="rect">
            <a:avLst/>
          </a:prstGeom>
          <a:solidFill>
            <a:srgbClr val="533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63" name="Google Shape;63;p13"/>
          <p:cNvSpPr txBox="1"/>
          <p:nvPr>
            <p:ph idx="1" type="subTitle"/>
          </p:nvPr>
        </p:nvSpPr>
        <p:spPr>
          <a:xfrm>
            <a:off x="311700" y="3201323"/>
            <a:ext cx="8520600" cy="7335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b="1" i="1" lang="en-GB" sz="2000">
                <a:solidFill>
                  <a:srgbClr val="5A4632"/>
                </a:solidFill>
                <a:latin typeface="Cambria"/>
                <a:ea typeface="Cambria"/>
                <a:cs typeface="Cambria"/>
                <a:sym typeface="Cambria"/>
              </a:rPr>
              <a:t>Our Key R</a:t>
            </a:r>
            <a:r>
              <a:rPr b="1" i="1" lang="en-GB" sz="2000">
                <a:solidFill>
                  <a:srgbClr val="5A4632"/>
                </a:solidFill>
                <a:latin typeface="Cambria"/>
                <a:ea typeface="Cambria"/>
                <a:cs typeface="Cambria"/>
                <a:sym typeface="Cambria"/>
              </a:rPr>
              <a:t>ecommendations </a:t>
            </a:r>
            <a:endParaRPr b="1" i="1" sz="2000">
              <a:solidFill>
                <a:srgbClr val="5A4632"/>
              </a:solidFill>
              <a:latin typeface="Cambria"/>
              <a:ea typeface="Cambria"/>
              <a:cs typeface="Cambria"/>
              <a:sym typeface="Cambria"/>
            </a:endParaRPr>
          </a:p>
          <a:p>
            <a:pPr indent="0" lvl="0" marL="0" rtl="0" algn="ctr">
              <a:spcBef>
                <a:spcPts val="0"/>
              </a:spcBef>
              <a:spcAft>
                <a:spcPts val="0"/>
              </a:spcAft>
              <a:buNone/>
            </a:pPr>
            <a:r>
              <a:rPr b="1" i="1" lang="en-GB" sz="2000">
                <a:solidFill>
                  <a:srgbClr val="5A4632"/>
                </a:solidFill>
                <a:latin typeface="Cambria"/>
                <a:ea typeface="Cambria"/>
                <a:cs typeface="Cambria"/>
                <a:sym typeface="Cambria"/>
              </a:rPr>
              <a:t>PT UCD BBS69 Group 7</a:t>
            </a:r>
            <a:endParaRPr b="1" i="1" sz="2000">
              <a:solidFill>
                <a:srgbClr val="5A4632"/>
              </a:solidFill>
              <a:latin typeface="Cambria"/>
              <a:ea typeface="Cambria"/>
              <a:cs typeface="Cambria"/>
              <a:sym typeface="Cambria"/>
            </a:endParaRPr>
          </a:p>
        </p:txBody>
      </p:sp>
      <p:sp>
        <p:nvSpPr>
          <p:cNvPr id="64" name="Google Shape;64;p13"/>
          <p:cNvSpPr txBox="1"/>
          <p:nvPr/>
        </p:nvSpPr>
        <p:spPr>
          <a:xfrm>
            <a:off x="3254100" y="4080428"/>
            <a:ext cx="26358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200">
                <a:solidFill>
                  <a:schemeClr val="lt1"/>
                </a:solidFill>
                <a:latin typeface="Oswald"/>
                <a:ea typeface="Oswald"/>
                <a:cs typeface="Oswald"/>
                <a:sym typeface="Oswald"/>
              </a:rPr>
              <a:t>Fariz Irwan Bin Joanis (26166447)</a:t>
            </a:r>
            <a:endParaRPr sz="1200">
              <a:solidFill>
                <a:schemeClr val="lt1"/>
              </a:solidFill>
              <a:latin typeface="Oswald"/>
              <a:ea typeface="Oswald"/>
              <a:cs typeface="Oswald"/>
              <a:sym typeface="Oswald"/>
            </a:endParaRPr>
          </a:p>
          <a:p>
            <a:pPr indent="0" lvl="0" marL="0" rtl="0" algn="ctr">
              <a:spcBef>
                <a:spcPts val="0"/>
              </a:spcBef>
              <a:spcAft>
                <a:spcPts val="0"/>
              </a:spcAft>
              <a:buNone/>
            </a:pPr>
            <a:r>
              <a:rPr lang="en-GB" sz="1200">
                <a:solidFill>
                  <a:schemeClr val="lt1"/>
                </a:solidFill>
                <a:latin typeface="Oswald"/>
                <a:ea typeface="Oswald"/>
                <a:cs typeface="Oswald"/>
                <a:sym typeface="Oswald"/>
              </a:rPr>
              <a:t>Dion Long De En (26159611)</a:t>
            </a:r>
            <a:endParaRPr sz="1200">
              <a:solidFill>
                <a:schemeClr val="lt1"/>
              </a:solidFill>
              <a:latin typeface="Oswald"/>
              <a:ea typeface="Oswald"/>
              <a:cs typeface="Oswald"/>
              <a:sym typeface="Oswald"/>
            </a:endParaRPr>
          </a:p>
          <a:p>
            <a:pPr indent="0" lvl="0" marL="0" rtl="0" algn="ctr">
              <a:spcBef>
                <a:spcPts val="0"/>
              </a:spcBef>
              <a:spcAft>
                <a:spcPts val="0"/>
              </a:spcAft>
              <a:buNone/>
            </a:pPr>
            <a:r>
              <a:rPr lang="en-GB" sz="1200">
                <a:solidFill>
                  <a:schemeClr val="lt1"/>
                </a:solidFill>
                <a:latin typeface="Oswald"/>
                <a:ea typeface="Oswald"/>
                <a:cs typeface="Oswald"/>
                <a:sym typeface="Oswald"/>
              </a:rPr>
              <a:t>Ratchumari Suhith (26170521)</a:t>
            </a:r>
            <a:endParaRPr sz="1200">
              <a:solidFill>
                <a:schemeClr val="lt1"/>
              </a:solidFill>
              <a:latin typeface="Oswald"/>
              <a:ea typeface="Oswald"/>
              <a:cs typeface="Oswald"/>
              <a:sym typeface="Oswald"/>
            </a:endParaRPr>
          </a:p>
          <a:p>
            <a:pPr indent="0" lvl="0" marL="0" rtl="0" algn="ctr">
              <a:spcBef>
                <a:spcPts val="0"/>
              </a:spcBef>
              <a:spcAft>
                <a:spcPts val="0"/>
              </a:spcAft>
              <a:buNone/>
            </a:pPr>
            <a:r>
              <a:rPr lang="en-GB" sz="1200">
                <a:solidFill>
                  <a:schemeClr val="lt1"/>
                </a:solidFill>
                <a:latin typeface="Oswald"/>
                <a:ea typeface="Oswald"/>
                <a:cs typeface="Oswald"/>
                <a:sym typeface="Oswald"/>
              </a:rPr>
              <a:t>Joshua Brian Khoo Kay Vinn (26142397)</a:t>
            </a:r>
            <a:endParaRPr sz="1200">
              <a:solidFill>
                <a:schemeClr val="lt1"/>
              </a:solidFill>
              <a:latin typeface="Oswald"/>
              <a:ea typeface="Oswald"/>
              <a:cs typeface="Oswald"/>
              <a:sym typeface="Oswald"/>
            </a:endParaRPr>
          </a:p>
          <a:p>
            <a:pPr indent="0" lvl="0" marL="0" rtl="0" algn="ctr">
              <a:spcBef>
                <a:spcPts val="0"/>
              </a:spcBef>
              <a:spcAft>
                <a:spcPts val="0"/>
              </a:spcAft>
              <a:buNone/>
            </a:pPr>
            <a:r>
              <a:rPr lang="en-GB" sz="1200">
                <a:solidFill>
                  <a:schemeClr val="lt1"/>
                </a:solidFill>
                <a:latin typeface="Oswald"/>
                <a:ea typeface="Oswald"/>
                <a:cs typeface="Oswald"/>
                <a:sym typeface="Oswald"/>
              </a:rPr>
              <a:t>Samrudhi Ekhande ()</a:t>
            </a:r>
            <a:endParaRPr sz="1200">
              <a:solidFill>
                <a:schemeClr val="lt1"/>
              </a:solidFill>
              <a:latin typeface="Oswald"/>
              <a:ea typeface="Oswald"/>
              <a:cs typeface="Oswald"/>
              <a:sym typeface="Oswald"/>
            </a:endParaRPr>
          </a:p>
        </p:txBody>
      </p:sp>
      <p:pic>
        <p:nvPicPr>
          <p:cNvPr id="65" name="Google Shape;65;p13" title="logo.png"/>
          <p:cNvPicPr preferRelativeResize="0"/>
          <p:nvPr/>
        </p:nvPicPr>
        <p:blipFill>
          <a:blip r:embed="rId3">
            <a:alphaModFix/>
          </a:blip>
          <a:stretch>
            <a:fillRect/>
          </a:stretch>
        </p:blipFill>
        <p:spPr>
          <a:xfrm>
            <a:off x="3642775" y="0"/>
            <a:ext cx="1858250" cy="1660900"/>
          </a:xfrm>
          <a:prstGeom prst="rect">
            <a:avLst/>
          </a:prstGeom>
          <a:noFill/>
          <a:ln>
            <a:noFill/>
          </a:ln>
        </p:spPr>
      </p:pic>
      <p:sp>
        <p:nvSpPr>
          <p:cNvPr id="66" name="Google Shape;66;p13"/>
          <p:cNvSpPr/>
          <p:nvPr/>
        </p:nvSpPr>
        <p:spPr>
          <a:xfrm>
            <a:off x="4077800" y="2597650"/>
            <a:ext cx="1125000" cy="296100"/>
          </a:xfrm>
          <a:prstGeom prst="rect">
            <a:avLst/>
          </a:prstGeom>
          <a:solidFill>
            <a:srgbClr val="FFF8E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swald"/>
              <a:ea typeface="Oswald"/>
              <a:cs typeface="Oswald"/>
              <a:sym typeface="Oswald"/>
            </a:endParaRPr>
          </a:p>
        </p:txBody>
      </p:sp>
      <p:sp>
        <p:nvSpPr>
          <p:cNvPr id="67" name="Google Shape;67;p13"/>
          <p:cNvSpPr txBox="1"/>
          <p:nvPr>
            <p:ph type="ctrTitle"/>
          </p:nvPr>
        </p:nvSpPr>
        <p:spPr>
          <a:xfrm>
            <a:off x="311700" y="1278350"/>
            <a:ext cx="8520600" cy="1957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solidFill>
                  <a:srgbClr val="533F00"/>
                </a:solidFill>
              </a:rPr>
              <a:t>Old Town White Coffee</a:t>
            </a:r>
            <a:endParaRPr>
              <a:solidFill>
                <a:srgbClr val="533F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2535475" y="1908450"/>
            <a:ext cx="4816500" cy="745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Gaps &amp; Competitors</a:t>
            </a:r>
            <a:endParaRPr/>
          </a:p>
        </p:txBody>
      </p:sp>
      <p:sp>
        <p:nvSpPr>
          <p:cNvPr id="73" name="Google Shape;73;p14"/>
          <p:cNvSpPr txBox="1"/>
          <p:nvPr/>
        </p:nvSpPr>
        <p:spPr>
          <a:xfrm>
            <a:off x="334075" y="4377925"/>
            <a:ext cx="2201400" cy="53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Oswald"/>
                <a:ea typeface="Oswald"/>
                <a:cs typeface="Oswald"/>
                <a:sym typeface="Oswald"/>
              </a:rPr>
              <a:t>PRESENTER</a:t>
            </a:r>
            <a:endParaRPr sz="1800">
              <a:solidFill>
                <a:schemeClr val="lt1"/>
              </a:solidFill>
              <a:latin typeface="Oswald"/>
              <a:ea typeface="Oswald"/>
              <a:cs typeface="Oswald"/>
              <a:sym typeface="Oswald"/>
            </a:endParaRPr>
          </a:p>
          <a:p>
            <a:pPr indent="0" lvl="0" marL="0" rtl="0" algn="l">
              <a:spcBef>
                <a:spcPts val="0"/>
              </a:spcBef>
              <a:spcAft>
                <a:spcPts val="0"/>
              </a:spcAft>
              <a:buNone/>
            </a:pPr>
            <a:r>
              <a:rPr lang="en-GB" sz="1800">
                <a:solidFill>
                  <a:schemeClr val="lt1"/>
                </a:solidFill>
                <a:latin typeface="Oswald"/>
                <a:ea typeface="Oswald"/>
                <a:cs typeface="Oswald"/>
                <a:sym typeface="Oswald"/>
              </a:rPr>
              <a:t>FARIZ</a:t>
            </a:r>
            <a:endParaRPr sz="1800">
              <a:solidFill>
                <a:schemeClr val="lt1"/>
              </a:solidFill>
              <a:latin typeface="Oswald"/>
              <a:ea typeface="Oswald"/>
              <a:cs typeface="Oswald"/>
              <a:sym typeface="Oswald"/>
            </a:endParaRPr>
          </a:p>
        </p:txBody>
      </p:sp>
      <p:sp>
        <p:nvSpPr>
          <p:cNvPr id="74" name="Google Shape;74;p14"/>
          <p:cNvSpPr txBox="1"/>
          <p:nvPr/>
        </p:nvSpPr>
        <p:spPr>
          <a:xfrm>
            <a:off x="622825" y="1820850"/>
            <a:ext cx="1047000" cy="92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3800">
                <a:solidFill>
                  <a:schemeClr val="lt1"/>
                </a:solidFill>
                <a:latin typeface="Alfa Slab One"/>
                <a:ea typeface="Alfa Slab One"/>
                <a:cs typeface="Alfa Slab One"/>
                <a:sym typeface="Alfa Slab One"/>
              </a:rPr>
              <a:t>1</a:t>
            </a:r>
            <a:endParaRPr sz="3800">
              <a:solidFill>
                <a:schemeClr val="lt1"/>
              </a:solidFill>
              <a:latin typeface="Alfa Slab One"/>
              <a:ea typeface="Alfa Slab One"/>
              <a:cs typeface="Alfa Slab One"/>
              <a:sym typeface="Alfa Slab One"/>
            </a:endParaRPr>
          </a:p>
        </p:txBody>
      </p:sp>
      <p:sp>
        <p:nvSpPr>
          <p:cNvPr id="75" name="Google Shape;75;p14"/>
          <p:cNvSpPr/>
          <p:nvPr/>
        </p:nvSpPr>
        <p:spPr>
          <a:xfrm>
            <a:off x="2508550" y="1966025"/>
            <a:ext cx="3234600" cy="657600"/>
          </a:xfrm>
          <a:prstGeom prst="roundRect">
            <a:avLst>
              <a:gd fmla="val 16667" name="adj"/>
            </a:avLst>
          </a:prstGeom>
          <a:noFill/>
          <a:ln cap="flat" cmpd="sng" w="38100">
            <a:solidFill>
              <a:srgbClr val="533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swald"/>
              <a:ea typeface="Oswald"/>
              <a:cs typeface="Oswald"/>
              <a:sym typeface="Oswa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cxnSp>
        <p:nvCxnSpPr>
          <p:cNvPr id="80" name="Google Shape;80;p15"/>
          <p:cNvCxnSpPr>
            <a:stCxn id="81" idx="2"/>
          </p:cNvCxnSpPr>
          <p:nvPr/>
        </p:nvCxnSpPr>
        <p:spPr>
          <a:xfrm flipH="1">
            <a:off x="7170375" y="2560607"/>
            <a:ext cx="669600" cy="516300"/>
          </a:xfrm>
          <a:prstGeom prst="straightConnector1">
            <a:avLst/>
          </a:prstGeom>
          <a:noFill/>
          <a:ln cap="flat" cmpd="sng" w="9525">
            <a:solidFill>
              <a:schemeClr val="dk2"/>
            </a:solidFill>
            <a:prstDash val="solid"/>
            <a:round/>
            <a:headEnd len="med" w="med" type="none"/>
            <a:tailEnd len="med" w="med" type="triangle"/>
          </a:ln>
        </p:spPr>
      </p:cxnSp>
      <p:sp>
        <p:nvSpPr>
          <p:cNvPr id="82" name="Google Shape;82;p15"/>
          <p:cNvSpPr txBox="1"/>
          <p:nvPr>
            <p:ph type="title"/>
          </p:nvPr>
        </p:nvSpPr>
        <p:spPr>
          <a:xfrm>
            <a:off x="261225" y="341225"/>
            <a:ext cx="8571300" cy="64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3600">
                <a:latin typeface="Cambria"/>
                <a:ea typeface="Cambria"/>
                <a:cs typeface="Cambria"/>
                <a:sym typeface="Cambria"/>
              </a:rPr>
              <a:t>Strategic Partnerships come at a cost</a:t>
            </a:r>
            <a:endParaRPr b="1" sz="3600">
              <a:latin typeface="Cambria"/>
              <a:ea typeface="Cambria"/>
              <a:cs typeface="Cambria"/>
              <a:sym typeface="Cambria"/>
            </a:endParaRPr>
          </a:p>
        </p:txBody>
      </p:sp>
      <p:sp>
        <p:nvSpPr>
          <p:cNvPr id="83" name="Google Shape;83;p15"/>
          <p:cNvSpPr txBox="1"/>
          <p:nvPr/>
        </p:nvSpPr>
        <p:spPr>
          <a:xfrm>
            <a:off x="345575" y="985563"/>
            <a:ext cx="80832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i="1" lang="en-GB">
                <a:solidFill>
                  <a:srgbClr val="C9A66B"/>
                </a:solidFill>
                <a:latin typeface="Calibri"/>
                <a:ea typeface="Calibri"/>
                <a:cs typeface="Calibri"/>
                <a:sym typeface="Calibri"/>
              </a:rPr>
              <a:t>OldTown White Coffee </a:t>
            </a:r>
            <a:r>
              <a:rPr b="1" i="1" lang="en-GB">
                <a:solidFill>
                  <a:srgbClr val="C9A66B"/>
                </a:solidFill>
                <a:latin typeface="Calibri"/>
                <a:ea typeface="Calibri"/>
                <a:cs typeface="Calibri"/>
                <a:sym typeface="Calibri"/>
              </a:rPr>
              <a:t>customer </a:t>
            </a:r>
            <a:r>
              <a:rPr b="1" i="1" lang="en-GB">
                <a:solidFill>
                  <a:srgbClr val="C9A66B"/>
                </a:solidFill>
                <a:latin typeface="Calibri"/>
                <a:ea typeface="Calibri"/>
                <a:cs typeface="Calibri"/>
                <a:sym typeface="Calibri"/>
              </a:rPr>
              <a:t>insights are </a:t>
            </a:r>
            <a:r>
              <a:rPr b="1" i="1" lang="en-GB">
                <a:solidFill>
                  <a:srgbClr val="C9A66B"/>
                </a:solidFill>
                <a:latin typeface="Calibri"/>
                <a:ea typeface="Calibri"/>
                <a:cs typeface="Calibri"/>
                <a:sym typeface="Calibri"/>
              </a:rPr>
              <a:t>fragmented </a:t>
            </a:r>
            <a:r>
              <a:rPr b="1" i="1" lang="en-GB">
                <a:solidFill>
                  <a:srgbClr val="C9A66B"/>
                </a:solidFill>
                <a:latin typeface="Calibri"/>
                <a:ea typeface="Calibri"/>
                <a:cs typeface="Calibri"/>
                <a:sym typeface="Calibri"/>
              </a:rPr>
              <a:t>from third parties</a:t>
            </a:r>
            <a:endParaRPr b="1" i="1">
              <a:solidFill>
                <a:srgbClr val="C9A66B"/>
              </a:solidFill>
              <a:latin typeface="Calibri"/>
              <a:ea typeface="Calibri"/>
              <a:cs typeface="Calibri"/>
              <a:sym typeface="Calibri"/>
            </a:endParaRPr>
          </a:p>
        </p:txBody>
      </p:sp>
      <p:pic>
        <p:nvPicPr>
          <p:cNvPr id="84" name="Google Shape;84;p15" title="TabSquare+AI+Square-1.png"/>
          <p:cNvPicPr preferRelativeResize="0"/>
          <p:nvPr/>
        </p:nvPicPr>
        <p:blipFill>
          <a:blip r:embed="rId3">
            <a:alphaModFix/>
          </a:blip>
          <a:stretch>
            <a:fillRect/>
          </a:stretch>
        </p:blipFill>
        <p:spPr>
          <a:xfrm>
            <a:off x="140625" y="1499212"/>
            <a:ext cx="830400" cy="830400"/>
          </a:xfrm>
          <a:prstGeom prst="rect">
            <a:avLst/>
          </a:prstGeom>
          <a:noFill/>
          <a:ln>
            <a:noFill/>
          </a:ln>
        </p:spPr>
      </p:pic>
      <p:pic>
        <p:nvPicPr>
          <p:cNvPr id="85" name="Google Shape;85;p15" title="Grab_Final_Master_Logo_2019_RGB_(green).png"/>
          <p:cNvPicPr preferRelativeResize="0"/>
          <p:nvPr/>
        </p:nvPicPr>
        <p:blipFill>
          <a:blip r:embed="rId4">
            <a:alphaModFix/>
          </a:blip>
          <a:stretch>
            <a:fillRect/>
          </a:stretch>
        </p:blipFill>
        <p:spPr>
          <a:xfrm>
            <a:off x="3199338" y="1760738"/>
            <a:ext cx="768325" cy="307326"/>
          </a:xfrm>
          <a:prstGeom prst="rect">
            <a:avLst/>
          </a:prstGeom>
          <a:noFill/>
          <a:ln>
            <a:noFill/>
          </a:ln>
        </p:spPr>
      </p:pic>
      <p:pic>
        <p:nvPicPr>
          <p:cNvPr id="86" name="Google Shape;86;p15" title="Shopee_id_6u5eK8u_0.png"/>
          <p:cNvPicPr preferRelativeResize="0"/>
          <p:nvPr/>
        </p:nvPicPr>
        <p:blipFill>
          <a:blip r:embed="rId5">
            <a:alphaModFix/>
          </a:blip>
          <a:stretch>
            <a:fillRect/>
          </a:stretch>
        </p:blipFill>
        <p:spPr>
          <a:xfrm>
            <a:off x="1494075" y="1699937"/>
            <a:ext cx="961909" cy="307325"/>
          </a:xfrm>
          <a:prstGeom prst="rect">
            <a:avLst/>
          </a:prstGeom>
          <a:noFill/>
          <a:ln>
            <a:noFill/>
          </a:ln>
        </p:spPr>
      </p:pic>
      <p:cxnSp>
        <p:nvCxnSpPr>
          <p:cNvPr id="87" name="Google Shape;87;p15"/>
          <p:cNvCxnSpPr/>
          <p:nvPr/>
        </p:nvCxnSpPr>
        <p:spPr>
          <a:xfrm flipH="1" rot="10800000">
            <a:off x="2498224" y="2544644"/>
            <a:ext cx="678000" cy="551700"/>
          </a:xfrm>
          <a:prstGeom prst="straightConnector1">
            <a:avLst/>
          </a:prstGeom>
          <a:noFill/>
          <a:ln cap="flat" cmpd="sng" w="9525">
            <a:solidFill>
              <a:schemeClr val="dk2"/>
            </a:solidFill>
            <a:prstDash val="solid"/>
            <a:round/>
            <a:headEnd len="med" w="med" type="none"/>
            <a:tailEnd len="med" w="med" type="triangle"/>
          </a:ln>
        </p:spPr>
      </p:cxnSp>
      <p:cxnSp>
        <p:nvCxnSpPr>
          <p:cNvPr id="88" name="Google Shape;88;p15"/>
          <p:cNvCxnSpPr/>
          <p:nvPr/>
        </p:nvCxnSpPr>
        <p:spPr>
          <a:xfrm rot="10800000">
            <a:off x="851875" y="2510075"/>
            <a:ext cx="563700" cy="589800"/>
          </a:xfrm>
          <a:prstGeom prst="straightConnector1">
            <a:avLst/>
          </a:prstGeom>
          <a:noFill/>
          <a:ln cap="flat" cmpd="sng" w="9525">
            <a:solidFill>
              <a:schemeClr val="dk2"/>
            </a:solidFill>
            <a:prstDash val="solid"/>
            <a:round/>
            <a:headEnd len="med" w="med" type="none"/>
            <a:tailEnd len="med" w="med" type="triangle"/>
          </a:ln>
        </p:spPr>
      </p:cxnSp>
      <p:cxnSp>
        <p:nvCxnSpPr>
          <p:cNvPr id="89" name="Google Shape;89;p15"/>
          <p:cNvCxnSpPr>
            <a:stCxn id="90" idx="0"/>
          </p:cNvCxnSpPr>
          <p:nvPr/>
        </p:nvCxnSpPr>
        <p:spPr>
          <a:xfrm rot="10800000">
            <a:off x="1970825" y="3863050"/>
            <a:ext cx="4200" cy="512400"/>
          </a:xfrm>
          <a:prstGeom prst="straightConnector1">
            <a:avLst/>
          </a:prstGeom>
          <a:noFill/>
          <a:ln cap="flat" cmpd="sng" w="9525">
            <a:solidFill>
              <a:schemeClr val="dk2"/>
            </a:solidFill>
            <a:prstDash val="solid"/>
            <a:round/>
            <a:headEnd len="med" w="med" type="none"/>
            <a:tailEnd len="med" w="med" type="triangle"/>
          </a:ln>
        </p:spPr>
      </p:cxnSp>
      <p:sp>
        <p:nvSpPr>
          <p:cNvPr id="91" name="Google Shape;91;p15"/>
          <p:cNvSpPr txBox="1"/>
          <p:nvPr/>
        </p:nvSpPr>
        <p:spPr>
          <a:xfrm>
            <a:off x="140625" y="2151950"/>
            <a:ext cx="1189500" cy="39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700">
                <a:solidFill>
                  <a:schemeClr val="dk2"/>
                </a:solidFill>
              </a:rPr>
              <a:t>Tabsquare</a:t>
            </a:r>
            <a:endParaRPr sz="700">
              <a:solidFill>
                <a:schemeClr val="dk2"/>
              </a:solidFill>
            </a:endParaRPr>
          </a:p>
          <a:p>
            <a:pPr indent="0" lvl="0" marL="0" rtl="0" algn="l">
              <a:spcBef>
                <a:spcPts val="0"/>
              </a:spcBef>
              <a:spcAft>
                <a:spcPts val="0"/>
              </a:spcAft>
              <a:buNone/>
            </a:pPr>
            <a:r>
              <a:rPr lang="en-GB" sz="700">
                <a:solidFill>
                  <a:schemeClr val="dk2"/>
                </a:solidFill>
              </a:rPr>
              <a:t>(Cafe Ordering Data ) </a:t>
            </a:r>
            <a:endParaRPr sz="700">
              <a:solidFill>
                <a:schemeClr val="dk2"/>
              </a:solidFill>
            </a:endParaRPr>
          </a:p>
        </p:txBody>
      </p:sp>
      <p:sp>
        <p:nvSpPr>
          <p:cNvPr id="92" name="Google Shape;92;p15"/>
          <p:cNvSpPr txBox="1"/>
          <p:nvPr/>
        </p:nvSpPr>
        <p:spPr>
          <a:xfrm>
            <a:off x="2837549" y="2075913"/>
            <a:ext cx="14919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700">
                <a:solidFill>
                  <a:schemeClr val="dk2"/>
                </a:solidFill>
              </a:rPr>
              <a:t>Grab </a:t>
            </a:r>
            <a:endParaRPr sz="700">
              <a:solidFill>
                <a:schemeClr val="dk2"/>
              </a:solidFill>
            </a:endParaRPr>
          </a:p>
          <a:p>
            <a:pPr indent="0" lvl="0" marL="0" rtl="0" algn="ctr">
              <a:spcBef>
                <a:spcPts val="0"/>
              </a:spcBef>
              <a:spcAft>
                <a:spcPts val="0"/>
              </a:spcAft>
              <a:buNone/>
            </a:pPr>
            <a:r>
              <a:rPr lang="en-GB" sz="700">
                <a:solidFill>
                  <a:schemeClr val="dk2"/>
                </a:solidFill>
              </a:rPr>
              <a:t>(Delivery Transaction Data)</a:t>
            </a:r>
            <a:endParaRPr sz="700">
              <a:solidFill>
                <a:schemeClr val="dk2"/>
              </a:solidFill>
            </a:endParaRPr>
          </a:p>
        </p:txBody>
      </p:sp>
      <p:sp>
        <p:nvSpPr>
          <p:cNvPr id="93" name="Google Shape;93;p15"/>
          <p:cNvSpPr txBox="1"/>
          <p:nvPr/>
        </p:nvSpPr>
        <p:spPr>
          <a:xfrm>
            <a:off x="997913" y="2007375"/>
            <a:ext cx="1954200" cy="39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700">
                <a:solidFill>
                  <a:schemeClr val="dk2"/>
                </a:solidFill>
              </a:rPr>
              <a:t>Shopee</a:t>
            </a:r>
            <a:endParaRPr sz="700">
              <a:solidFill>
                <a:schemeClr val="dk2"/>
              </a:solidFill>
            </a:endParaRPr>
          </a:p>
          <a:p>
            <a:pPr indent="0" lvl="0" marL="0" rtl="0" algn="ctr">
              <a:spcBef>
                <a:spcPts val="0"/>
              </a:spcBef>
              <a:spcAft>
                <a:spcPts val="0"/>
              </a:spcAft>
              <a:buNone/>
            </a:pPr>
            <a:r>
              <a:rPr lang="en-GB" sz="700">
                <a:solidFill>
                  <a:schemeClr val="dk2"/>
                </a:solidFill>
              </a:rPr>
              <a:t>(Online Marketplace Transaction </a:t>
            </a:r>
            <a:r>
              <a:rPr lang="en-GB" sz="700">
                <a:solidFill>
                  <a:schemeClr val="dk2"/>
                </a:solidFill>
              </a:rPr>
              <a:t>Data</a:t>
            </a:r>
            <a:r>
              <a:rPr lang="en-GB" sz="700">
                <a:solidFill>
                  <a:schemeClr val="dk2"/>
                </a:solidFill>
              </a:rPr>
              <a:t>)</a:t>
            </a:r>
            <a:endParaRPr sz="700">
              <a:solidFill>
                <a:schemeClr val="dk2"/>
              </a:solidFill>
            </a:endParaRPr>
          </a:p>
        </p:txBody>
      </p:sp>
      <p:cxnSp>
        <p:nvCxnSpPr>
          <p:cNvPr id="94" name="Google Shape;94;p15"/>
          <p:cNvCxnSpPr/>
          <p:nvPr/>
        </p:nvCxnSpPr>
        <p:spPr>
          <a:xfrm>
            <a:off x="4394475" y="1606950"/>
            <a:ext cx="1800" cy="3462300"/>
          </a:xfrm>
          <a:prstGeom prst="straightConnector1">
            <a:avLst/>
          </a:prstGeom>
          <a:noFill/>
          <a:ln cap="flat" cmpd="sng" w="9525">
            <a:solidFill>
              <a:schemeClr val="dk2"/>
            </a:solidFill>
            <a:prstDash val="solid"/>
            <a:round/>
            <a:headEnd len="med" w="med" type="none"/>
            <a:tailEnd len="med" w="med" type="none"/>
          </a:ln>
        </p:spPr>
      </p:cxnSp>
      <p:pic>
        <p:nvPicPr>
          <p:cNvPr id="95" name="Google Shape;95;p15" title="idtyrWnkP3_1783750870423.jpeg"/>
          <p:cNvPicPr preferRelativeResize="0"/>
          <p:nvPr/>
        </p:nvPicPr>
        <p:blipFill>
          <a:blip r:embed="rId6">
            <a:alphaModFix/>
          </a:blip>
          <a:stretch>
            <a:fillRect/>
          </a:stretch>
        </p:blipFill>
        <p:spPr>
          <a:xfrm>
            <a:off x="4960088" y="1760750"/>
            <a:ext cx="768325" cy="768325"/>
          </a:xfrm>
          <a:prstGeom prst="rect">
            <a:avLst/>
          </a:prstGeom>
          <a:noFill/>
          <a:ln>
            <a:noFill/>
          </a:ln>
        </p:spPr>
      </p:pic>
      <p:pic>
        <p:nvPicPr>
          <p:cNvPr id="81" name="Google Shape;81;p15" title="Starbucks_Logo_1.png"/>
          <p:cNvPicPr preferRelativeResize="0"/>
          <p:nvPr/>
        </p:nvPicPr>
        <p:blipFill>
          <a:blip r:embed="rId7">
            <a:alphaModFix/>
          </a:blip>
          <a:stretch>
            <a:fillRect/>
          </a:stretch>
        </p:blipFill>
        <p:spPr>
          <a:xfrm>
            <a:off x="7424775" y="1729201"/>
            <a:ext cx="830400" cy="831406"/>
          </a:xfrm>
          <a:prstGeom prst="rect">
            <a:avLst/>
          </a:prstGeom>
          <a:noFill/>
          <a:ln>
            <a:noFill/>
          </a:ln>
        </p:spPr>
      </p:pic>
      <p:sp>
        <p:nvSpPr>
          <p:cNvPr id="96" name="Google Shape;96;p15"/>
          <p:cNvSpPr/>
          <p:nvPr/>
        </p:nvSpPr>
        <p:spPr>
          <a:xfrm>
            <a:off x="5990100" y="3127075"/>
            <a:ext cx="1117500" cy="693000"/>
          </a:xfrm>
          <a:prstGeom prst="roundRect">
            <a:avLst>
              <a:gd fmla="val 16667" name="adj"/>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a:solidFill>
                  <a:srgbClr val="FFFFFF"/>
                </a:solidFill>
                <a:latin typeface="Proxima Nova"/>
                <a:ea typeface="Proxima Nova"/>
                <a:cs typeface="Proxima Nova"/>
                <a:sym typeface="Proxima Nova"/>
              </a:rPr>
              <a:t>Owned Digital Ecosystem</a:t>
            </a:r>
            <a:endParaRPr>
              <a:solidFill>
                <a:srgbClr val="FFFFFF"/>
              </a:solidFill>
              <a:latin typeface="Proxima Nova"/>
              <a:ea typeface="Proxima Nova"/>
              <a:cs typeface="Proxima Nova"/>
              <a:sym typeface="Proxima Nova"/>
            </a:endParaRPr>
          </a:p>
        </p:txBody>
      </p:sp>
      <p:cxnSp>
        <p:nvCxnSpPr>
          <p:cNvPr id="97" name="Google Shape;97;p15"/>
          <p:cNvCxnSpPr>
            <a:stCxn id="95" idx="2"/>
          </p:cNvCxnSpPr>
          <p:nvPr/>
        </p:nvCxnSpPr>
        <p:spPr>
          <a:xfrm>
            <a:off x="5344251" y="2529075"/>
            <a:ext cx="589500" cy="547800"/>
          </a:xfrm>
          <a:prstGeom prst="straightConnector1">
            <a:avLst/>
          </a:prstGeom>
          <a:noFill/>
          <a:ln cap="flat" cmpd="sng" w="9525">
            <a:solidFill>
              <a:schemeClr val="dk2"/>
            </a:solidFill>
            <a:prstDash val="solid"/>
            <a:round/>
            <a:headEnd len="med" w="med" type="none"/>
            <a:tailEnd len="med" w="med" type="triangle"/>
          </a:ln>
        </p:spPr>
      </p:cxnSp>
      <p:pic>
        <p:nvPicPr>
          <p:cNvPr id="98" name="Google Shape;98;p15" title="logo.png"/>
          <p:cNvPicPr preferRelativeResize="0"/>
          <p:nvPr/>
        </p:nvPicPr>
        <p:blipFill>
          <a:blip r:embed="rId8">
            <a:alphaModFix/>
          </a:blip>
          <a:stretch>
            <a:fillRect/>
          </a:stretch>
        </p:blipFill>
        <p:spPr>
          <a:xfrm>
            <a:off x="1314400" y="2894288"/>
            <a:ext cx="1321249" cy="1158563"/>
          </a:xfrm>
          <a:prstGeom prst="rect">
            <a:avLst/>
          </a:prstGeom>
          <a:noFill/>
          <a:ln>
            <a:noFill/>
          </a:ln>
        </p:spPr>
      </p:pic>
      <p:sp>
        <p:nvSpPr>
          <p:cNvPr id="99" name="Google Shape;99;p15"/>
          <p:cNvSpPr txBox="1"/>
          <p:nvPr/>
        </p:nvSpPr>
        <p:spPr>
          <a:xfrm>
            <a:off x="4929050" y="1499200"/>
            <a:ext cx="830400" cy="22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700">
                <a:solidFill>
                  <a:schemeClr val="dk2"/>
                </a:solidFill>
              </a:rPr>
              <a:t>Luckin’s Coffee</a:t>
            </a:r>
            <a:endParaRPr sz="700">
              <a:solidFill>
                <a:schemeClr val="dk2"/>
              </a:solidFill>
            </a:endParaRPr>
          </a:p>
        </p:txBody>
      </p:sp>
      <p:sp>
        <p:nvSpPr>
          <p:cNvPr id="100" name="Google Shape;100;p15"/>
          <p:cNvSpPr txBox="1"/>
          <p:nvPr/>
        </p:nvSpPr>
        <p:spPr>
          <a:xfrm>
            <a:off x="7359063" y="1444838"/>
            <a:ext cx="961800" cy="22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700">
                <a:solidFill>
                  <a:schemeClr val="dk2"/>
                </a:solidFill>
              </a:rPr>
              <a:t>Starbucks Coffee</a:t>
            </a:r>
            <a:endParaRPr sz="700">
              <a:solidFill>
                <a:schemeClr val="dk2"/>
              </a:solidFill>
            </a:endParaRPr>
          </a:p>
        </p:txBody>
      </p:sp>
      <p:pic>
        <p:nvPicPr>
          <p:cNvPr id="101" name="Google Shape;101;p15"/>
          <p:cNvPicPr preferRelativeResize="0"/>
          <p:nvPr/>
        </p:nvPicPr>
        <p:blipFill>
          <a:blip r:embed="rId9">
            <a:alphaModFix/>
          </a:blip>
          <a:stretch>
            <a:fillRect/>
          </a:stretch>
        </p:blipFill>
        <p:spPr>
          <a:xfrm>
            <a:off x="6239550" y="4375450"/>
            <a:ext cx="618600" cy="495170"/>
          </a:xfrm>
          <a:prstGeom prst="rect">
            <a:avLst/>
          </a:prstGeom>
          <a:noFill/>
          <a:ln>
            <a:noFill/>
          </a:ln>
        </p:spPr>
      </p:pic>
      <p:cxnSp>
        <p:nvCxnSpPr>
          <p:cNvPr id="102" name="Google Shape;102;p15"/>
          <p:cNvCxnSpPr>
            <a:stCxn id="101" idx="0"/>
            <a:endCxn id="96" idx="2"/>
          </p:cNvCxnSpPr>
          <p:nvPr/>
        </p:nvCxnSpPr>
        <p:spPr>
          <a:xfrm rot="10800000">
            <a:off x="6548850" y="3820150"/>
            <a:ext cx="0" cy="555300"/>
          </a:xfrm>
          <a:prstGeom prst="straightConnector1">
            <a:avLst/>
          </a:prstGeom>
          <a:noFill/>
          <a:ln cap="flat" cmpd="sng" w="9525">
            <a:solidFill>
              <a:schemeClr val="dk2"/>
            </a:solidFill>
            <a:prstDash val="solid"/>
            <a:round/>
            <a:headEnd len="med" w="med" type="none"/>
            <a:tailEnd len="med" w="med" type="triangle"/>
          </a:ln>
        </p:spPr>
      </p:cxnSp>
      <p:pic>
        <p:nvPicPr>
          <p:cNvPr id="90" name="Google Shape;90;p15"/>
          <p:cNvPicPr preferRelativeResize="0"/>
          <p:nvPr/>
        </p:nvPicPr>
        <p:blipFill>
          <a:blip r:embed="rId9">
            <a:alphaModFix/>
          </a:blip>
          <a:stretch>
            <a:fillRect/>
          </a:stretch>
        </p:blipFill>
        <p:spPr>
          <a:xfrm>
            <a:off x="1665725" y="4375450"/>
            <a:ext cx="618600" cy="495170"/>
          </a:xfrm>
          <a:prstGeom prst="rect">
            <a:avLst/>
          </a:prstGeom>
          <a:noFill/>
          <a:ln>
            <a:noFill/>
          </a:ln>
        </p:spPr>
      </p:pic>
      <p:cxnSp>
        <p:nvCxnSpPr>
          <p:cNvPr id="103" name="Google Shape;103;p15"/>
          <p:cNvCxnSpPr>
            <a:stCxn id="98" idx="0"/>
            <a:endCxn id="93" idx="2"/>
          </p:cNvCxnSpPr>
          <p:nvPr/>
        </p:nvCxnSpPr>
        <p:spPr>
          <a:xfrm rot="10800000">
            <a:off x="1975025" y="2400188"/>
            <a:ext cx="0" cy="494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6"/>
          <p:cNvSpPr txBox="1"/>
          <p:nvPr>
            <p:ph type="title"/>
          </p:nvPr>
        </p:nvSpPr>
        <p:spPr>
          <a:xfrm>
            <a:off x="311700" y="445025"/>
            <a:ext cx="8520600" cy="69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3800">
                <a:latin typeface="Cambria"/>
                <a:ea typeface="Cambria"/>
                <a:cs typeface="Cambria"/>
                <a:sym typeface="Cambria"/>
              </a:rPr>
              <a:t>Comparison of Competitor’s Model</a:t>
            </a:r>
            <a:endParaRPr b="1" sz="3800">
              <a:latin typeface="Cambria"/>
              <a:ea typeface="Cambria"/>
              <a:cs typeface="Cambria"/>
              <a:sym typeface="Cambria"/>
            </a:endParaRPr>
          </a:p>
        </p:txBody>
      </p:sp>
      <p:sp>
        <p:nvSpPr>
          <p:cNvPr id="109" name="Google Shape;109;p16"/>
          <p:cNvSpPr txBox="1"/>
          <p:nvPr/>
        </p:nvSpPr>
        <p:spPr>
          <a:xfrm>
            <a:off x="428175" y="1144100"/>
            <a:ext cx="79668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i="1" lang="en-GB" sz="1500">
                <a:solidFill>
                  <a:srgbClr val="C9A66B"/>
                </a:solidFill>
                <a:latin typeface="Calibri"/>
                <a:ea typeface="Calibri"/>
                <a:cs typeface="Calibri"/>
                <a:sym typeface="Calibri"/>
              </a:rPr>
              <a:t>Luckin’s four core pillars of success behind 82 stores in Singapore</a:t>
            </a:r>
            <a:endParaRPr b="1" i="1" sz="1500">
              <a:solidFill>
                <a:srgbClr val="C9A66B"/>
              </a:solidFill>
              <a:latin typeface="Calibri"/>
              <a:ea typeface="Calibri"/>
              <a:cs typeface="Calibri"/>
              <a:sym typeface="Calibri"/>
            </a:endParaRPr>
          </a:p>
        </p:txBody>
      </p:sp>
      <p:graphicFrame>
        <p:nvGraphicFramePr>
          <p:cNvPr id="110" name="Google Shape;110;p16"/>
          <p:cNvGraphicFramePr/>
          <p:nvPr/>
        </p:nvGraphicFramePr>
        <p:xfrm>
          <a:off x="1485050" y="1984100"/>
          <a:ext cx="3000000" cy="3000000"/>
        </p:xfrm>
        <a:graphic>
          <a:graphicData uri="http://schemas.openxmlformats.org/drawingml/2006/table">
            <a:tbl>
              <a:tblPr>
                <a:noFill/>
                <a:tableStyleId>{56D62B5A-C923-49C5-A220-9FF72489388F}</a:tableStyleId>
              </a:tblPr>
              <a:tblGrid>
                <a:gridCol w="1782675"/>
                <a:gridCol w="1782675"/>
                <a:gridCol w="1782675"/>
                <a:gridCol w="1782675"/>
              </a:tblGrid>
              <a:tr h="1790700">
                <a:tc>
                  <a:txBody>
                    <a:bodyPr/>
                    <a:lstStyle/>
                    <a:p>
                      <a:pPr indent="0" lvl="0" marL="0" rtl="0" algn="ctr">
                        <a:spcBef>
                          <a:spcPts val="0"/>
                        </a:spcBef>
                        <a:spcAft>
                          <a:spcPts val="0"/>
                        </a:spcAft>
                        <a:buNone/>
                      </a:pPr>
                      <a:r>
                        <a:t/>
                      </a:r>
                      <a:endParaRPr b="1">
                        <a:solidFill>
                          <a:srgbClr val="533F00"/>
                        </a:solidFill>
                        <a:latin typeface="Georgia"/>
                        <a:ea typeface="Georgia"/>
                        <a:cs typeface="Georgia"/>
                        <a:sym typeface="Georgia"/>
                      </a:endParaRPr>
                    </a:p>
                    <a:p>
                      <a:pPr indent="0" lvl="0" marL="0" rtl="0" algn="ctr">
                        <a:spcBef>
                          <a:spcPts val="0"/>
                        </a:spcBef>
                        <a:spcAft>
                          <a:spcPts val="0"/>
                        </a:spcAft>
                        <a:buNone/>
                      </a:pPr>
                      <a:r>
                        <a:rPr b="1" lang="en-GB">
                          <a:solidFill>
                            <a:srgbClr val="533F00"/>
                          </a:solidFill>
                          <a:latin typeface="Georgia"/>
                          <a:ea typeface="Georgia"/>
                          <a:cs typeface="Georgia"/>
                          <a:sym typeface="Georgia"/>
                        </a:rPr>
                        <a:t>Small Footprint Stores</a:t>
                      </a:r>
                      <a:endParaRPr b="1">
                        <a:solidFill>
                          <a:srgbClr val="533F00"/>
                        </a:solidFill>
                        <a:latin typeface="Georgia"/>
                        <a:ea typeface="Georgia"/>
                        <a:cs typeface="Georgia"/>
                        <a:sym typeface="Georgia"/>
                      </a:endParaRPr>
                    </a:p>
                    <a:p>
                      <a:pPr indent="0" lvl="0" marL="0" rtl="0" algn="l">
                        <a:spcBef>
                          <a:spcPts val="0"/>
                        </a:spcBef>
                        <a:spcAft>
                          <a:spcPts val="0"/>
                        </a:spcAft>
                        <a:buNone/>
                      </a:pPr>
                      <a:r>
                        <a:t/>
                      </a:r>
                      <a:endParaRPr>
                        <a:solidFill>
                          <a:srgbClr val="533F00"/>
                        </a:solidFill>
                        <a:latin typeface="Georgia"/>
                        <a:ea typeface="Georgia"/>
                        <a:cs typeface="Georgia"/>
                        <a:sym typeface="Georgia"/>
                      </a:endParaRPr>
                    </a:p>
                    <a:p>
                      <a:pPr indent="0" lvl="0" marL="0" rtl="0" algn="ctr">
                        <a:spcBef>
                          <a:spcPts val="0"/>
                        </a:spcBef>
                        <a:spcAft>
                          <a:spcPts val="0"/>
                        </a:spcAft>
                        <a:buNone/>
                      </a:pPr>
                      <a:r>
                        <a:rPr lang="en-GB" sz="800">
                          <a:solidFill>
                            <a:srgbClr val="533F00"/>
                          </a:solidFill>
                        </a:rPr>
                        <a:t>20-60 sqm pick up format (minimal capital expenditure)</a:t>
                      </a:r>
                      <a:endParaRPr sz="800">
                        <a:solidFill>
                          <a:srgbClr val="533F00"/>
                        </a:solidFill>
                      </a:endParaRPr>
                    </a:p>
                  </a:txBody>
                  <a:tcPr marT="91425" marB="91425" marR="91425" marL="91425">
                    <a:lnL cap="flat" cmpd="sng" w="28575">
                      <a:solidFill>
                        <a:srgbClr val="533F00"/>
                      </a:solidFill>
                      <a:prstDash val="solid"/>
                      <a:round/>
                      <a:headEnd len="sm" w="sm" type="none"/>
                      <a:tailEnd len="sm" w="sm" type="none"/>
                    </a:lnL>
                    <a:lnR cap="flat" cmpd="sng" w="28575">
                      <a:solidFill>
                        <a:srgbClr val="533F00"/>
                      </a:solidFill>
                      <a:prstDash val="solid"/>
                      <a:round/>
                      <a:headEnd len="sm" w="sm" type="none"/>
                      <a:tailEnd len="sm" w="sm" type="none"/>
                    </a:lnR>
                    <a:lnT cap="flat" cmpd="sng" w="28575">
                      <a:solidFill>
                        <a:srgbClr val="533F00"/>
                      </a:solidFill>
                      <a:prstDash val="solid"/>
                      <a:round/>
                      <a:headEnd len="sm" w="sm" type="none"/>
                      <a:tailEnd len="sm" w="sm" type="none"/>
                    </a:lnT>
                    <a:lnB cap="flat" cmpd="sng" w="28575">
                      <a:solidFill>
                        <a:srgbClr val="533F00"/>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rgbClr val="533F00"/>
                        </a:solidFill>
                        <a:latin typeface="Georgia"/>
                        <a:ea typeface="Georgia"/>
                        <a:cs typeface="Georgia"/>
                        <a:sym typeface="Georgia"/>
                      </a:endParaRPr>
                    </a:p>
                    <a:p>
                      <a:pPr indent="0" lvl="0" marL="0" rtl="0" algn="ctr">
                        <a:spcBef>
                          <a:spcPts val="0"/>
                        </a:spcBef>
                        <a:spcAft>
                          <a:spcPts val="0"/>
                        </a:spcAft>
                        <a:buNone/>
                      </a:pPr>
                      <a:r>
                        <a:rPr b="1" lang="en-GB">
                          <a:solidFill>
                            <a:srgbClr val="533F00"/>
                          </a:solidFill>
                          <a:latin typeface="Georgia"/>
                          <a:ea typeface="Georgia"/>
                          <a:cs typeface="Georgia"/>
                          <a:sym typeface="Georgia"/>
                        </a:rPr>
                        <a:t>Cashless Ordering</a:t>
                      </a:r>
                      <a:endParaRPr b="1">
                        <a:solidFill>
                          <a:srgbClr val="533F00"/>
                        </a:solidFill>
                        <a:latin typeface="Georgia"/>
                        <a:ea typeface="Georgia"/>
                        <a:cs typeface="Georgia"/>
                        <a:sym typeface="Georgia"/>
                      </a:endParaRPr>
                    </a:p>
                    <a:p>
                      <a:pPr indent="0" lvl="0" marL="0" rtl="0" algn="l">
                        <a:spcBef>
                          <a:spcPts val="0"/>
                        </a:spcBef>
                        <a:spcAft>
                          <a:spcPts val="0"/>
                        </a:spcAft>
                        <a:buNone/>
                      </a:pPr>
                      <a:r>
                        <a:t/>
                      </a:r>
                      <a:endParaRPr>
                        <a:solidFill>
                          <a:srgbClr val="533F00"/>
                        </a:solidFill>
                        <a:latin typeface="Georgia"/>
                        <a:ea typeface="Georgia"/>
                        <a:cs typeface="Georgia"/>
                        <a:sym typeface="Georgia"/>
                      </a:endParaRPr>
                    </a:p>
                    <a:p>
                      <a:pPr indent="0" lvl="0" marL="0" rtl="0" algn="ctr">
                        <a:spcBef>
                          <a:spcPts val="0"/>
                        </a:spcBef>
                        <a:spcAft>
                          <a:spcPts val="0"/>
                        </a:spcAft>
                        <a:buNone/>
                      </a:pPr>
                      <a:r>
                        <a:rPr lang="en-GB" sz="800">
                          <a:solidFill>
                            <a:srgbClr val="533F00"/>
                          </a:solidFill>
                        </a:rPr>
                        <a:t>100% orders on app,</a:t>
                      </a:r>
                      <a:endParaRPr sz="800">
                        <a:solidFill>
                          <a:srgbClr val="533F00"/>
                        </a:solidFill>
                      </a:endParaRPr>
                    </a:p>
                    <a:p>
                      <a:pPr indent="0" lvl="0" marL="0" rtl="0" algn="ctr">
                        <a:spcBef>
                          <a:spcPts val="0"/>
                        </a:spcBef>
                        <a:spcAft>
                          <a:spcPts val="0"/>
                        </a:spcAft>
                        <a:buNone/>
                      </a:pPr>
                      <a:r>
                        <a:rPr lang="en-GB" sz="800">
                          <a:solidFill>
                            <a:srgbClr val="533F00"/>
                          </a:solidFill>
                        </a:rPr>
                        <a:t>No cashiers</a:t>
                      </a:r>
                      <a:endParaRPr sz="800">
                        <a:solidFill>
                          <a:srgbClr val="533F00"/>
                        </a:solidFill>
                      </a:endParaRPr>
                    </a:p>
                    <a:p>
                      <a:pPr indent="0" lvl="0" marL="0" rtl="0" algn="ctr">
                        <a:spcBef>
                          <a:spcPts val="0"/>
                        </a:spcBef>
                        <a:spcAft>
                          <a:spcPts val="0"/>
                        </a:spcAft>
                        <a:buNone/>
                      </a:pPr>
                      <a:r>
                        <a:t/>
                      </a:r>
                      <a:endParaRPr>
                        <a:solidFill>
                          <a:srgbClr val="533F00"/>
                        </a:solidFill>
                        <a:latin typeface="Georgia"/>
                        <a:ea typeface="Georgia"/>
                        <a:cs typeface="Georgia"/>
                        <a:sym typeface="Georgia"/>
                      </a:endParaRPr>
                    </a:p>
                  </a:txBody>
                  <a:tcPr marT="91425" marB="91425" marR="91425" marL="91425">
                    <a:lnL cap="flat" cmpd="sng" w="28575">
                      <a:solidFill>
                        <a:srgbClr val="533F00"/>
                      </a:solidFill>
                      <a:prstDash val="solid"/>
                      <a:round/>
                      <a:headEnd len="sm" w="sm" type="none"/>
                      <a:tailEnd len="sm" w="sm" type="none"/>
                    </a:lnL>
                    <a:lnR cap="flat" cmpd="sng" w="28575">
                      <a:solidFill>
                        <a:srgbClr val="533F00"/>
                      </a:solidFill>
                      <a:prstDash val="solid"/>
                      <a:round/>
                      <a:headEnd len="sm" w="sm" type="none"/>
                      <a:tailEnd len="sm" w="sm" type="none"/>
                    </a:lnR>
                    <a:lnT cap="flat" cmpd="sng" w="28575">
                      <a:solidFill>
                        <a:srgbClr val="533F00"/>
                      </a:solidFill>
                      <a:prstDash val="solid"/>
                      <a:round/>
                      <a:headEnd len="sm" w="sm" type="none"/>
                      <a:tailEnd len="sm" w="sm" type="none"/>
                    </a:lnT>
                    <a:lnB cap="flat" cmpd="sng" w="28575">
                      <a:solidFill>
                        <a:srgbClr val="533F00"/>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rgbClr val="533F00"/>
                        </a:solidFill>
                        <a:latin typeface="Georgia"/>
                        <a:ea typeface="Georgia"/>
                        <a:cs typeface="Georgia"/>
                        <a:sym typeface="Georgia"/>
                      </a:endParaRPr>
                    </a:p>
                    <a:p>
                      <a:pPr indent="0" lvl="0" marL="0" rtl="0" algn="ctr">
                        <a:spcBef>
                          <a:spcPts val="0"/>
                        </a:spcBef>
                        <a:spcAft>
                          <a:spcPts val="0"/>
                        </a:spcAft>
                        <a:buNone/>
                      </a:pPr>
                      <a:r>
                        <a:rPr b="1" lang="en-GB">
                          <a:solidFill>
                            <a:srgbClr val="533F00"/>
                          </a:solidFill>
                          <a:latin typeface="Georgia"/>
                          <a:ea typeface="Georgia"/>
                          <a:cs typeface="Georgia"/>
                          <a:sym typeface="Georgia"/>
                        </a:rPr>
                        <a:t>Proven Franchise</a:t>
                      </a:r>
                      <a:endParaRPr b="1">
                        <a:solidFill>
                          <a:srgbClr val="533F00"/>
                        </a:solidFill>
                        <a:latin typeface="Georgia"/>
                        <a:ea typeface="Georgia"/>
                        <a:cs typeface="Georgia"/>
                        <a:sym typeface="Georgia"/>
                      </a:endParaRPr>
                    </a:p>
                    <a:p>
                      <a:pPr indent="0" lvl="0" marL="0" rtl="0" algn="l">
                        <a:spcBef>
                          <a:spcPts val="0"/>
                        </a:spcBef>
                        <a:spcAft>
                          <a:spcPts val="0"/>
                        </a:spcAft>
                        <a:buNone/>
                      </a:pPr>
                      <a:r>
                        <a:t/>
                      </a:r>
                      <a:endParaRPr>
                        <a:solidFill>
                          <a:srgbClr val="533F00"/>
                        </a:solidFill>
                        <a:latin typeface="Georgia"/>
                        <a:ea typeface="Georgia"/>
                        <a:cs typeface="Georgia"/>
                        <a:sym typeface="Georgia"/>
                      </a:endParaRPr>
                    </a:p>
                    <a:p>
                      <a:pPr indent="0" lvl="0" marL="0" rtl="0" algn="ctr">
                        <a:spcBef>
                          <a:spcPts val="0"/>
                        </a:spcBef>
                        <a:spcAft>
                          <a:spcPts val="0"/>
                        </a:spcAft>
                        <a:buNone/>
                      </a:pPr>
                      <a:r>
                        <a:rPr lang="en-GB" sz="800">
                          <a:solidFill>
                            <a:srgbClr val="533F00"/>
                          </a:solidFill>
                        </a:rPr>
                        <a:t>Grab and go model,</a:t>
                      </a:r>
                      <a:endParaRPr sz="800">
                        <a:solidFill>
                          <a:srgbClr val="533F00"/>
                        </a:solidFill>
                      </a:endParaRPr>
                    </a:p>
                    <a:p>
                      <a:pPr indent="0" lvl="0" marL="0" rtl="0" algn="ctr">
                        <a:spcBef>
                          <a:spcPts val="0"/>
                        </a:spcBef>
                        <a:spcAft>
                          <a:spcPts val="0"/>
                        </a:spcAft>
                        <a:buNone/>
                      </a:pPr>
                      <a:r>
                        <a:rPr lang="en-GB" sz="800">
                          <a:solidFill>
                            <a:srgbClr val="533F00"/>
                          </a:solidFill>
                        </a:rPr>
                        <a:t>Low initial setup cost for franchisees </a:t>
                      </a:r>
                      <a:endParaRPr sz="800">
                        <a:solidFill>
                          <a:srgbClr val="533F00"/>
                        </a:solidFill>
                      </a:endParaRPr>
                    </a:p>
                  </a:txBody>
                  <a:tcPr marT="91425" marB="91425" marR="91425" marL="91425">
                    <a:lnL cap="flat" cmpd="sng" w="28575">
                      <a:solidFill>
                        <a:srgbClr val="533F00"/>
                      </a:solidFill>
                      <a:prstDash val="solid"/>
                      <a:round/>
                      <a:headEnd len="sm" w="sm" type="none"/>
                      <a:tailEnd len="sm" w="sm" type="none"/>
                    </a:lnL>
                    <a:lnR cap="flat" cmpd="sng" w="28575">
                      <a:solidFill>
                        <a:srgbClr val="533F00"/>
                      </a:solidFill>
                      <a:prstDash val="solid"/>
                      <a:round/>
                      <a:headEnd len="sm" w="sm" type="none"/>
                      <a:tailEnd len="sm" w="sm" type="none"/>
                    </a:lnR>
                    <a:lnT cap="flat" cmpd="sng" w="28575">
                      <a:solidFill>
                        <a:srgbClr val="533F00"/>
                      </a:solidFill>
                      <a:prstDash val="solid"/>
                      <a:round/>
                      <a:headEnd len="sm" w="sm" type="none"/>
                      <a:tailEnd len="sm" w="sm" type="none"/>
                    </a:lnT>
                    <a:lnB cap="flat" cmpd="sng" w="28575">
                      <a:solidFill>
                        <a:srgbClr val="533F00"/>
                      </a:solidFill>
                      <a:prstDash val="solid"/>
                      <a:round/>
                      <a:headEnd len="sm" w="sm" type="none"/>
                      <a:tailEnd len="sm" w="sm" type="none"/>
                    </a:lnB>
                  </a:tcPr>
                </a:tc>
                <a:tc>
                  <a:txBody>
                    <a:bodyPr/>
                    <a:lstStyle/>
                    <a:p>
                      <a:pPr indent="0" lvl="0" marL="0" rtl="0" algn="ctr">
                        <a:spcBef>
                          <a:spcPts val="0"/>
                        </a:spcBef>
                        <a:spcAft>
                          <a:spcPts val="0"/>
                        </a:spcAft>
                        <a:buNone/>
                      </a:pPr>
                      <a:r>
                        <a:t/>
                      </a:r>
                      <a:endParaRPr b="1">
                        <a:solidFill>
                          <a:srgbClr val="533F00"/>
                        </a:solidFill>
                        <a:latin typeface="Georgia"/>
                        <a:ea typeface="Georgia"/>
                        <a:cs typeface="Georgia"/>
                        <a:sym typeface="Georgia"/>
                      </a:endParaRPr>
                    </a:p>
                    <a:p>
                      <a:pPr indent="0" lvl="0" marL="0" rtl="0" algn="ctr">
                        <a:spcBef>
                          <a:spcPts val="0"/>
                        </a:spcBef>
                        <a:spcAft>
                          <a:spcPts val="0"/>
                        </a:spcAft>
                        <a:buNone/>
                      </a:pPr>
                      <a:r>
                        <a:rPr b="1" lang="en-GB">
                          <a:solidFill>
                            <a:srgbClr val="533F00"/>
                          </a:solidFill>
                          <a:latin typeface="Georgia"/>
                          <a:ea typeface="Georgia"/>
                          <a:cs typeface="Georgia"/>
                          <a:sym typeface="Georgia"/>
                        </a:rPr>
                        <a:t>Data-driven </a:t>
                      </a:r>
                      <a:endParaRPr b="1">
                        <a:solidFill>
                          <a:srgbClr val="533F00"/>
                        </a:solidFill>
                        <a:latin typeface="Georgia"/>
                        <a:ea typeface="Georgia"/>
                        <a:cs typeface="Georgia"/>
                        <a:sym typeface="Georgia"/>
                      </a:endParaRPr>
                    </a:p>
                    <a:p>
                      <a:pPr indent="0" lvl="0" marL="0" rtl="0" algn="ctr">
                        <a:spcBef>
                          <a:spcPts val="0"/>
                        </a:spcBef>
                        <a:spcAft>
                          <a:spcPts val="0"/>
                        </a:spcAft>
                        <a:buNone/>
                      </a:pPr>
                      <a:r>
                        <a:rPr b="1" lang="en-GB">
                          <a:solidFill>
                            <a:srgbClr val="533F00"/>
                          </a:solidFill>
                          <a:latin typeface="Georgia"/>
                          <a:ea typeface="Georgia"/>
                          <a:cs typeface="Georgia"/>
                          <a:sym typeface="Georgia"/>
                        </a:rPr>
                        <a:t>Product Strategy</a:t>
                      </a:r>
                      <a:endParaRPr b="1">
                        <a:solidFill>
                          <a:srgbClr val="533F00"/>
                        </a:solidFill>
                        <a:latin typeface="Georgia"/>
                        <a:ea typeface="Georgia"/>
                        <a:cs typeface="Georgia"/>
                        <a:sym typeface="Georgia"/>
                      </a:endParaRPr>
                    </a:p>
                    <a:p>
                      <a:pPr indent="0" lvl="0" marL="0" rtl="0" algn="l">
                        <a:spcBef>
                          <a:spcPts val="0"/>
                        </a:spcBef>
                        <a:spcAft>
                          <a:spcPts val="0"/>
                        </a:spcAft>
                        <a:buNone/>
                      </a:pPr>
                      <a:r>
                        <a:t/>
                      </a:r>
                      <a:endParaRPr>
                        <a:solidFill>
                          <a:srgbClr val="533F00"/>
                        </a:solidFill>
                        <a:latin typeface="Georgia"/>
                        <a:ea typeface="Georgia"/>
                        <a:cs typeface="Georgia"/>
                        <a:sym typeface="Georgia"/>
                      </a:endParaRPr>
                    </a:p>
                    <a:p>
                      <a:pPr indent="0" lvl="0" marL="0" rtl="0" algn="ctr">
                        <a:spcBef>
                          <a:spcPts val="0"/>
                        </a:spcBef>
                        <a:spcAft>
                          <a:spcPts val="0"/>
                        </a:spcAft>
                        <a:buNone/>
                      </a:pPr>
                      <a:r>
                        <a:rPr lang="en-GB" sz="800">
                          <a:solidFill>
                            <a:srgbClr val="533F00"/>
                          </a:solidFill>
                        </a:rPr>
                        <a:t>Use real time sales data for </a:t>
                      </a:r>
                      <a:endParaRPr sz="800">
                        <a:solidFill>
                          <a:srgbClr val="533F00"/>
                        </a:solidFill>
                      </a:endParaRPr>
                    </a:p>
                    <a:p>
                      <a:pPr indent="0" lvl="0" marL="0" rtl="0" algn="ctr">
                        <a:spcBef>
                          <a:spcPts val="0"/>
                        </a:spcBef>
                        <a:spcAft>
                          <a:spcPts val="0"/>
                        </a:spcAft>
                        <a:buNone/>
                      </a:pPr>
                      <a:r>
                        <a:rPr lang="en-GB" sz="800">
                          <a:solidFill>
                            <a:srgbClr val="533F00"/>
                          </a:solidFill>
                        </a:rPr>
                        <a:t>swift product decisions </a:t>
                      </a:r>
                      <a:endParaRPr sz="800">
                        <a:solidFill>
                          <a:srgbClr val="533F00"/>
                        </a:solidFill>
                      </a:endParaRPr>
                    </a:p>
                    <a:p>
                      <a:pPr indent="0" lvl="0" marL="0" rtl="0" algn="ctr">
                        <a:spcBef>
                          <a:spcPts val="0"/>
                        </a:spcBef>
                        <a:spcAft>
                          <a:spcPts val="0"/>
                        </a:spcAft>
                        <a:buNone/>
                      </a:pPr>
                      <a:r>
                        <a:t/>
                      </a:r>
                      <a:endParaRPr>
                        <a:solidFill>
                          <a:srgbClr val="533F00"/>
                        </a:solidFill>
                        <a:latin typeface="Georgia"/>
                        <a:ea typeface="Georgia"/>
                        <a:cs typeface="Georgia"/>
                        <a:sym typeface="Georgia"/>
                      </a:endParaRPr>
                    </a:p>
                  </a:txBody>
                  <a:tcPr marT="91425" marB="91425" marR="91425" marL="91425">
                    <a:lnL cap="flat" cmpd="sng" w="28575">
                      <a:solidFill>
                        <a:srgbClr val="533F00"/>
                      </a:solidFill>
                      <a:prstDash val="solid"/>
                      <a:round/>
                      <a:headEnd len="sm" w="sm" type="none"/>
                      <a:tailEnd len="sm" w="sm" type="none"/>
                    </a:lnL>
                    <a:lnR cap="flat" cmpd="sng" w="28575">
                      <a:solidFill>
                        <a:srgbClr val="533F00"/>
                      </a:solidFill>
                      <a:prstDash val="solid"/>
                      <a:round/>
                      <a:headEnd len="sm" w="sm" type="none"/>
                      <a:tailEnd len="sm" w="sm" type="none"/>
                    </a:lnR>
                    <a:lnT cap="flat" cmpd="sng" w="28575">
                      <a:solidFill>
                        <a:srgbClr val="533F00"/>
                      </a:solidFill>
                      <a:prstDash val="solid"/>
                      <a:round/>
                      <a:headEnd len="sm" w="sm" type="none"/>
                      <a:tailEnd len="sm" w="sm" type="none"/>
                    </a:lnT>
                    <a:lnB cap="flat" cmpd="sng" w="28575">
                      <a:solidFill>
                        <a:srgbClr val="533F00"/>
                      </a:solidFill>
                      <a:prstDash val="solid"/>
                      <a:round/>
                      <a:headEnd len="sm" w="sm" type="none"/>
                      <a:tailEnd len="sm" w="sm" type="none"/>
                    </a:lnB>
                  </a:tcPr>
                </a:tc>
              </a:tr>
              <a:tr h="976725">
                <a:tc>
                  <a:txBody>
                    <a:bodyPr/>
                    <a:lstStyle/>
                    <a:p>
                      <a:pPr indent="-279400" lvl="0" marL="457200" rtl="0" algn="l">
                        <a:spcBef>
                          <a:spcPts val="0"/>
                        </a:spcBef>
                        <a:spcAft>
                          <a:spcPts val="0"/>
                        </a:spcAft>
                        <a:buClr>
                          <a:srgbClr val="533F00"/>
                        </a:buClr>
                        <a:buSzPts val="800"/>
                        <a:buFont typeface="Georgia"/>
                        <a:buChar char="●"/>
                      </a:pPr>
                      <a:r>
                        <a:rPr lang="en-GB" sz="800">
                          <a:solidFill>
                            <a:srgbClr val="533F00"/>
                          </a:solidFill>
                          <a:latin typeface="Georgia"/>
                          <a:ea typeface="Georgia"/>
                          <a:cs typeface="Georgia"/>
                          <a:sym typeface="Georgia"/>
                        </a:rPr>
                        <a:t>Full dine in outlets</a:t>
                      </a:r>
                      <a:endParaRPr sz="800">
                        <a:solidFill>
                          <a:srgbClr val="533F00"/>
                        </a:solidFill>
                        <a:latin typeface="Georgia"/>
                        <a:ea typeface="Georgia"/>
                        <a:cs typeface="Georgia"/>
                        <a:sym typeface="Georgia"/>
                      </a:endParaRPr>
                    </a:p>
                    <a:p>
                      <a:pPr indent="-279400" lvl="0" marL="457200" rtl="0" algn="l">
                        <a:spcBef>
                          <a:spcPts val="0"/>
                        </a:spcBef>
                        <a:spcAft>
                          <a:spcPts val="0"/>
                        </a:spcAft>
                        <a:buClr>
                          <a:srgbClr val="533F00"/>
                        </a:buClr>
                        <a:buSzPts val="800"/>
                        <a:buFont typeface="Georgia"/>
                        <a:buChar char="●"/>
                      </a:pPr>
                      <a:r>
                        <a:rPr lang="en-GB" sz="800">
                          <a:solidFill>
                            <a:srgbClr val="533F00"/>
                          </a:solidFill>
                          <a:latin typeface="Georgia"/>
                          <a:ea typeface="Georgia"/>
                          <a:cs typeface="Georgia"/>
                          <a:sym typeface="Georgia"/>
                        </a:rPr>
                        <a:t>Suntec self ordering kiosk never scaled</a:t>
                      </a:r>
                      <a:endParaRPr sz="800">
                        <a:solidFill>
                          <a:srgbClr val="533F00"/>
                        </a:solidFill>
                        <a:latin typeface="Georgia"/>
                        <a:ea typeface="Georgia"/>
                        <a:cs typeface="Georgia"/>
                        <a:sym typeface="Georgia"/>
                      </a:endParaRPr>
                    </a:p>
                  </a:txBody>
                  <a:tcPr marT="91425" marB="91425" marR="91425" marL="91425">
                    <a:lnL cap="flat" cmpd="sng" w="28575">
                      <a:solidFill>
                        <a:srgbClr val="533F00"/>
                      </a:solidFill>
                      <a:prstDash val="solid"/>
                      <a:round/>
                      <a:headEnd len="sm" w="sm" type="none"/>
                      <a:tailEnd len="sm" w="sm" type="none"/>
                    </a:lnL>
                    <a:lnR cap="flat" cmpd="sng" w="28575">
                      <a:solidFill>
                        <a:srgbClr val="533F00"/>
                      </a:solidFill>
                      <a:prstDash val="solid"/>
                      <a:round/>
                      <a:headEnd len="sm" w="sm" type="none"/>
                      <a:tailEnd len="sm" w="sm" type="none"/>
                    </a:lnR>
                    <a:lnT cap="flat" cmpd="sng" w="28575">
                      <a:solidFill>
                        <a:srgbClr val="533F00"/>
                      </a:solidFill>
                      <a:prstDash val="solid"/>
                      <a:round/>
                      <a:headEnd len="sm" w="sm" type="none"/>
                      <a:tailEnd len="sm" w="sm" type="none"/>
                    </a:lnT>
                    <a:lnB cap="flat" cmpd="sng" w="28575">
                      <a:solidFill>
                        <a:srgbClr val="533F00"/>
                      </a:solidFill>
                      <a:prstDash val="solid"/>
                      <a:round/>
                      <a:headEnd len="sm" w="sm" type="none"/>
                      <a:tailEnd len="sm" w="sm" type="none"/>
                    </a:lnB>
                  </a:tcPr>
                </a:tc>
                <a:tc>
                  <a:txBody>
                    <a:bodyPr/>
                    <a:lstStyle/>
                    <a:p>
                      <a:pPr indent="-279400" lvl="0" marL="457200" rtl="0" algn="l">
                        <a:spcBef>
                          <a:spcPts val="0"/>
                        </a:spcBef>
                        <a:spcAft>
                          <a:spcPts val="0"/>
                        </a:spcAft>
                        <a:buClr>
                          <a:srgbClr val="533F00"/>
                        </a:buClr>
                        <a:buSzPts val="800"/>
                        <a:buFont typeface="Georgia"/>
                        <a:buChar char="●"/>
                      </a:pPr>
                      <a:r>
                        <a:rPr lang="en-GB" sz="800">
                          <a:solidFill>
                            <a:srgbClr val="533F00"/>
                          </a:solidFill>
                          <a:latin typeface="Georgia"/>
                          <a:ea typeface="Georgia"/>
                          <a:cs typeface="Georgia"/>
                          <a:sym typeface="Georgia"/>
                        </a:rPr>
                        <a:t>No official brand app</a:t>
                      </a:r>
                      <a:endParaRPr sz="800">
                        <a:solidFill>
                          <a:srgbClr val="533F00"/>
                        </a:solidFill>
                        <a:latin typeface="Georgia"/>
                        <a:ea typeface="Georgia"/>
                        <a:cs typeface="Georgia"/>
                        <a:sym typeface="Georgia"/>
                      </a:endParaRPr>
                    </a:p>
                    <a:p>
                      <a:pPr indent="-279400" lvl="0" marL="457200" rtl="0" algn="l">
                        <a:spcBef>
                          <a:spcPts val="0"/>
                        </a:spcBef>
                        <a:spcAft>
                          <a:spcPts val="0"/>
                        </a:spcAft>
                        <a:buClr>
                          <a:srgbClr val="533F00"/>
                        </a:buClr>
                        <a:buSzPts val="800"/>
                        <a:buFont typeface="Georgia"/>
                        <a:buChar char="●"/>
                      </a:pPr>
                      <a:r>
                        <a:rPr lang="en-GB" sz="800">
                          <a:solidFill>
                            <a:srgbClr val="533F00"/>
                          </a:solidFill>
                          <a:latin typeface="Georgia"/>
                          <a:ea typeface="Georgia"/>
                          <a:cs typeface="Georgia"/>
                          <a:sym typeface="Georgia"/>
                        </a:rPr>
                        <a:t>No first-party transaction data</a:t>
                      </a:r>
                      <a:endParaRPr b="1">
                        <a:solidFill>
                          <a:srgbClr val="533F00"/>
                        </a:solidFill>
                        <a:latin typeface="Georgia"/>
                        <a:ea typeface="Georgia"/>
                        <a:cs typeface="Georgia"/>
                        <a:sym typeface="Georgia"/>
                      </a:endParaRPr>
                    </a:p>
                  </a:txBody>
                  <a:tcPr marT="91425" marB="91425" marR="91425" marL="91425">
                    <a:lnL cap="flat" cmpd="sng" w="28575">
                      <a:solidFill>
                        <a:srgbClr val="533F00"/>
                      </a:solidFill>
                      <a:prstDash val="solid"/>
                      <a:round/>
                      <a:headEnd len="sm" w="sm" type="none"/>
                      <a:tailEnd len="sm" w="sm" type="none"/>
                    </a:lnL>
                    <a:lnR cap="flat" cmpd="sng" w="28575">
                      <a:solidFill>
                        <a:srgbClr val="533F00"/>
                      </a:solidFill>
                      <a:prstDash val="solid"/>
                      <a:round/>
                      <a:headEnd len="sm" w="sm" type="none"/>
                      <a:tailEnd len="sm" w="sm" type="none"/>
                    </a:lnR>
                    <a:lnT cap="flat" cmpd="sng" w="28575">
                      <a:solidFill>
                        <a:srgbClr val="533F00"/>
                      </a:solidFill>
                      <a:prstDash val="solid"/>
                      <a:round/>
                      <a:headEnd len="sm" w="sm" type="none"/>
                      <a:tailEnd len="sm" w="sm" type="none"/>
                    </a:lnT>
                    <a:lnB cap="flat" cmpd="sng" w="28575">
                      <a:solidFill>
                        <a:srgbClr val="533F00"/>
                      </a:solidFill>
                      <a:prstDash val="solid"/>
                      <a:round/>
                      <a:headEnd len="sm" w="sm" type="none"/>
                      <a:tailEnd len="sm" w="sm" type="none"/>
                    </a:lnB>
                  </a:tcPr>
                </a:tc>
                <a:tc>
                  <a:txBody>
                    <a:bodyPr/>
                    <a:lstStyle/>
                    <a:p>
                      <a:pPr indent="-279400" lvl="0" marL="457200" rtl="0" algn="l">
                        <a:spcBef>
                          <a:spcPts val="0"/>
                        </a:spcBef>
                        <a:spcAft>
                          <a:spcPts val="0"/>
                        </a:spcAft>
                        <a:buClr>
                          <a:srgbClr val="533F00"/>
                        </a:buClr>
                        <a:buSzPts val="800"/>
                        <a:buFont typeface="Georgia"/>
                        <a:buChar char="●"/>
                      </a:pPr>
                      <a:r>
                        <a:rPr lang="en-GB" sz="800">
                          <a:solidFill>
                            <a:srgbClr val="533F00"/>
                          </a:solidFill>
                          <a:latin typeface="Georgia"/>
                          <a:ea typeface="Georgia"/>
                          <a:cs typeface="Georgia"/>
                          <a:sym typeface="Georgia"/>
                        </a:rPr>
                        <a:t>New formats are not data-validated</a:t>
                      </a:r>
                      <a:endParaRPr sz="800">
                        <a:solidFill>
                          <a:srgbClr val="533F00"/>
                        </a:solidFill>
                        <a:latin typeface="Georgia"/>
                        <a:ea typeface="Georgia"/>
                        <a:cs typeface="Georgia"/>
                        <a:sym typeface="Georgia"/>
                      </a:endParaRPr>
                    </a:p>
                    <a:p>
                      <a:pPr indent="-279400" lvl="0" marL="457200" rtl="0" algn="l">
                        <a:spcBef>
                          <a:spcPts val="0"/>
                        </a:spcBef>
                        <a:spcAft>
                          <a:spcPts val="0"/>
                        </a:spcAft>
                        <a:buClr>
                          <a:srgbClr val="533F00"/>
                        </a:buClr>
                        <a:buSzPts val="800"/>
                        <a:buFont typeface="Georgia"/>
                        <a:buChar char="●"/>
                      </a:pPr>
                      <a:r>
                        <a:rPr lang="en-GB" sz="800">
                          <a:solidFill>
                            <a:srgbClr val="533F00"/>
                          </a:solidFill>
                          <a:latin typeface="Georgia"/>
                          <a:ea typeface="Georgia"/>
                          <a:cs typeface="Georgia"/>
                          <a:sym typeface="Georgia"/>
                        </a:rPr>
                        <a:t>Risk passed to franchisees</a:t>
                      </a:r>
                      <a:endParaRPr sz="800">
                        <a:solidFill>
                          <a:srgbClr val="533F00"/>
                        </a:solidFill>
                        <a:latin typeface="Georgia"/>
                        <a:ea typeface="Georgia"/>
                        <a:cs typeface="Georgia"/>
                        <a:sym typeface="Georgia"/>
                      </a:endParaRPr>
                    </a:p>
                    <a:p>
                      <a:pPr indent="0" lvl="0" marL="0" rtl="0" algn="ctr">
                        <a:spcBef>
                          <a:spcPts val="0"/>
                        </a:spcBef>
                        <a:spcAft>
                          <a:spcPts val="0"/>
                        </a:spcAft>
                        <a:buNone/>
                      </a:pPr>
                      <a:r>
                        <a:t/>
                      </a:r>
                      <a:endParaRPr b="1">
                        <a:solidFill>
                          <a:srgbClr val="533F00"/>
                        </a:solidFill>
                        <a:latin typeface="Georgia"/>
                        <a:ea typeface="Georgia"/>
                        <a:cs typeface="Georgia"/>
                        <a:sym typeface="Georgia"/>
                      </a:endParaRPr>
                    </a:p>
                  </a:txBody>
                  <a:tcPr marT="91425" marB="91425" marR="91425" marL="91425">
                    <a:lnL cap="flat" cmpd="sng" w="28575">
                      <a:solidFill>
                        <a:srgbClr val="533F00"/>
                      </a:solidFill>
                      <a:prstDash val="solid"/>
                      <a:round/>
                      <a:headEnd len="sm" w="sm" type="none"/>
                      <a:tailEnd len="sm" w="sm" type="none"/>
                    </a:lnL>
                    <a:lnR cap="flat" cmpd="sng" w="28575">
                      <a:solidFill>
                        <a:srgbClr val="533F00"/>
                      </a:solidFill>
                      <a:prstDash val="solid"/>
                      <a:round/>
                      <a:headEnd len="sm" w="sm" type="none"/>
                      <a:tailEnd len="sm" w="sm" type="none"/>
                    </a:lnR>
                    <a:lnT cap="flat" cmpd="sng" w="28575">
                      <a:solidFill>
                        <a:srgbClr val="533F00"/>
                      </a:solidFill>
                      <a:prstDash val="solid"/>
                      <a:round/>
                      <a:headEnd len="sm" w="sm" type="none"/>
                      <a:tailEnd len="sm" w="sm" type="none"/>
                    </a:lnT>
                    <a:lnB cap="flat" cmpd="sng" w="28575">
                      <a:solidFill>
                        <a:srgbClr val="533F00"/>
                      </a:solidFill>
                      <a:prstDash val="solid"/>
                      <a:round/>
                      <a:headEnd len="sm" w="sm" type="none"/>
                      <a:tailEnd len="sm" w="sm" type="none"/>
                    </a:lnB>
                  </a:tcPr>
                </a:tc>
                <a:tc>
                  <a:txBody>
                    <a:bodyPr/>
                    <a:lstStyle/>
                    <a:p>
                      <a:pPr indent="-279400" lvl="0" marL="457200" rtl="0" algn="l">
                        <a:spcBef>
                          <a:spcPts val="0"/>
                        </a:spcBef>
                        <a:spcAft>
                          <a:spcPts val="0"/>
                        </a:spcAft>
                        <a:buClr>
                          <a:srgbClr val="533F00"/>
                        </a:buClr>
                        <a:buSzPts val="800"/>
                        <a:buFont typeface="Georgia"/>
                        <a:buChar char="●"/>
                      </a:pPr>
                      <a:r>
                        <a:rPr lang="en-GB" sz="800">
                          <a:solidFill>
                            <a:srgbClr val="533F00"/>
                          </a:solidFill>
                          <a:latin typeface="Georgia"/>
                          <a:ea typeface="Georgia"/>
                          <a:cs typeface="Georgia"/>
                          <a:sym typeface="Georgia"/>
                        </a:rPr>
                        <a:t>No first-party data</a:t>
                      </a:r>
                      <a:endParaRPr sz="800">
                        <a:solidFill>
                          <a:srgbClr val="533F00"/>
                        </a:solidFill>
                        <a:latin typeface="Georgia"/>
                        <a:ea typeface="Georgia"/>
                        <a:cs typeface="Georgia"/>
                        <a:sym typeface="Georgia"/>
                      </a:endParaRPr>
                    </a:p>
                    <a:p>
                      <a:pPr indent="-279400" lvl="0" marL="457200" rtl="0" algn="l">
                        <a:spcBef>
                          <a:spcPts val="0"/>
                        </a:spcBef>
                        <a:spcAft>
                          <a:spcPts val="0"/>
                        </a:spcAft>
                        <a:buClr>
                          <a:srgbClr val="533F00"/>
                        </a:buClr>
                        <a:buSzPts val="800"/>
                        <a:buFont typeface="Georgia"/>
                        <a:buChar char="●"/>
                      </a:pPr>
                      <a:r>
                        <a:rPr lang="en-GB" sz="800">
                          <a:solidFill>
                            <a:srgbClr val="533F00"/>
                          </a:solidFill>
                          <a:latin typeface="Georgia"/>
                          <a:ea typeface="Georgia"/>
                          <a:cs typeface="Georgia"/>
                          <a:sym typeface="Georgia"/>
                        </a:rPr>
                        <a:t>Product cycle led by marketing not data</a:t>
                      </a:r>
                      <a:endParaRPr sz="800">
                        <a:solidFill>
                          <a:srgbClr val="533F00"/>
                        </a:solidFill>
                        <a:latin typeface="Georgia"/>
                        <a:ea typeface="Georgia"/>
                        <a:cs typeface="Georgia"/>
                        <a:sym typeface="Georgia"/>
                      </a:endParaRPr>
                    </a:p>
                    <a:p>
                      <a:pPr indent="0" lvl="0" marL="0" rtl="0" algn="ctr">
                        <a:spcBef>
                          <a:spcPts val="0"/>
                        </a:spcBef>
                        <a:spcAft>
                          <a:spcPts val="0"/>
                        </a:spcAft>
                        <a:buNone/>
                      </a:pPr>
                      <a:r>
                        <a:t/>
                      </a:r>
                      <a:endParaRPr b="1">
                        <a:solidFill>
                          <a:srgbClr val="533F00"/>
                        </a:solidFill>
                        <a:latin typeface="Georgia"/>
                        <a:ea typeface="Georgia"/>
                        <a:cs typeface="Georgia"/>
                        <a:sym typeface="Georgia"/>
                      </a:endParaRPr>
                    </a:p>
                  </a:txBody>
                  <a:tcPr marT="91425" marB="91425" marR="91425" marL="91425">
                    <a:lnL cap="flat" cmpd="sng" w="28575">
                      <a:solidFill>
                        <a:srgbClr val="533F00"/>
                      </a:solidFill>
                      <a:prstDash val="solid"/>
                      <a:round/>
                      <a:headEnd len="sm" w="sm" type="none"/>
                      <a:tailEnd len="sm" w="sm" type="none"/>
                    </a:lnL>
                    <a:lnR cap="flat" cmpd="sng" w="28575">
                      <a:solidFill>
                        <a:srgbClr val="533F00"/>
                      </a:solidFill>
                      <a:prstDash val="solid"/>
                      <a:round/>
                      <a:headEnd len="sm" w="sm" type="none"/>
                      <a:tailEnd len="sm" w="sm" type="none"/>
                    </a:lnR>
                    <a:lnT cap="flat" cmpd="sng" w="28575">
                      <a:solidFill>
                        <a:srgbClr val="533F00"/>
                      </a:solidFill>
                      <a:prstDash val="solid"/>
                      <a:round/>
                      <a:headEnd len="sm" w="sm" type="none"/>
                      <a:tailEnd len="sm" w="sm" type="none"/>
                    </a:lnT>
                    <a:lnB cap="flat" cmpd="sng" w="28575">
                      <a:solidFill>
                        <a:srgbClr val="533F00"/>
                      </a:solidFill>
                      <a:prstDash val="solid"/>
                      <a:round/>
                      <a:headEnd len="sm" w="sm" type="none"/>
                      <a:tailEnd len="sm" w="sm" type="none"/>
                    </a:lnB>
                  </a:tcPr>
                </a:tc>
              </a:tr>
            </a:tbl>
          </a:graphicData>
        </a:graphic>
      </p:graphicFrame>
      <p:pic>
        <p:nvPicPr>
          <p:cNvPr id="111" name="Google Shape;111;p16" title="idtyrWnkP3_1783750870423.jpeg"/>
          <p:cNvPicPr preferRelativeResize="0"/>
          <p:nvPr/>
        </p:nvPicPr>
        <p:blipFill>
          <a:blip r:embed="rId3">
            <a:alphaModFix/>
          </a:blip>
          <a:stretch>
            <a:fillRect/>
          </a:stretch>
        </p:blipFill>
        <p:spPr>
          <a:xfrm>
            <a:off x="448075" y="2229777"/>
            <a:ext cx="788475" cy="788475"/>
          </a:xfrm>
          <a:prstGeom prst="rect">
            <a:avLst/>
          </a:prstGeom>
          <a:noFill/>
          <a:ln>
            <a:noFill/>
          </a:ln>
        </p:spPr>
      </p:pic>
      <p:pic>
        <p:nvPicPr>
          <p:cNvPr id="112" name="Google Shape;112;p16" title="logo.png"/>
          <p:cNvPicPr preferRelativeResize="0"/>
          <p:nvPr/>
        </p:nvPicPr>
        <p:blipFill>
          <a:blip r:embed="rId4">
            <a:alphaModFix/>
          </a:blip>
          <a:stretch>
            <a:fillRect/>
          </a:stretch>
        </p:blipFill>
        <p:spPr>
          <a:xfrm>
            <a:off x="270177" y="3583925"/>
            <a:ext cx="1098400" cy="981757"/>
          </a:xfrm>
          <a:prstGeom prst="rect">
            <a:avLst/>
          </a:prstGeom>
          <a:noFill/>
          <a:ln>
            <a:noFill/>
          </a:ln>
        </p:spPr>
      </p:pic>
      <p:sp>
        <p:nvSpPr>
          <p:cNvPr id="113" name="Google Shape;113;p16"/>
          <p:cNvSpPr txBox="1"/>
          <p:nvPr/>
        </p:nvSpPr>
        <p:spPr>
          <a:xfrm>
            <a:off x="428163" y="3093338"/>
            <a:ext cx="828300" cy="41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800">
                <a:solidFill>
                  <a:srgbClr val="5A4A3C"/>
                </a:solidFill>
                <a:latin typeface="Calibri"/>
                <a:ea typeface="Calibri"/>
                <a:cs typeface="Calibri"/>
                <a:sym typeface="Calibri"/>
              </a:rPr>
              <a:t>Luckin Scaling Model</a:t>
            </a:r>
            <a:endParaRPr b="1" sz="500">
              <a:solidFill>
                <a:srgbClr val="5A4A3C"/>
              </a:solidFill>
              <a:latin typeface="Calibri"/>
              <a:ea typeface="Calibri"/>
              <a:cs typeface="Calibri"/>
              <a:sym typeface="Calibri"/>
            </a:endParaRPr>
          </a:p>
        </p:txBody>
      </p:sp>
      <p:sp>
        <p:nvSpPr>
          <p:cNvPr id="114" name="Google Shape;114;p16"/>
          <p:cNvSpPr txBox="1"/>
          <p:nvPr/>
        </p:nvSpPr>
        <p:spPr>
          <a:xfrm>
            <a:off x="428175" y="4443338"/>
            <a:ext cx="828300" cy="41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GB" sz="800">
                <a:solidFill>
                  <a:srgbClr val="5A4A3C"/>
                </a:solidFill>
                <a:latin typeface="Calibri"/>
                <a:ea typeface="Calibri"/>
                <a:cs typeface="Calibri"/>
                <a:sym typeface="Calibri"/>
              </a:rPr>
              <a:t>Gaps</a:t>
            </a:r>
            <a:endParaRPr b="1" sz="500">
              <a:solidFill>
                <a:srgbClr val="5A4A3C"/>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7"/>
          <p:cNvSpPr txBox="1"/>
          <p:nvPr>
            <p:ph type="title"/>
          </p:nvPr>
        </p:nvSpPr>
        <p:spPr>
          <a:xfrm>
            <a:off x="2535472" y="1908450"/>
            <a:ext cx="4816500" cy="7455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GB"/>
              <a:t>Recommendation 1: </a:t>
            </a:r>
            <a:endParaRPr/>
          </a:p>
          <a:p>
            <a:pPr indent="0" lvl="0" marL="0" rtl="0" algn="l">
              <a:spcBef>
                <a:spcPts val="0"/>
              </a:spcBef>
              <a:spcAft>
                <a:spcPts val="0"/>
              </a:spcAft>
              <a:buNone/>
            </a:pPr>
            <a:r>
              <a:rPr lang="en-GB"/>
              <a:t>OTWC app</a:t>
            </a:r>
            <a:endParaRPr/>
          </a:p>
        </p:txBody>
      </p:sp>
      <p:sp>
        <p:nvSpPr>
          <p:cNvPr id="120" name="Google Shape;120;p17"/>
          <p:cNvSpPr txBox="1"/>
          <p:nvPr/>
        </p:nvSpPr>
        <p:spPr>
          <a:xfrm>
            <a:off x="334075" y="4377925"/>
            <a:ext cx="2201400" cy="53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Oswald"/>
                <a:ea typeface="Oswald"/>
                <a:cs typeface="Oswald"/>
                <a:sym typeface="Oswald"/>
              </a:rPr>
              <a:t>PRESENTER</a:t>
            </a:r>
            <a:endParaRPr sz="1800">
              <a:solidFill>
                <a:schemeClr val="lt1"/>
              </a:solidFill>
              <a:latin typeface="Oswald"/>
              <a:ea typeface="Oswald"/>
              <a:cs typeface="Oswald"/>
              <a:sym typeface="Oswald"/>
            </a:endParaRPr>
          </a:p>
          <a:p>
            <a:pPr indent="0" lvl="0" marL="0" rtl="0" algn="l">
              <a:spcBef>
                <a:spcPts val="0"/>
              </a:spcBef>
              <a:spcAft>
                <a:spcPts val="0"/>
              </a:spcAft>
              <a:buNone/>
            </a:pPr>
            <a:r>
              <a:rPr lang="en-GB" sz="1800">
                <a:solidFill>
                  <a:schemeClr val="lt1"/>
                </a:solidFill>
                <a:latin typeface="Oswald"/>
                <a:ea typeface="Oswald"/>
                <a:cs typeface="Oswald"/>
                <a:sym typeface="Oswald"/>
              </a:rPr>
              <a:t>DION &amp; SUHITH</a:t>
            </a:r>
            <a:endParaRPr sz="1800">
              <a:solidFill>
                <a:schemeClr val="lt1"/>
              </a:solidFill>
              <a:latin typeface="Oswald"/>
              <a:ea typeface="Oswald"/>
              <a:cs typeface="Oswald"/>
              <a:sym typeface="Oswald"/>
            </a:endParaRPr>
          </a:p>
        </p:txBody>
      </p:sp>
      <p:sp>
        <p:nvSpPr>
          <p:cNvPr id="121" name="Google Shape;121;p17"/>
          <p:cNvSpPr txBox="1"/>
          <p:nvPr/>
        </p:nvSpPr>
        <p:spPr>
          <a:xfrm>
            <a:off x="622825" y="1820850"/>
            <a:ext cx="1047000" cy="92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3800">
                <a:solidFill>
                  <a:schemeClr val="lt1"/>
                </a:solidFill>
                <a:latin typeface="Alfa Slab One"/>
                <a:ea typeface="Alfa Slab One"/>
                <a:cs typeface="Alfa Slab One"/>
                <a:sym typeface="Alfa Slab One"/>
              </a:rPr>
              <a:t>2</a:t>
            </a:r>
            <a:endParaRPr sz="3800">
              <a:solidFill>
                <a:schemeClr val="lt1"/>
              </a:solidFill>
              <a:latin typeface="Alfa Slab One"/>
              <a:ea typeface="Alfa Slab One"/>
              <a:cs typeface="Alfa Slab One"/>
              <a:sym typeface="Alfa Slab One"/>
            </a:endParaRPr>
          </a:p>
        </p:txBody>
      </p:sp>
      <p:sp>
        <p:nvSpPr>
          <p:cNvPr id="122" name="Google Shape;122;p17"/>
          <p:cNvSpPr/>
          <p:nvPr/>
        </p:nvSpPr>
        <p:spPr>
          <a:xfrm>
            <a:off x="2494708" y="1767152"/>
            <a:ext cx="3234600" cy="1028100"/>
          </a:xfrm>
          <a:prstGeom prst="roundRect">
            <a:avLst>
              <a:gd fmla="val 16667" name="adj"/>
            </a:avLst>
          </a:prstGeom>
          <a:noFill/>
          <a:ln cap="flat" cmpd="sng" w="38100">
            <a:solidFill>
              <a:srgbClr val="533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swald"/>
              <a:ea typeface="Oswald"/>
              <a:cs typeface="Oswald"/>
              <a:sym typeface="Oswa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8"/>
          <p:cNvSpPr txBox="1"/>
          <p:nvPr>
            <p:ph type="title"/>
          </p:nvPr>
        </p:nvSpPr>
        <p:spPr>
          <a:xfrm>
            <a:off x="311700" y="8362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Cambria"/>
                <a:ea typeface="Cambria"/>
                <a:cs typeface="Cambria"/>
                <a:sym typeface="Cambria"/>
              </a:rPr>
              <a:t>Old Town White Coffee App</a:t>
            </a:r>
            <a:endParaRPr b="1">
              <a:latin typeface="Cambria"/>
              <a:ea typeface="Cambria"/>
              <a:cs typeface="Cambria"/>
              <a:sym typeface="Cambria"/>
            </a:endParaRPr>
          </a:p>
        </p:txBody>
      </p:sp>
      <p:sp>
        <p:nvSpPr>
          <p:cNvPr id="128" name="Google Shape;128;p18"/>
          <p:cNvSpPr/>
          <p:nvPr/>
        </p:nvSpPr>
        <p:spPr>
          <a:xfrm>
            <a:off x="429430" y="177475"/>
            <a:ext cx="9144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66B"/>
              </a:buClr>
              <a:buSzPts val="1200"/>
              <a:buFont typeface="Calibri"/>
              <a:buNone/>
            </a:pPr>
            <a:r>
              <a:rPr b="1" i="0" lang="en-GB" sz="1200" u="none" cap="none" strike="noStrike">
                <a:solidFill>
                  <a:srgbClr val="C9A66B"/>
                </a:solidFill>
                <a:latin typeface="Calibri"/>
                <a:ea typeface="Calibri"/>
                <a:cs typeface="Calibri"/>
                <a:sym typeface="Calibri"/>
              </a:rPr>
              <a:t>RECOMMENDATION </a:t>
            </a:r>
            <a:r>
              <a:rPr b="1" lang="en-GB" sz="1200">
                <a:solidFill>
                  <a:srgbClr val="C9A66B"/>
                </a:solidFill>
                <a:latin typeface="Calibri"/>
                <a:ea typeface="Calibri"/>
                <a:cs typeface="Calibri"/>
                <a:sym typeface="Calibri"/>
              </a:rPr>
              <a:t>1</a:t>
            </a:r>
            <a:r>
              <a:rPr b="1" i="0" lang="en-GB" sz="1200" u="none" cap="none" strike="noStrike">
                <a:solidFill>
                  <a:srgbClr val="C9A66B"/>
                </a:solidFill>
                <a:latin typeface="Calibri"/>
                <a:ea typeface="Calibri"/>
                <a:cs typeface="Calibri"/>
                <a:sym typeface="Calibri"/>
              </a:rPr>
              <a:t>  ·  INCREASE REVENUE &amp; I</a:t>
            </a:r>
            <a:r>
              <a:rPr b="1" lang="en-GB" sz="1200">
                <a:solidFill>
                  <a:srgbClr val="C9A66B"/>
                </a:solidFill>
                <a:latin typeface="Calibri"/>
                <a:ea typeface="Calibri"/>
                <a:cs typeface="Calibri"/>
                <a:sym typeface="Calibri"/>
              </a:rPr>
              <a:t>MPROVE CUSTOMER EXPERIENCE</a:t>
            </a:r>
            <a:endParaRPr b="1" i="0" sz="1200" u="none" cap="none" strike="noStrike">
              <a:solidFill>
                <a:srgbClr val="000000"/>
              </a:solidFill>
              <a:latin typeface="Calibri"/>
              <a:ea typeface="Calibri"/>
              <a:cs typeface="Calibri"/>
              <a:sym typeface="Calibri"/>
            </a:endParaRPr>
          </a:p>
        </p:txBody>
      </p:sp>
      <p:grpSp>
        <p:nvGrpSpPr>
          <p:cNvPr id="129" name="Google Shape;129;p18"/>
          <p:cNvGrpSpPr/>
          <p:nvPr/>
        </p:nvGrpSpPr>
        <p:grpSpPr>
          <a:xfrm>
            <a:off x="3695053" y="1564099"/>
            <a:ext cx="1753908" cy="2856723"/>
            <a:chOff x="662653" y="1246525"/>
            <a:chExt cx="2259900" cy="3228300"/>
          </a:xfrm>
        </p:grpSpPr>
        <p:sp>
          <p:nvSpPr>
            <p:cNvPr id="130" name="Google Shape;130;p18"/>
            <p:cNvSpPr/>
            <p:nvPr/>
          </p:nvSpPr>
          <p:spPr>
            <a:xfrm>
              <a:off x="662653" y="1246525"/>
              <a:ext cx="2259900" cy="3228300"/>
            </a:xfrm>
            <a:prstGeom prst="roundRect">
              <a:avLst>
                <a:gd fmla="val 7143" name="adj"/>
              </a:avLst>
            </a:prstGeom>
            <a:solidFill>
              <a:srgbClr val="3B2417"/>
            </a:solidFill>
            <a:ln cap="flat" cmpd="sng" w="15850">
              <a:solidFill>
                <a:srgbClr val="D8C9B0"/>
              </a:solidFill>
              <a:prstDash val="solid"/>
              <a:round/>
              <a:headEnd len="sm" w="sm" type="none"/>
              <a:tailEnd len="sm" w="sm" type="none"/>
            </a:ln>
            <a:effectLst>
              <a:outerShdw blurRad="79347" rotWithShape="0" algn="bl" dir="5400000" dist="31739">
                <a:srgbClr val="3B2417">
                  <a:alpha val="30199"/>
                </a:srgbClr>
              </a:outerShdw>
            </a:effectLst>
          </p:spPr>
          <p:txBody>
            <a:bodyPr anchorCtr="0" anchor="ctr" bIns="57125" lIns="57125" spcFirstLastPara="1" rIns="57125" wrap="square" tIns="57125">
              <a:noAutofit/>
            </a:bodyPr>
            <a:lstStyle/>
            <a:p>
              <a:pPr indent="0" lvl="0" marL="0" rtl="0" algn="l">
                <a:spcBef>
                  <a:spcPts val="0"/>
                </a:spcBef>
                <a:spcAft>
                  <a:spcPts val="0"/>
                </a:spcAft>
                <a:buNone/>
              </a:pPr>
              <a:r>
                <a:t/>
              </a:r>
              <a:endParaRPr/>
            </a:p>
          </p:txBody>
        </p:sp>
        <p:sp>
          <p:nvSpPr>
            <p:cNvPr id="131" name="Google Shape;131;p18"/>
            <p:cNvSpPr/>
            <p:nvPr/>
          </p:nvSpPr>
          <p:spPr>
            <a:xfrm>
              <a:off x="759453" y="1472583"/>
              <a:ext cx="2066100" cy="2776200"/>
            </a:xfrm>
            <a:prstGeom prst="roundRect">
              <a:avLst>
                <a:gd fmla="val 3125" name="adj"/>
              </a:avLst>
            </a:prstGeom>
            <a:solidFill>
              <a:srgbClr val="FBF7F0"/>
            </a:solidFill>
            <a:ln>
              <a:noFill/>
            </a:ln>
          </p:spPr>
          <p:txBody>
            <a:bodyPr anchorCtr="0" anchor="ctr" bIns="57125" lIns="57125" spcFirstLastPara="1" rIns="57125" wrap="square" tIns="57125">
              <a:noAutofit/>
            </a:bodyPr>
            <a:lstStyle/>
            <a:p>
              <a:pPr indent="0" lvl="0" marL="0" rtl="0" algn="l">
                <a:spcBef>
                  <a:spcPts val="0"/>
                </a:spcBef>
                <a:spcAft>
                  <a:spcPts val="0"/>
                </a:spcAft>
                <a:buNone/>
              </a:pPr>
              <a:r>
                <a:t/>
              </a:r>
              <a:endParaRPr sz="1239"/>
            </a:p>
          </p:txBody>
        </p:sp>
        <p:sp>
          <p:nvSpPr>
            <p:cNvPr id="132" name="Google Shape;132;p18"/>
            <p:cNvSpPr/>
            <p:nvPr/>
          </p:nvSpPr>
          <p:spPr>
            <a:xfrm>
              <a:off x="856352" y="2619935"/>
              <a:ext cx="1872300" cy="193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41509"/>
                </a:buClr>
                <a:buSzPts val="656"/>
                <a:buFont typeface="Calibri"/>
                <a:buNone/>
              </a:pPr>
              <a:r>
                <a:rPr b="1" lang="en-GB" sz="1187">
                  <a:solidFill>
                    <a:srgbClr val="241509"/>
                  </a:solidFill>
                  <a:latin typeface="Caveat"/>
                  <a:ea typeface="Caveat"/>
                  <a:cs typeface="Caveat"/>
                  <a:sym typeface="Caveat"/>
                </a:rPr>
                <a:t>Welcome Back, </a:t>
              </a:r>
              <a:r>
                <a:rPr b="1" lang="en-GB" sz="1187">
                  <a:solidFill>
                    <a:srgbClr val="C9A66B"/>
                  </a:solidFill>
                  <a:latin typeface="Caveat"/>
                  <a:ea typeface="Caveat"/>
                  <a:cs typeface="Caveat"/>
                  <a:sym typeface="Caveat"/>
                </a:rPr>
                <a:t>Dion</a:t>
              </a:r>
              <a:r>
                <a:rPr b="1" lang="en-GB" sz="1187">
                  <a:solidFill>
                    <a:srgbClr val="241509"/>
                  </a:solidFill>
                  <a:latin typeface="Caveat"/>
                  <a:ea typeface="Caveat"/>
                  <a:cs typeface="Caveat"/>
                  <a:sym typeface="Caveat"/>
                </a:rPr>
                <a:t>!</a:t>
              </a:r>
              <a:endParaRPr i="0" sz="1187" u="none" cap="none" strike="noStrike">
                <a:solidFill>
                  <a:srgbClr val="000000"/>
                </a:solidFill>
                <a:latin typeface="Caveat"/>
                <a:ea typeface="Caveat"/>
                <a:cs typeface="Caveat"/>
                <a:sym typeface="Caveat"/>
              </a:endParaRPr>
            </a:p>
          </p:txBody>
        </p:sp>
        <p:sp>
          <p:nvSpPr>
            <p:cNvPr id="133" name="Google Shape;133;p18"/>
            <p:cNvSpPr/>
            <p:nvPr/>
          </p:nvSpPr>
          <p:spPr>
            <a:xfrm>
              <a:off x="856452" y="3117946"/>
              <a:ext cx="1872300" cy="142200"/>
            </a:xfrm>
            <a:prstGeom prst="roundRect">
              <a:avLst>
                <a:gd fmla="val 13636" name="adj"/>
              </a:avLst>
            </a:prstGeom>
            <a:solidFill>
              <a:srgbClr val="E4D8C4"/>
            </a:solidFill>
            <a:ln>
              <a:noFill/>
            </a:ln>
          </p:spPr>
          <p:txBody>
            <a:bodyPr anchorCtr="0" anchor="ctr" bIns="57125" lIns="57125" spcFirstLastPara="1" rIns="57125" wrap="square" tIns="57125">
              <a:noAutofit/>
            </a:bodyPr>
            <a:lstStyle/>
            <a:p>
              <a:pPr indent="0" lvl="0" marL="0" rtl="0" algn="l">
                <a:spcBef>
                  <a:spcPts val="0"/>
                </a:spcBef>
                <a:spcAft>
                  <a:spcPts val="0"/>
                </a:spcAft>
                <a:buNone/>
              </a:pPr>
              <a:r>
                <a:rPr lang="en-GB" sz="619">
                  <a:latin typeface="Proxima Nova"/>
                  <a:ea typeface="Proxima Nova"/>
                  <a:cs typeface="Proxima Nova"/>
                  <a:sym typeface="Proxima Nova"/>
                </a:rPr>
                <a:t>dionlong</a:t>
              </a:r>
              <a:endParaRPr sz="442">
                <a:latin typeface="Proxima Nova"/>
                <a:ea typeface="Proxima Nova"/>
                <a:cs typeface="Proxima Nova"/>
                <a:sym typeface="Proxima Nova"/>
              </a:endParaRPr>
            </a:p>
          </p:txBody>
        </p:sp>
        <p:sp>
          <p:nvSpPr>
            <p:cNvPr id="134" name="Google Shape;134;p18"/>
            <p:cNvSpPr/>
            <p:nvPr/>
          </p:nvSpPr>
          <p:spPr>
            <a:xfrm>
              <a:off x="856452" y="2917023"/>
              <a:ext cx="1872300" cy="19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09"/>
                </a:buClr>
                <a:buSzPts val="656"/>
                <a:buFont typeface="Calibri"/>
                <a:buNone/>
              </a:pPr>
              <a:r>
                <a:rPr b="1" lang="en-GB" sz="656">
                  <a:solidFill>
                    <a:srgbClr val="241509"/>
                  </a:solidFill>
                  <a:latin typeface="Calibri"/>
                  <a:ea typeface="Calibri"/>
                  <a:cs typeface="Calibri"/>
                  <a:sym typeface="Calibri"/>
                </a:rPr>
                <a:t>Member ID:</a:t>
              </a:r>
              <a:endParaRPr b="0" i="0" sz="656" u="none" cap="none" strike="noStrike">
                <a:solidFill>
                  <a:srgbClr val="000000"/>
                </a:solidFill>
                <a:latin typeface="Calibri"/>
                <a:ea typeface="Calibri"/>
                <a:cs typeface="Calibri"/>
                <a:sym typeface="Calibri"/>
              </a:endParaRPr>
            </a:p>
          </p:txBody>
        </p:sp>
        <p:pic>
          <p:nvPicPr>
            <p:cNvPr id="135" name="Google Shape;135;p18" title="logo.png"/>
            <p:cNvPicPr preferRelativeResize="0"/>
            <p:nvPr/>
          </p:nvPicPr>
          <p:blipFill>
            <a:blip r:embed="rId3">
              <a:alphaModFix/>
            </a:blip>
            <a:stretch>
              <a:fillRect/>
            </a:stretch>
          </p:blipFill>
          <p:spPr>
            <a:xfrm>
              <a:off x="1170450" y="1608125"/>
              <a:ext cx="1244321" cy="1112151"/>
            </a:xfrm>
            <a:prstGeom prst="rect">
              <a:avLst/>
            </a:prstGeom>
            <a:noFill/>
            <a:ln>
              <a:noFill/>
            </a:ln>
          </p:spPr>
        </p:pic>
        <p:sp>
          <p:nvSpPr>
            <p:cNvPr id="136" name="Google Shape;136;p18"/>
            <p:cNvSpPr/>
            <p:nvPr/>
          </p:nvSpPr>
          <p:spPr>
            <a:xfrm>
              <a:off x="856452" y="3284044"/>
              <a:ext cx="1872300" cy="19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09"/>
                </a:buClr>
                <a:buSzPts val="656"/>
                <a:buFont typeface="Calibri"/>
                <a:buNone/>
              </a:pPr>
              <a:r>
                <a:rPr b="1" lang="en-GB" sz="656">
                  <a:solidFill>
                    <a:srgbClr val="241509"/>
                  </a:solidFill>
                  <a:latin typeface="Calibri"/>
                  <a:ea typeface="Calibri"/>
                  <a:cs typeface="Calibri"/>
                  <a:sym typeface="Calibri"/>
                </a:rPr>
                <a:t>Password</a:t>
              </a:r>
              <a:r>
                <a:rPr b="1" lang="en-GB" sz="656">
                  <a:solidFill>
                    <a:srgbClr val="241509"/>
                  </a:solidFill>
                  <a:latin typeface="Calibri"/>
                  <a:ea typeface="Calibri"/>
                  <a:cs typeface="Calibri"/>
                  <a:sym typeface="Calibri"/>
                </a:rPr>
                <a:t>:</a:t>
              </a:r>
              <a:endParaRPr b="0" i="0" sz="656" u="none" cap="none" strike="noStrike">
                <a:solidFill>
                  <a:srgbClr val="000000"/>
                </a:solidFill>
                <a:latin typeface="Calibri"/>
                <a:ea typeface="Calibri"/>
                <a:cs typeface="Calibri"/>
                <a:sym typeface="Calibri"/>
              </a:endParaRPr>
            </a:p>
          </p:txBody>
        </p:sp>
        <p:sp>
          <p:nvSpPr>
            <p:cNvPr id="137" name="Google Shape;137;p18"/>
            <p:cNvSpPr/>
            <p:nvPr/>
          </p:nvSpPr>
          <p:spPr>
            <a:xfrm>
              <a:off x="856452" y="3479285"/>
              <a:ext cx="1872300" cy="142200"/>
            </a:xfrm>
            <a:prstGeom prst="roundRect">
              <a:avLst>
                <a:gd fmla="val 13636" name="adj"/>
              </a:avLst>
            </a:prstGeom>
            <a:solidFill>
              <a:srgbClr val="E4D8C4"/>
            </a:solidFill>
            <a:ln>
              <a:noFill/>
            </a:ln>
          </p:spPr>
          <p:txBody>
            <a:bodyPr anchorCtr="0" anchor="ctr" bIns="57125" lIns="57125" spcFirstLastPara="1" rIns="57125" wrap="square" tIns="57125">
              <a:noAutofit/>
            </a:bodyPr>
            <a:lstStyle/>
            <a:p>
              <a:pPr indent="0" lvl="0" marL="0" rtl="0" algn="l">
                <a:spcBef>
                  <a:spcPts val="0"/>
                </a:spcBef>
                <a:spcAft>
                  <a:spcPts val="0"/>
                </a:spcAft>
                <a:buNone/>
              </a:pPr>
              <a:r>
                <a:rPr lang="en-GB" sz="619"/>
                <a:t>**********</a:t>
              </a:r>
              <a:endParaRPr sz="619"/>
            </a:p>
          </p:txBody>
        </p:sp>
      </p:grpSp>
      <p:sp>
        <p:nvSpPr>
          <p:cNvPr id="138" name="Google Shape;138;p18"/>
          <p:cNvSpPr txBox="1"/>
          <p:nvPr/>
        </p:nvSpPr>
        <p:spPr>
          <a:xfrm>
            <a:off x="3835950" y="565650"/>
            <a:ext cx="1472100" cy="27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1200">
                <a:solidFill>
                  <a:srgbClr val="533F00"/>
                </a:solidFill>
                <a:latin typeface="Cambria"/>
                <a:ea typeface="Cambria"/>
                <a:cs typeface="Cambria"/>
                <a:sym typeface="Cambria"/>
              </a:rPr>
              <a:t>Introducing..</a:t>
            </a:r>
            <a:endParaRPr sz="1200">
              <a:solidFill>
                <a:srgbClr val="533F00"/>
              </a:solidFill>
              <a:latin typeface="Cambria"/>
              <a:ea typeface="Cambria"/>
              <a:cs typeface="Cambria"/>
              <a:sym typeface="Cambr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9"/>
          <p:cNvSpPr/>
          <p:nvPr/>
        </p:nvSpPr>
        <p:spPr>
          <a:xfrm>
            <a:off x="429430" y="177475"/>
            <a:ext cx="9144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66B"/>
              </a:buClr>
              <a:buSzPts val="1200"/>
              <a:buFont typeface="Calibri"/>
              <a:buNone/>
            </a:pPr>
            <a:r>
              <a:rPr b="1" lang="en-GB" sz="1200">
                <a:solidFill>
                  <a:srgbClr val="C9A66B"/>
                </a:solidFill>
                <a:latin typeface="Calibri"/>
                <a:ea typeface="Calibri"/>
                <a:cs typeface="Calibri"/>
                <a:sym typeface="Calibri"/>
              </a:rPr>
              <a:t>FEATURE </a:t>
            </a:r>
            <a:r>
              <a:rPr b="1" lang="en-GB" sz="1200">
                <a:solidFill>
                  <a:srgbClr val="C9A66B"/>
                </a:solidFill>
                <a:latin typeface="Calibri"/>
                <a:ea typeface="Calibri"/>
                <a:cs typeface="Calibri"/>
                <a:sym typeface="Calibri"/>
              </a:rPr>
              <a:t>1</a:t>
            </a:r>
            <a:r>
              <a:rPr b="1" i="0" lang="en-GB" sz="1200" u="none" cap="none" strike="noStrike">
                <a:solidFill>
                  <a:srgbClr val="C9A66B"/>
                </a:solidFill>
                <a:latin typeface="Calibri"/>
                <a:ea typeface="Calibri"/>
                <a:cs typeface="Calibri"/>
                <a:sym typeface="Calibri"/>
              </a:rPr>
              <a:t>  ·  </a:t>
            </a:r>
            <a:r>
              <a:rPr b="1" lang="en-GB" sz="1200">
                <a:solidFill>
                  <a:srgbClr val="C9A66B"/>
                </a:solidFill>
                <a:latin typeface="Calibri"/>
                <a:ea typeface="Calibri"/>
                <a:cs typeface="Calibri"/>
                <a:sym typeface="Calibri"/>
              </a:rPr>
              <a:t>ORDERING</a:t>
            </a:r>
            <a:endParaRPr b="1" i="0" sz="1200" u="none" cap="none" strike="noStrike">
              <a:solidFill>
                <a:srgbClr val="000000"/>
              </a:solidFill>
              <a:latin typeface="Calibri"/>
              <a:ea typeface="Calibri"/>
              <a:cs typeface="Calibri"/>
              <a:sym typeface="Calibri"/>
            </a:endParaRPr>
          </a:p>
        </p:txBody>
      </p:sp>
      <p:sp>
        <p:nvSpPr>
          <p:cNvPr id="144" name="Google Shape;144;p19"/>
          <p:cNvSpPr/>
          <p:nvPr/>
        </p:nvSpPr>
        <p:spPr>
          <a:xfrm>
            <a:off x="3449725" y="1156225"/>
            <a:ext cx="5067900" cy="422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4A3C"/>
              </a:buClr>
              <a:buSzPts val="1078"/>
              <a:buFont typeface="Calibri"/>
              <a:buNone/>
            </a:pPr>
            <a:r>
              <a:rPr b="0" i="1" lang="en-GB" sz="1078" u="none" cap="none" strike="noStrike">
                <a:solidFill>
                  <a:srgbClr val="5A4A3C"/>
                </a:solidFill>
                <a:latin typeface="Calibri"/>
                <a:ea typeface="Calibri"/>
                <a:cs typeface="Calibri"/>
                <a:sym typeface="Calibri"/>
              </a:rPr>
              <a:t>Unifies dine-in, pick-up, takeaway, and delivery into one ordering flow</a:t>
            </a:r>
            <a:r>
              <a:rPr i="1" lang="en-GB" sz="1078">
                <a:solidFill>
                  <a:srgbClr val="5A4A3C"/>
                </a:solidFill>
                <a:latin typeface="Calibri"/>
                <a:ea typeface="Calibri"/>
                <a:cs typeface="Calibri"/>
                <a:sym typeface="Calibri"/>
              </a:rPr>
              <a:t> with full control of what customers experience</a:t>
            </a:r>
            <a:endParaRPr b="0" i="0" sz="1078" u="none" cap="none" strike="noStrike">
              <a:solidFill>
                <a:srgbClr val="000000"/>
              </a:solidFill>
              <a:latin typeface="Calibri"/>
              <a:ea typeface="Calibri"/>
              <a:cs typeface="Calibri"/>
              <a:sym typeface="Calibri"/>
            </a:endParaRPr>
          </a:p>
        </p:txBody>
      </p:sp>
      <p:sp>
        <p:nvSpPr>
          <p:cNvPr id="145" name="Google Shape;145;p19"/>
          <p:cNvSpPr/>
          <p:nvPr/>
        </p:nvSpPr>
        <p:spPr>
          <a:xfrm>
            <a:off x="3462541" y="1710375"/>
            <a:ext cx="4589400" cy="211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2417"/>
              </a:buClr>
              <a:buSzPts val="1039"/>
              <a:buFont typeface="Calibri"/>
              <a:buNone/>
            </a:pPr>
            <a:r>
              <a:rPr b="1" lang="en-GB" sz="1039">
                <a:solidFill>
                  <a:srgbClr val="3B2417"/>
                </a:solidFill>
                <a:latin typeface="Calibri"/>
                <a:ea typeface="Calibri"/>
                <a:cs typeface="Calibri"/>
                <a:sym typeface="Calibri"/>
              </a:rPr>
              <a:t>Combined M</a:t>
            </a:r>
            <a:r>
              <a:rPr b="1" i="0" lang="en-GB" sz="1039" u="none" cap="none" strike="noStrike">
                <a:solidFill>
                  <a:srgbClr val="3B2417"/>
                </a:solidFill>
                <a:latin typeface="Calibri"/>
                <a:ea typeface="Calibri"/>
                <a:cs typeface="Calibri"/>
                <a:sym typeface="Calibri"/>
              </a:rPr>
              <a:t>enu search</a:t>
            </a:r>
            <a:endParaRPr b="0" i="0" sz="1039" u="none" cap="none" strike="noStrike">
              <a:solidFill>
                <a:srgbClr val="000000"/>
              </a:solidFill>
              <a:latin typeface="Calibri"/>
              <a:ea typeface="Calibri"/>
              <a:cs typeface="Calibri"/>
              <a:sym typeface="Calibri"/>
            </a:endParaRPr>
          </a:p>
        </p:txBody>
      </p:sp>
      <p:sp>
        <p:nvSpPr>
          <p:cNvPr id="146" name="Google Shape;146;p19"/>
          <p:cNvSpPr/>
          <p:nvPr/>
        </p:nvSpPr>
        <p:spPr>
          <a:xfrm>
            <a:off x="3462541" y="1914500"/>
            <a:ext cx="4589400" cy="28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4A3C"/>
              </a:buClr>
              <a:buSzPts val="885"/>
              <a:buFont typeface="Calibri"/>
              <a:buNone/>
            </a:pPr>
            <a:r>
              <a:rPr b="0" i="0" lang="en-GB" sz="885" u="none" cap="none" strike="noStrike">
                <a:solidFill>
                  <a:srgbClr val="5A4A3C"/>
                </a:solidFill>
                <a:latin typeface="Calibri"/>
                <a:ea typeface="Calibri"/>
                <a:cs typeface="Calibri"/>
                <a:sym typeface="Calibri"/>
              </a:rPr>
              <a:t>One catalogue across caf</a:t>
            </a:r>
            <a:r>
              <a:rPr lang="en-GB" sz="885">
                <a:solidFill>
                  <a:srgbClr val="5A4A3C"/>
                </a:solidFill>
                <a:latin typeface="Calibri"/>
                <a:ea typeface="Calibri"/>
                <a:cs typeface="Calibri"/>
                <a:sym typeface="Calibri"/>
              </a:rPr>
              <a:t>e</a:t>
            </a:r>
            <a:r>
              <a:rPr b="0" i="0" lang="en-GB" sz="885" u="none" cap="none" strike="noStrike">
                <a:solidFill>
                  <a:srgbClr val="5A4A3C"/>
                </a:solidFill>
                <a:latin typeface="Calibri"/>
                <a:ea typeface="Calibri"/>
                <a:cs typeface="Calibri"/>
                <a:sym typeface="Calibri"/>
              </a:rPr>
              <a:t>, FMCG, and delivery items</a:t>
            </a:r>
            <a:endParaRPr b="0" i="0" sz="885" u="none" cap="none" strike="noStrike">
              <a:solidFill>
                <a:srgbClr val="000000"/>
              </a:solidFill>
              <a:latin typeface="Calibri"/>
              <a:ea typeface="Calibri"/>
              <a:cs typeface="Calibri"/>
              <a:sym typeface="Calibri"/>
            </a:endParaRPr>
          </a:p>
        </p:txBody>
      </p:sp>
      <p:sp>
        <p:nvSpPr>
          <p:cNvPr id="147" name="Google Shape;147;p19"/>
          <p:cNvSpPr/>
          <p:nvPr/>
        </p:nvSpPr>
        <p:spPr>
          <a:xfrm>
            <a:off x="3462541" y="2273480"/>
            <a:ext cx="4589400" cy="211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2417"/>
              </a:buClr>
              <a:buSzPts val="1039"/>
              <a:buFont typeface="Calibri"/>
              <a:buNone/>
            </a:pPr>
            <a:r>
              <a:rPr b="1" i="0" lang="en-GB" sz="1039" u="none" cap="none" strike="noStrike">
                <a:solidFill>
                  <a:srgbClr val="3B2417"/>
                </a:solidFill>
                <a:latin typeface="Calibri"/>
                <a:ea typeface="Calibri"/>
                <a:cs typeface="Calibri"/>
                <a:sym typeface="Calibri"/>
              </a:rPr>
              <a:t>In-app cart &amp; checkout</a:t>
            </a:r>
            <a:endParaRPr b="0" i="0" sz="1039" u="none" cap="none" strike="noStrike">
              <a:solidFill>
                <a:srgbClr val="000000"/>
              </a:solidFill>
              <a:latin typeface="Calibri"/>
              <a:ea typeface="Calibri"/>
              <a:cs typeface="Calibri"/>
              <a:sym typeface="Calibri"/>
            </a:endParaRPr>
          </a:p>
        </p:txBody>
      </p:sp>
      <p:sp>
        <p:nvSpPr>
          <p:cNvPr id="148" name="Google Shape;148;p19"/>
          <p:cNvSpPr/>
          <p:nvPr/>
        </p:nvSpPr>
        <p:spPr>
          <a:xfrm>
            <a:off x="3462541" y="2477606"/>
            <a:ext cx="4589400" cy="28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4A3C"/>
              </a:buClr>
              <a:buSzPts val="885"/>
              <a:buFont typeface="Calibri"/>
              <a:buNone/>
            </a:pPr>
            <a:r>
              <a:rPr b="0" i="0" lang="en-GB" sz="885" u="none" cap="none" strike="noStrike">
                <a:solidFill>
                  <a:srgbClr val="5A4A3C"/>
                </a:solidFill>
                <a:latin typeface="Calibri"/>
                <a:ea typeface="Calibri"/>
                <a:cs typeface="Calibri"/>
                <a:sym typeface="Calibri"/>
              </a:rPr>
              <a:t>Replaces counter payment</a:t>
            </a:r>
            <a:r>
              <a:rPr lang="en-GB" sz="885">
                <a:solidFill>
                  <a:srgbClr val="5A4A3C"/>
                </a:solidFill>
                <a:latin typeface="Calibri"/>
                <a:ea typeface="Calibri"/>
                <a:cs typeface="Calibri"/>
                <a:sym typeface="Calibri"/>
              </a:rPr>
              <a:t>,</a:t>
            </a:r>
            <a:r>
              <a:rPr b="0" i="0" lang="en-GB" sz="885" u="none" cap="none" strike="noStrike">
                <a:solidFill>
                  <a:srgbClr val="5A4A3C"/>
                </a:solidFill>
                <a:latin typeface="Calibri"/>
                <a:ea typeface="Calibri"/>
                <a:cs typeface="Calibri"/>
                <a:sym typeface="Calibri"/>
              </a:rPr>
              <a:t> every order becomes owned data</a:t>
            </a:r>
            <a:endParaRPr b="0" i="0" sz="885" u="none" cap="none" strike="noStrike">
              <a:solidFill>
                <a:srgbClr val="000000"/>
              </a:solidFill>
              <a:latin typeface="Calibri"/>
              <a:ea typeface="Calibri"/>
              <a:cs typeface="Calibri"/>
              <a:sym typeface="Calibri"/>
            </a:endParaRPr>
          </a:p>
        </p:txBody>
      </p:sp>
      <p:sp>
        <p:nvSpPr>
          <p:cNvPr id="149" name="Google Shape;149;p19"/>
          <p:cNvSpPr/>
          <p:nvPr/>
        </p:nvSpPr>
        <p:spPr>
          <a:xfrm>
            <a:off x="3462541" y="2836585"/>
            <a:ext cx="4589400" cy="211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2417"/>
              </a:buClr>
              <a:buSzPts val="1039"/>
              <a:buFont typeface="Calibri"/>
              <a:buNone/>
            </a:pPr>
            <a:r>
              <a:rPr b="1" lang="en-GB" sz="1039">
                <a:solidFill>
                  <a:srgbClr val="3B2417"/>
                </a:solidFill>
                <a:latin typeface="Calibri"/>
                <a:ea typeface="Calibri"/>
                <a:cs typeface="Calibri"/>
                <a:sym typeface="Calibri"/>
              </a:rPr>
              <a:t>In-app promotions &amp; marketing</a:t>
            </a:r>
            <a:endParaRPr b="0" i="0" sz="1039" u="none" cap="none" strike="noStrike">
              <a:solidFill>
                <a:srgbClr val="000000"/>
              </a:solidFill>
              <a:latin typeface="Calibri"/>
              <a:ea typeface="Calibri"/>
              <a:cs typeface="Calibri"/>
              <a:sym typeface="Calibri"/>
            </a:endParaRPr>
          </a:p>
        </p:txBody>
      </p:sp>
      <p:sp>
        <p:nvSpPr>
          <p:cNvPr id="150" name="Google Shape;150;p19"/>
          <p:cNvSpPr/>
          <p:nvPr/>
        </p:nvSpPr>
        <p:spPr>
          <a:xfrm>
            <a:off x="3462541" y="3040711"/>
            <a:ext cx="4589400" cy="28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4A3C"/>
              </a:buClr>
              <a:buSzPts val="885"/>
              <a:buFont typeface="Calibri"/>
              <a:buNone/>
            </a:pPr>
            <a:r>
              <a:rPr lang="en-GB" sz="885">
                <a:solidFill>
                  <a:srgbClr val="5A4A3C"/>
                </a:solidFill>
                <a:latin typeface="Calibri"/>
                <a:ea typeface="Calibri"/>
                <a:cs typeface="Calibri"/>
                <a:sym typeface="Calibri"/>
              </a:rPr>
              <a:t>Personalised discounts (e.g. welcome back discount, rainy day discount, “We miss you” discounts), market new products</a:t>
            </a:r>
            <a:endParaRPr b="0" i="0" sz="885" u="none" cap="none" strike="noStrike">
              <a:solidFill>
                <a:srgbClr val="000000"/>
              </a:solidFill>
              <a:latin typeface="Calibri"/>
              <a:ea typeface="Calibri"/>
              <a:cs typeface="Calibri"/>
              <a:sym typeface="Calibri"/>
            </a:endParaRPr>
          </a:p>
        </p:txBody>
      </p:sp>
      <p:sp>
        <p:nvSpPr>
          <p:cNvPr id="151" name="Google Shape;151;p19"/>
          <p:cNvSpPr/>
          <p:nvPr/>
        </p:nvSpPr>
        <p:spPr>
          <a:xfrm>
            <a:off x="3462541" y="3399690"/>
            <a:ext cx="4589400" cy="211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2417"/>
              </a:buClr>
              <a:buSzPts val="1039"/>
              <a:buFont typeface="Calibri"/>
              <a:buNone/>
            </a:pPr>
            <a:r>
              <a:rPr b="1" i="0" lang="en-GB" sz="1039" u="none" cap="none" strike="noStrike">
                <a:solidFill>
                  <a:srgbClr val="3B2417"/>
                </a:solidFill>
                <a:latin typeface="Calibri"/>
                <a:ea typeface="Calibri"/>
                <a:cs typeface="Calibri"/>
                <a:sym typeface="Calibri"/>
              </a:rPr>
              <a:t>Order history feeds AI</a:t>
            </a:r>
            <a:endParaRPr b="0" i="0" sz="1039" u="none" cap="none" strike="noStrike">
              <a:solidFill>
                <a:srgbClr val="000000"/>
              </a:solidFill>
              <a:latin typeface="Calibri"/>
              <a:ea typeface="Calibri"/>
              <a:cs typeface="Calibri"/>
              <a:sym typeface="Calibri"/>
            </a:endParaRPr>
          </a:p>
        </p:txBody>
      </p:sp>
      <p:sp>
        <p:nvSpPr>
          <p:cNvPr id="152" name="Google Shape;152;p19"/>
          <p:cNvSpPr/>
          <p:nvPr/>
        </p:nvSpPr>
        <p:spPr>
          <a:xfrm>
            <a:off x="3462541" y="3603816"/>
            <a:ext cx="4589400" cy="28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4A3C"/>
              </a:buClr>
              <a:buSzPts val="885"/>
              <a:buFont typeface="Calibri"/>
              <a:buNone/>
            </a:pPr>
            <a:r>
              <a:rPr b="0" i="0" lang="en-GB" sz="885" u="none" cap="none" strike="noStrike">
                <a:solidFill>
                  <a:srgbClr val="5A4A3C"/>
                </a:solidFill>
                <a:latin typeface="Calibri"/>
                <a:ea typeface="Calibri"/>
                <a:cs typeface="Calibri"/>
                <a:sym typeface="Calibri"/>
              </a:rPr>
              <a:t>Purchase pattern</a:t>
            </a:r>
            <a:r>
              <a:rPr lang="en-GB" sz="885">
                <a:solidFill>
                  <a:srgbClr val="5A4A3C"/>
                </a:solidFill>
                <a:latin typeface="Calibri"/>
                <a:ea typeface="Calibri"/>
                <a:cs typeface="Calibri"/>
                <a:sym typeface="Calibri"/>
              </a:rPr>
              <a:t> data for </a:t>
            </a:r>
            <a:r>
              <a:rPr b="0" i="0" lang="en-GB" sz="885" u="none" cap="none" strike="noStrike">
                <a:solidFill>
                  <a:srgbClr val="5A4A3C"/>
                </a:solidFill>
                <a:latin typeface="Calibri"/>
                <a:ea typeface="Calibri"/>
                <a:cs typeface="Calibri"/>
                <a:sym typeface="Calibri"/>
              </a:rPr>
              <a:t>upselling </a:t>
            </a:r>
            <a:r>
              <a:rPr lang="en-GB" sz="885">
                <a:solidFill>
                  <a:srgbClr val="5A4A3C"/>
                </a:solidFill>
                <a:latin typeface="Calibri"/>
                <a:ea typeface="Calibri"/>
                <a:cs typeface="Calibri"/>
                <a:sym typeface="Calibri"/>
              </a:rPr>
              <a:t>(personalised recommendations)</a:t>
            </a:r>
            <a:endParaRPr b="0" i="0" sz="885" u="none" cap="none" strike="noStrike">
              <a:solidFill>
                <a:srgbClr val="000000"/>
              </a:solidFill>
              <a:latin typeface="Calibri"/>
              <a:ea typeface="Calibri"/>
              <a:cs typeface="Calibri"/>
              <a:sym typeface="Calibri"/>
            </a:endParaRPr>
          </a:p>
        </p:txBody>
      </p:sp>
      <p:sp>
        <p:nvSpPr>
          <p:cNvPr id="153" name="Google Shape;153;p19"/>
          <p:cNvSpPr/>
          <p:nvPr/>
        </p:nvSpPr>
        <p:spPr>
          <a:xfrm>
            <a:off x="3449725" y="4112528"/>
            <a:ext cx="5067900" cy="387000"/>
          </a:xfrm>
          <a:prstGeom prst="roundRect">
            <a:avLst>
              <a:gd fmla="val 10909" name="adj"/>
            </a:avLst>
          </a:prstGeom>
          <a:solidFill>
            <a:srgbClr val="F3E4DA"/>
          </a:solidFill>
          <a:ln>
            <a:noFill/>
          </a:ln>
        </p:spPr>
        <p:txBody>
          <a:bodyPr anchorCtr="0" anchor="ctr" bIns="70375" lIns="70375" spcFirstLastPara="1" rIns="70375" wrap="square" tIns="70375">
            <a:noAutofit/>
          </a:bodyPr>
          <a:lstStyle/>
          <a:p>
            <a:pPr indent="0" lvl="0" marL="0" rtl="0" algn="l">
              <a:spcBef>
                <a:spcPts val="0"/>
              </a:spcBef>
              <a:spcAft>
                <a:spcPts val="0"/>
              </a:spcAft>
              <a:buNone/>
            </a:pPr>
            <a:r>
              <a:t/>
            </a:r>
            <a:endParaRPr/>
          </a:p>
        </p:txBody>
      </p:sp>
      <p:sp>
        <p:nvSpPr>
          <p:cNvPr id="154" name="Google Shape;154;p19"/>
          <p:cNvSpPr/>
          <p:nvPr/>
        </p:nvSpPr>
        <p:spPr>
          <a:xfrm>
            <a:off x="3590500" y="4112528"/>
            <a:ext cx="4786200" cy="38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52F"/>
              </a:buClr>
              <a:buSzPts val="847"/>
              <a:buFont typeface="Calibri"/>
              <a:buNone/>
            </a:pPr>
            <a:r>
              <a:rPr b="0" i="1" lang="en-GB" sz="847" u="none" cap="none" strike="noStrike">
                <a:solidFill>
                  <a:srgbClr val="B4552F"/>
                </a:solidFill>
                <a:latin typeface="Calibri"/>
                <a:ea typeface="Calibri"/>
                <a:cs typeface="Calibri"/>
                <a:sym typeface="Calibri"/>
              </a:rPr>
              <a:t>Replaces: TabSquare </a:t>
            </a:r>
            <a:r>
              <a:rPr i="1" lang="en-GB" sz="847">
                <a:solidFill>
                  <a:srgbClr val="B4552F"/>
                </a:solidFill>
                <a:latin typeface="Calibri"/>
                <a:ea typeface="Calibri"/>
                <a:cs typeface="Calibri"/>
                <a:sym typeface="Calibri"/>
              </a:rPr>
              <a:t>reliance for</a:t>
            </a:r>
            <a:r>
              <a:rPr b="0" i="1" lang="en-GB" sz="847" u="none" cap="none" strike="noStrike">
                <a:solidFill>
                  <a:srgbClr val="B4552F"/>
                </a:solidFill>
                <a:latin typeface="Calibri"/>
                <a:ea typeface="Calibri"/>
                <a:cs typeface="Calibri"/>
                <a:sym typeface="Calibri"/>
              </a:rPr>
              <a:t> ordering + counter payment</a:t>
            </a:r>
            <a:endParaRPr b="0" i="1" sz="847" u="none" cap="none" strike="noStrike">
              <a:solidFill>
                <a:srgbClr val="B4552F"/>
              </a:solidFill>
              <a:latin typeface="Calibri"/>
              <a:ea typeface="Calibri"/>
              <a:cs typeface="Calibri"/>
              <a:sym typeface="Calibri"/>
            </a:endParaRPr>
          </a:p>
          <a:p>
            <a:pPr indent="0" lvl="0" marL="0" marR="0" rtl="0" algn="l">
              <a:spcBef>
                <a:spcPts val="0"/>
              </a:spcBef>
              <a:spcAft>
                <a:spcPts val="0"/>
              </a:spcAft>
              <a:buClr>
                <a:srgbClr val="B4552F"/>
              </a:buClr>
              <a:buSzPts val="847"/>
              <a:buFont typeface="Calibri"/>
              <a:buNone/>
            </a:pPr>
            <a:r>
              <a:rPr i="1" lang="en-GB" sz="847">
                <a:solidFill>
                  <a:srgbClr val="B4552F"/>
                </a:solidFill>
                <a:latin typeface="Calibri"/>
                <a:ea typeface="Calibri"/>
                <a:cs typeface="Calibri"/>
                <a:sym typeface="Calibri"/>
              </a:rPr>
              <a:t>Promotes: User experience with convenience and upselling </a:t>
            </a:r>
            <a:r>
              <a:rPr i="1" lang="en-GB" sz="847">
                <a:solidFill>
                  <a:srgbClr val="B4552F"/>
                </a:solidFill>
                <a:latin typeface="Calibri"/>
                <a:ea typeface="Calibri"/>
                <a:cs typeface="Calibri"/>
                <a:sym typeface="Calibri"/>
              </a:rPr>
              <a:t>through personalised recommendations</a:t>
            </a:r>
            <a:endParaRPr i="1" sz="847">
              <a:solidFill>
                <a:srgbClr val="B4552F"/>
              </a:solidFill>
              <a:latin typeface="Calibri"/>
              <a:ea typeface="Calibri"/>
              <a:cs typeface="Calibri"/>
              <a:sym typeface="Calibri"/>
            </a:endParaRPr>
          </a:p>
        </p:txBody>
      </p:sp>
      <p:sp>
        <p:nvSpPr>
          <p:cNvPr id="155" name="Google Shape;155;p19"/>
          <p:cNvSpPr/>
          <p:nvPr/>
        </p:nvSpPr>
        <p:spPr>
          <a:xfrm>
            <a:off x="816550" y="1281975"/>
            <a:ext cx="1707000" cy="3062400"/>
          </a:xfrm>
          <a:prstGeom prst="roundRect">
            <a:avLst>
              <a:gd fmla="val 9333" name="adj"/>
            </a:avLst>
          </a:prstGeom>
          <a:solidFill>
            <a:srgbClr val="3B2417"/>
          </a:solidFill>
          <a:ln cap="flat" cmpd="sng" w="15475">
            <a:solidFill>
              <a:srgbClr val="C9A66B"/>
            </a:solidFill>
            <a:prstDash val="solid"/>
            <a:round/>
            <a:headEnd len="sm" w="sm" type="none"/>
            <a:tailEnd len="sm" w="sm" type="none"/>
          </a:ln>
          <a:effectLst>
            <a:outerShdw blurRad="92860" rotWithShape="0" algn="bl" dir="5400000" dist="38692">
              <a:srgbClr val="3B2417">
                <a:alpha val="34900"/>
              </a:srgbClr>
            </a:outerShdw>
          </a:effectLst>
        </p:spPr>
        <p:txBody>
          <a:bodyPr anchorCtr="0" anchor="ctr" bIns="55700" lIns="55700" spcFirstLastPara="1" rIns="55700" wrap="square" tIns="55700">
            <a:noAutofit/>
          </a:bodyPr>
          <a:lstStyle/>
          <a:p>
            <a:pPr indent="0" lvl="0" marL="0" rtl="0" algn="l">
              <a:spcBef>
                <a:spcPts val="0"/>
              </a:spcBef>
              <a:spcAft>
                <a:spcPts val="0"/>
              </a:spcAft>
              <a:buNone/>
            </a:pPr>
            <a:r>
              <a:t/>
            </a:r>
            <a:endParaRPr/>
          </a:p>
        </p:txBody>
      </p:sp>
      <p:sp>
        <p:nvSpPr>
          <p:cNvPr id="156" name="Google Shape;156;p19"/>
          <p:cNvSpPr/>
          <p:nvPr/>
        </p:nvSpPr>
        <p:spPr>
          <a:xfrm>
            <a:off x="894550" y="1504850"/>
            <a:ext cx="1555200" cy="2607600"/>
          </a:xfrm>
          <a:prstGeom prst="roundRect">
            <a:avLst>
              <a:gd fmla="val 4412" name="adj"/>
            </a:avLst>
          </a:prstGeom>
          <a:solidFill>
            <a:srgbClr val="FBF7F0"/>
          </a:solidFill>
          <a:ln>
            <a:noFill/>
          </a:ln>
        </p:spPr>
        <p:txBody>
          <a:bodyPr anchorCtr="0" anchor="ctr" bIns="55700" lIns="55700" spcFirstLastPara="1" rIns="55700" wrap="square" tIns="55700">
            <a:noAutofit/>
          </a:bodyPr>
          <a:lstStyle/>
          <a:p>
            <a:pPr indent="0" lvl="0" marL="0" rtl="0" algn="l">
              <a:spcBef>
                <a:spcPts val="0"/>
              </a:spcBef>
              <a:spcAft>
                <a:spcPts val="0"/>
              </a:spcAft>
              <a:buNone/>
            </a:pPr>
            <a:r>
              <a:t/>
            </a:r>
            <a:endParaRPr/>
          </a:p>
        </p:txBody>
      </p:sp>
      <p:sp>
        <p:nvSpPr>
          <p:cNvPr id="157" name="Google Shape;157;p19"/>
          <p:cNvSpPr/>
          <p:nvPr/>
        </p:nvSpPr>
        <p:spPr>
          <a:xfrm>
            <a:off x="1401570" y="1348834"/>
            <a:ext cx="501300" cy="72300"/>
          </a:xfrm>
          <a:prstGeom prst="roundRect">
            <a:avLst>
              <a:gd fmla="val 46154" name="adj"/>
            </a:avLst>
          </a:prstGeom>
          <a:solidFill>
            <a:srgbClr val="3B2417"/>
          </a:solidFill>
          <a:ln cap="flat" cmpd="sng" w="5800">
            <a:solidFill>
              <a:srgbClr val="5A4632"/>
            </a:solidFill>
            <a:prstDash val="solid"/>
            <a:round/>
            <a:headEnd len="sm" w="sm" type="none"/>
            <a:tailEnd len="sm" w="sm" type="none"/>
          </a:ln>
        </p:spPr>
        <p:txBody>
          <a:bodyPr anchorCtr="0" anchor="ctr" bIns="55700" lIns="55700" spcFirstLastPara="1" rIns="55700" wrap="square" tIns="55700">
            <a:noAutofit/>
          </a:bodyPr>
          <a:lstStyle/>
          <a:p>
            <a:pPr indent="0" lvl="0" marL="0" rtl="0" algn="l">
              <a:spcBef>
                <a:spcPts val="0"/>
              </a:spcBef>
              <a:spcAft>
                <a:spcPts val="0"/>
              </a:spcAft>
              <a:buNone/>
            </a:pPr>
            <a:r>
              <a:t/>
            </a:r>
            <a:endParaRPr/>
          </a:p>
        </p:txBody>
      </p:sp>
      <p:sp>
        <p:nvSpPr>
          <p:cNvPr id="158" name="Google Shape;158;p19"/>
          <p:cNvSpPr/>
          <p:nvPr/>
        </p:nvSpPr>
        <p:spPr>
          <a:xfrm>
            <a:off x="1457286" y="4140213"/>
            <a:ext cx="390000" cy="33600"/>
          </a:xfrm>
          <a:prstGeom prst="roundRect">
            <a:avLst>
              <a:gd fmla="val 50000" name="adj"/>
            </a:avLst>
          </a:prstGeom>
          <a:solidFill>
            <a:srgbClr val="5A4632"/>
          </a:solidFill>
          <a:ln>
            <a:noFill/>
          </a:ln>
        </p:spPr>
        <p:txBody>
          <a:bodyPr anchorCtr="0" anchor="ctr" bIns="55700" lIns="55700" spcFirstLastPara="1" rIns="55700" wrap="square" tIns="55700">
            <a:noAutofit/>
          </a:bodyPr>
          <a:lstStyle/>
          <a:p>
            <a:pPr indent="0" lvl="0" marL="0" rtl="0" algn="l">
              <a:spcBef>
                <a:spcPts val="0"/>
              </a:spcBef>
              <a:spcAft>
                <a:spcPts val="0"/>
              </a:spcAft>
              <a:buNone/>
            </a:pPr>
            <a:r>
              <a:t/>
            </a:r>
            <a:endParaRPr/>
          </a:p>
        </p:txBody>
      </p:sp>
      <p:sp>
        <p:nvSpPr>
          <p:cNvPr id="159" name="Google Shape;159;p19"/>
          <p:cNvSpPr/>
          <p:nvPr/>
        </p:nvSpPr>
        <p:spPr>
          <a:xfrm>
            <a:off x="961412" y="1538269"/>
            <a:ext cx="445800" cy="12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09"/>
              </a:buClr>
              <a:buSzPts val="548"/>
              <a:buFont typeface="Calibri"/>
              <a:buNone/>
            </a:pPr>
            <a:r>
              <a:rPr b="1" i="0" lang="en-GB" sz="548" u="none" cap="none" strike="noStrike">
                <a:solidFill>
                  <a:srgbClr val="241509"/>
                </a:solidFill>
                <a:latin typeface="Calibri"/>
                <a:ea typeface="Calibri"/>
                <a:cs typeface="Calibri"/>
                <a:sym typeface="Calibri"/>
              </a:rPr>
              <a:t>9:41</a:t>
            </a:r>
            <a:endParaRPr b="0" i="0" sz="548" u="none" cap="none" strike="noStrike">
              <a:solidFill>
                <a:srgbClr val="000000"/>
              </a:solidFill>
              <a:latin typeface="Calibri"/>
              <a:ea typeface="Calibri"/>
              <a:cs typeface="Calibri"/>
              <a:sym typeface="Calibri"/>
            </a:endParaRPr>
          </a:p>
        </p:txBody>
      </p:sp>
      <p:sp>
        <p:nvSpPr>
          <p:cNvPr id="160" name="Google Shape;160;p19"/>
          <p:cNvSpPr/>
          <p:nvPr/>
        </p:nvSpPr>
        <p:spPr>
          <a:xfrm>
            <a:off x="2020019" y="1538269"/>
            <a:ext cx="334200" cy="1227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41509"/>
              </a:buClr>
              <a:buSzPts val="548"/>
              <a:buFont typeface="Calibri"/>
              <a:buNone/>
            </a:pPr>
            <a:r>
              <a:rPr b="1" i="0" lang="en-GB" sz="548" u="none" cap="none" strike="noStrike">
                <a:solidFill>
                  <a:srgbClr val="241509"/>
                </a:solidFill>
                <a:latin typeface="Calibri"/>
                <a:ea typeface="Calibri"/>
                <a:cs typeface="Calibri"/>
                <a:sym typeface="Calibri"/>
              </a:rPr>
              <a:t>100%</a:t>
            </a:r>
            <a:endParaRPr b="0" i="0" sz="548" u="none" cap="none" strike="noStrike">
              <a:solidFill>
                <a:srgbClr val="000000"/>
              </a:solidFill>
              <a:latin typeface="Calibri"/>
              <a:ea typeface="Calibri"/>
              <a:cs typeface="Calibri"/>
              <a:sym typeface="Calibri"/>
            </a:endParaRPr>
          </a:p>
        </p:txBody>
      </p:sp>
      <p:sp>
        <p:nvSpPr>
          <p:cNvPr id="161" name="Google Shape;161;p19"/>
          <p:cNvSpPr/>
          <p:nvPr/>
        </p:nvSpPr>
        <p:spPr>
          <a:xfrm>
            <a:off x="894553" y="1671988"/>
            <a:ext cx="1515600" cy="278700"/>
          </a:xfrm>
          <a:prstGeom prst="rect">
            <a:avLst/>
          </a:prstGeom>
          <a:solidFill>
            <a:srgbClr val="3B2417"/>
          </a:solidFill>
          <a:ln>
            <a:noFill/>
          </a:ln>
        </p:spPr>
        <p:txBody>
          <a:bodyPr anchorCtr="0" anchor="ctr" bIns="55700" lIns="55700" spcFirstLastPara="1" rIns="55700" wrap="square" tIns="55700">
            <a:noAutofit/>
          </a:bodyPr>
          <a:lstStyle/>
          <a:p>
            <a:pPr indent="0" lvl="0" marL="0" rtl="0" algn="l">
              <a:spcBef>
                <a:spcPts val="0"/>
              </a:spcBef>
              <a:spcAft>
                <a:spcPts val="0"/>
              </a:spcAft>
              <a:buNone/>
            </a:pPr>
            <a:r>
              <a:t/>
            </a:r>
            <a:endParaRPr/>
          </a:p>
        </p:txBody>
      </p:sp>
      <p:sp>
        <p:nvSpPr>
          <p:cNvPr id="162" name="Google Shape;162;p19"/>
          <p:cNvSpPr/>
          <p:nvPr/>
        </p:nvSpPr>
        <p:spPr>
          <a:xfrm>
            <a:off x="894428" y="1677648"/>
            <a:ext cx="1515600" cy="27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23"/>
              <a:buFont typeface="Cambria"/>
              <a:buNone/>
            </a:pPr>
            <a:r>
              <a:rPr b="1" i="0" lang="en-GB" sz="823" u="none" cap="none" strike="noStrike">
                <a:solidFill>
                  <a:srgbClr val="FFFFFF"/>
                </a:solidFill>
                <a:latin typeface="Cambria"/>
                <a:ea typeface="Cambria"/>
                <a:cs typeface="Cambria"/>
                <a:sym typeface="Cambria"/>
              </a:rPr>
              <a:t>Menu</a:t>
            </a:r>
            <a:endParaRPr b="0" i="0" sz="823" u="none" cap="none" strike="noStrike">
              <a:solidFill>
                <a:srgbClr val="000000"/>
              </a:solidFill>
              <a:latin typeface="Calibri"/>
              <a:ea typeface="Calibri"/>
              <a:cs typeface="Calibri"/>
              <a:sym typeface="Calibri"/>
            </a:endParaRPr>
          </a:p>
        </p:txBody>
      </p:sp>
      <p:sp>
        <p:nvSpPr>
          <p:cNvPr id="163" name="Google Shape;163;p19"/>
          <p:cNvSpPr/>
          <p:nvPr/>
        </p:nvSpPr>
        <p:spPr>
          <a:xfrm>
            <a:off x="978127" y="2017428"/>
            <a:ext cx="1348200" cy="189300"/>
          </a:xfrm>
          <a:prstGeom prst="roundRect">
            <a:avLst>
              <a:gd fmla="val 50000" name="adj"/>
            </a:avLst>
          </a:prstGeom>
          <a:solidFill>
            <a:srgbClr val="F0E8DA"/>
          </a:solidFill>
          <a:ln>
            <a:noFill/>
          </a:ln>
        </p:spPr>
        <p:txBody>
          <a:bodyPr anchorCtr="0" anchor="ctr" bIns="55700" lIns="55700" spcFirstLastPara="1" rIns="55700" wrap="square" tIns="55700">
            <a:noAutofit/>
          </a:bodyPr>
          <a:lstStyle/>
          <a:p>
            <a:pPr indent="0" lvl="0" marL="0" rtl="0" algn="l">
              <a:spcBef>
                <a:spcPts val="0"/>
              </a:spcBef>
              <a:spcAft>
                <a:spcPts val="0"/>
              </a:spcAft>
              <a:buNone/>
            </a:pPr>
            <a:r>
              <a:t/>
            </a:r>
            <a:endParaRPr/>
          </a:p>
        </p:txBody>
      </p:sp>
      <p:sp>
        <p:nvSpPr>
          <p:cNvPr id="164" name="Google Shape;164;p19"/>
          <p:cNvSpPr/>
          <p:nvPr/>
        </p:nvSpPr>
        <p:spPr>
          <a:xfrm>
            <a:off x="1061708" y="2011991"/>
            <a:ext cx="1125600" cy="189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8B78"/>
              </a:buClr>
              <a:buSzPts val="548"/>
              <a:buFont typeface="Calibri"/>
              <a:buNone/>
            </a:pPr>
            <a:r>
              <a:rPr b="0" i="0" lang="en-GB" sz="548" u="none" cap="none" strike="noStrike">
                <a:solidFill>
                  <a:srgbClr val="9A8B78"/>
                </a:solidFill>
                <a:latin typeface="Calibri"/>
                <a:ea typeface="Calibri"/>
                <a:cs typeface="Calibri"/>
                <a:sym typeface="Calibri"/>
              </a:rPr>
              <a:t>Search menu...</a:t>
            </a:r>
            <a:endParaRPr b="0" i="0" sz="548" u="none" cap="none" strike="noStrike">
              <a:solidFill>
                <a:srgbClr val="000000"/>
              </a:solidFill>
              <a:latin typeface="Calibri"/>
              <a:ea typeface="Calibri"/>
              <a:cs typeface="Calibri"/>
              <a:sym typeface="Calibri"/>
            </a:endParaRPr>
          </a:p>
        </p:txBody>
      </p:sp>
      <p:sp>
        <p:nvSpPr>
          <p:cNvPr id="165" name="Google Shape;165;p19"/>
          <p:cNvSpPr/>
          <p:nvPr/>
        </p:nvSpPr>
        <p:spPr>
          <a:xfrm>
            <a:off x="978127" y="2262579"/>
            <a:ext cx="345600" cy="156000"/>
          </a:xfrm>
          <a:prstGeom prst="roundRect">
            <a:avLst>
              <a:gd fmla="val 50000" name="adj"/>
            </a:avLst>
          </a:prstGeom>
          <a:solidFill>
            <a:srgbClr val="B4552F"/>
          </a:solidFill>
          <a:ln>
            <a:noFill/>
          </a:ln>
        </p:spPr>
        <p:txBody>
          <a:bodyPr anchorCtr="0" anchor="ctr" bIns="55700" lIns="55700" spcFirstLastPara="1" rIns="55700" wrap="square" tIns="55700">
            <a:noAutofit/>
          </a:bodyPr>
          <a:lstStyle/>
          <a:p>
            <a:pPr indent="0" lvl="0" marL="0" rtl="0" algn="l">
              <a:spcBef>
                <a:spcPts val="0"/>
              </a:spcBef>
              <a:spcAft>
                <a:spcPts val="0"/>
              </a:spcAft>
              <a:buNone/>
            </a:pPr>
            <a:r>
              <a:t/>
            </a:r>
            <a:endParaRPr/>
          </a:p>
        </p:txBody>
      </p:sp>
      <p:sp>
        <p:nvSpPr>
          <p:cNvPr id="166" name="Google Shape;166;p19"/>
          <p:cNvSpPr/>
          <p:nvPr/>
        </p:nvSpPr>
        <p:spPr>
          <a:xfrm>
            <a:off x="978127" y="2262579"/>
            <a:ext cx="345600" cy="15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87"/>
              <a:buFont typeface="Calibri"/>
              <a:buNone/>
            </a:pPr>
            <a:r>
              <a:rPr b="1" i="0" lang="en-GB" sz="487" u="none" cap="none" strike="noStrike">
                <a:solidFill>
                  <a:srgbClr val="FFFFFF"/>
                </a:solidFill>
                <a:latin typeface="Calibri"/>
                <a:ea typeface="Calibri"/>
                <a:cs typeface="Calibri"/>
                <a:sym typeface="Calibri"/>
              </a:rPr>
              <a:t>All</a:t>
            </a:r>
            <a:endParaRPr b="0" i="0" sz="487" u="none" cap="none" strike="noStrike">
              <a:solidFill>
                <a:srgbClr val="000000"/>
              </a:solidFill>
              <a:latin typeface="Calibri"/>
              <a:ea typeface="Calibri"/>
              <a:cs typeface="Calibri"/>
              <a:sym typeface="Calibri"/>
            </a:endParaRPr>
          </a:p>
        </p:txBody>
      </p:sp>
      <p:sp>
        <p:nvSpPr>
          <p:cNvPr id="167" name="Google Shape;167;p19"/>
          <p:cNvSpPr/>
          <p:nvPr/>
        </p:nvSpPr>
        <p:spPr>
          <a:xfrm>
            <a:off x="1368140" y="2262579"/>
            <a:ext cx="345600" cy="156000"/>
          </a:xfrm>
          <a:prstGeom prst="roundRect">
            <a:avLst>
              <a:gd fmla="val 50000" name="adj"/>
            </a:avLst>
          </a:prstGeom>
          <a:solidFill>
            <a:srgbClr val="F0E8DA"/>
          </a:solidFill>
          <a:ln>
            <a:noFill/>
          </a:ln>
        </p:spPr>
        <p:txBody>
          <a:bodyPr anchorCtr="0" anchor="ctr" bIns="55700" lIns="55700" spcFirstLastPara="1" rIns="55700" wrap="square" tIns="55700">
            <a:noAutofit/>
          </a:bodyPr>
          <a:lstStyle/>
          <a:p>
            <a:pPr indent="0" lvl="0" marL="0" rtl="0" algn="l">
              <a:spcBef>
                <a:spcPts val="0"/>
              </a:spcBef>
              <a:spcAft>
                <a:spcPts val="0"/>
              </a:spcAft>
              <a:buNone/>
            </a:pPr>
            <a:r>
              <a:t/>
            </a:r>
            <a:endParaRPr/>
          </a:p>
        </p:txBody>
      </p:sp>
      <p:sp>
        <p:nvSpPr>
          <p:cNvPr id="168" name="Google Shape;168;p19"/>
          <p:cNvSpPr/>
          <p:nvPr/>
        </p:nvSpPr>
        <p:spPr>
          <a:xfrm>
            <a:off x="1368140" y="2262579"/>
            <a:ext cx="345600" cy="15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4A3C"/>
              </a:buClr>
              <a:buSzPts val="487"/>
              <a:buFont typeface="Calibri"/>
              <a:buNone/>
            </a:pPr>
            <a:r>
              <a:rPr b="1" i="0" lang="en-GB" sz="487" u="none" cap="none" strike="noStrike">
                <a:solidFill>
                  <a:srgbClr val="5A4A3C"/>
                </a:solidFill>
                <a:latin typeface="Calibri"/>
                <a:ea typeface="Calibri"/>
                <a:cs typeface="Calibri"/>
                <a:sym typeface="Calibri"/>
              </a:rPr>
              <a:t>Coffee</a:t>
            </a:r>
            <a:endParaRPr b="0" i="0" sz="487" u="none" cap="none" strike="noStrike">
              <a:solidFill>
                <a:srgbClr val="000000"/>
              </a:solidFill>
              <a:latin typeface="Calibri"/>
              <a:ea typeface="Calibri"/>
              <a:cs typeface="Calibri"/>
              <a:sym typeface="Calibri"/>
            </a:endParaRPr>
          </a:p>
        </p:txBody>
      </p:sp>
      <p:sp>
        <p:nvSpPr>
          <p:cNvPr id="169" name="Google Shape;169;p19"/>
          <p:cNvSpPr/>
          <p:nvPr/>
        </p:nvSpPr>
        <p:spPr>
          <a:xfrm>
            <a:off x="1758153" y="2262579"/>
            <a:ext cx="345600" cy="156000"/>
          </a:xfrm>
          <a:prstGeom prst="roundRect">
            <a:avLst>
              <a:gd fmla="val 50000" name="adj"/>
            </a:avLst>
          </a:prstGeom>
          <a:solidFill>
            <a:srgbClr val="F0E8DA"/>
          </a:solidFill>
          <a:ln>
            <a:noFill/>
          </a:ln>
        </p:spPr>
        <p:txBody>
          <a:bodyPr anchorCtr="0" anchor="ctr" bIns="55700" lIns="55700" spcFirstLastPara="1" rIns="55700" wrap="square" tIns="55700">
            <a:noAutofit/>
          </a:bodyPr>
          <a:lstStyle/>
          <a:p>
            <a:pPr indent="0" lvl="0" marL="0" rtl="0" algn="l">
              <a:spcBef>
                <a:spcPts val="0"/>
              </a:spcBef>
              <a:spcAft>
                <a:spcPts val="0"/>
              </a:spcAft>
              <a:buNone/>
            </a:pPr>
            <a:r>
              <a:t/>
            </a:r>
            <a:endParaRPr/>
          </a:p>
        </p:txBody>
      </p:sp>
      <p:sp>
        <p:nvSpPr>
          <p:cNvPr id="170" name="Google Shape;170;p19"/>
          <p:cNvSpPr/>
          <p:nvPr/>
        </p:nvSpPr>
        <p:spPr>
          <a:xfrm>
            <a:off x="1758153" y="2262579"/>
            <a:ext cx="345600" cy="15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4A3C"/>
              </a:buClr>
              <a:buSzPts val="487"/>
              <a:buFont typeface="Calibri"/>
              <a:buNone/>
            </a:pPr>
            <a:r>
              <a:rPr b="1" i="0" lang="en-GB" sz="487" u="none" cap="none" strike="noStrike">
                <a:solidFill>
                  <a:srgbClr val="5A4A3C"/>
                </a:solidFill>
                <a:latin typeface="Calibri"/>
                <a:ea typeface="Calibri"/>
                <a:cs typeface="Calibri"/>
                <a:sym typeface="Calibri"/>
              </a:rPr>
              <a:t>Toast</a:t>
            </a:r>
            <a:endParaRPr b="0" i="0" sz="487" u="none" cap="none" strike="noStrike">
              <a:solidFill>
                <a:srgbClr val="000000"/>
              </a:solidFill>
              <a:latin typeface="Calibri"/>
              <a:ea typeface="Calibri"/>
              <a:cs typeface="Calibri"/>
              <a:sym typeface="Calibri"/>
            </a:endParaRPr>
          </a:p>
        </p:txBody>
      </p:sp>
      <p:sp>
        <p:nvSpPr>
          <p:cNvPr id="171" name="Google Shape;171;p19"/>
          <p:cNvSpPr/>
          <p:nvPr/>
        </p:nvSpPr>
        <p:spPr>
          <a:xfrm>
            <a:off x="978127" y="2496587"/>
            <a:ext cx="1348200" cy="401100"/>
          </a:xfrm>
          <a:prstGeom prst="roundRect">
            <a:avLst>
              <a:gd fmla="val 8333" name="adj"/>
            </a:avLst>
          </a:prstGeom>
          <a:solidFill>
            <a:srgbClr val="FFFFFF"/>
          </a:solidFill>
          <a:ln cap="flat" cmpd="sng" w="5800">
            <a:solidFill>
              <a:srgbClr val="E4D8C4"/>
            </a:solidFill>
            <a:prstDash val="solid"/>
            <a:round/>
            <a:headEnd len="sm" w="sm" type="none"/>
            <a:tailEnd len="sm" w="sm" type="none"/>
          </a:ln>
        </p:spPr>
        <p:txBody>
          <a:bodyPr anchorCtr="0" anchor="ctr" bIns="55700" lIns="55700" spcFirstLastPara="1" rIns="55700" wrap="square" tIns="55700">
            <a:noAutofit/>
          </a:bodyPr>
          <a:lstStyle/>
          <a:p>
            <a:pPr indent="0" lvl="0" marL="0" rtl="0" algn="l">
              <a:spcBef>
                <a:spcPts val="0"/>
              </a:spcBef>
              <a:spcAft>
                <a:spcPts val="0"/>
              </a:spcAft>
              <a:buNone/>
            </a:pPr>
            <a:r>
              <a:t/>
            </a:r>
            <a:endParaRPr/>
          </a:p>
        </p:txBody>
      </p:sp>
      <p:sp>
        <p:nvSpPr>
          <p:cNvPr id="172" name="Google Shape;172;p19"/>
          <p:cNvSpPr/>
          <p:nvPr/>
        </p:nvSpPr>
        <p:spPr>
          <a:xfrm>
            <a:off x="1028271" y="2552303"/>
            <a:ext cx="289800" cy="289800"/>
          </a:xfrm>
          <a:prstGeom prst="roundRect">
            <a:avLst>
              <a:gd fmla="val 15385" name="adj"/>
            </a:avLst>
          </a:prstGeom>
          <a:solidFill>
            <a:srgbClr val="C9A66B"/>
          </a:solidFill>
          <a:ln>
            <a:noFill/>
          </a:ln>
        </p:spPr>
        <p:txBody>
          <a:bodyPr anchorCtr="0" anchor="ctr" bIns="55700" lIns="55700" spcFirstLastPara="1" rIns="55700" wrap="square" tIns="55700">
            <a:noAutofit/>
          </a:bodyPr>
          <a:lstStyle/>
          <a:p>
            <a:pPr indent="0" lvl="0" marL="0" rtl="0" algn="l">
              <a:spcBef>
                <a:spcPts val="0"/>
              </a:spcBef>
              <a:spcAft>
                <a:spcPts val="0"/>
              </a:spcAft>
              <a:buNone/>
            </a:pPr>
            <a:r>
              <a:t/>
            </a:r>
            <a:endParaRPr/>
          </a:p>
        </p:txBody>
      </p:sp>
      <p:sp>
        <p:nvSpPr>
          <p:cNvPr descr="/home/claude/otwc_deck/icons/coffee.png" id="173" name="Google Shape;173;p19"/>
          <p:cNvSpPr/>
          <p:nvPr/>
        </p:nvSpPr>
        <p:spPr>
          <a:xfrm>
            <a:off x="1100702" y="2619162"/>
            <a:ext cx="144862" cy="144862"/>
          </a:xfrm>
          <a:prstGeom prst="rect">
            <a:avLst/>
          </a:prstGeom>
          <a:noFill/>
          <a:ln>
            <a:noFill/>
          </a:ln>
        </p:spPr>
      </p:sp>
      <p:sp>
        <p:nvSpPr>
          <p:cNvPr id="174" name="Google Shape;174;p19"/>
          <p:cNvSpPr/>
          <p:nvPr/>
        </p:nvSpPr>
        <p:spPr>
          <a:xfrm>
            <a:off x="1373712" y="2541160"/>
            <a:ext cx="679800" cy="16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09"/>
              </a:buClr>
              <a:buSzPts val="548"/>
              <a:buFont typeface="Calibri"/>
              <a:buNone/>
            </a:pPr>
            <a:r>
              <a:rPr b="1" i="0" lang="en-GB" sz="548" u="none" cap="none" strike="noStrike">
                <a:solidFill>
                  <a:srgbClr val="241509"/>
                </a:solidFill>
                <a:latin typeface="Calibri"/>
                <a:ea typeface="Calibri"/>
                <a:cs typeface="Calibri"/>
                <a:sym typeface="Calibri"/>
              </a:rPr>
              <a:t>Signature White Coffee</a:t>
            </a:r>
            <a:endParaRPr b="0" i="0" sz="548" u="none" cap="none" strike="noStrike">
              <a:solidFill>
                <a:srgbClr val="000000"/>
              </a:solidFill>
              <a:latin typeface="Calibri"/>
              <a:ea typeface="Calibri"/>
              <a:cs typeface="Calibri"/>
              <a:sym typeface="Calibri"/>
            </a:endParaRPr>
          </a:p>
        </p:txBody>
      </p:sp>
      <p:sp>
        <p:nvSpPr>
          <p:cNvPr id="175" name="Google Shape;175;p19"/>
          <p:cNvSpPr/>
          <p:nvPr/>
        </p:nvSpPr>
        <p:spPr>
          <a:xfrm>
            <a:off x="1373712" y="2697165"/>
            <a:ext cx="679800" cy="13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52F"/>
              </a:buClr>
              <a:buSzPts val="518"/>
              <a:buFont typeface="Calibri"/>
              <a:buNone/>
            </a:pPr>
            <a:r>
              <a:rPr b="1" lang="en-GB" sz="518">
                <a:solidFill>
                  <a:srgbClr val="B4552F"/>
                </a:solidFill>
                <a:latin typeface="Calibri"/>
                <a:ea typeface="Calibri"/>
                <a:cs typeface="Calibri"/>
                <a:sym typeface="Calibri"/>
              </a:rPr>
              <a:t>SGD</a:t>
            </a:r>
            <a:r>
              <a:rPr b="1" i="0" lang="en-GB" sz="518" u="none" cap="none" strike="noStrike">
                <a:solidFill>
                  <a:srgbClr val="B4552F"/>
                </a:solidFill>
                <a:latin typeface="Calibri"/>
                <a:ea typeface="Calibri"/>
                <a:cs typeface="Calibri"/>
                <a:sym typeface="Calibri"/>
              </a:rPr>
              <a:t> 4.50</a:t>
            </a:r>
            <a:endParaRPr b="0" i="0" sz="518" u="none" cap="none" strike="noStrike">
              <a:solidFill>
                <a:srgbClr val="000000"/>
              </a:solidFill>
              <a:latin typeface="Calibri"/>
              <a:ea typeface="Calibri"/>
              <a:cs typeface="Calibri"/>
              <a:sym typeface="Calibri"/>
            </a:endParaRPr>
          </a:p>
        </p:txBody>
      </p:sp>
      <p:sp>
        <p:nvSpPr>
          <p:cNvPr id="176" name="Google Shape;176;p19"/>
          <p:cNvSpPr/>
          <p:nvPr/>
        </p:nvSpPr>
        <p:spPr>
          <a:xfrm>
            <a:off x="2176024" y="2630306"/>
            <a:ext cx="133800" cy="133800"/>
          </a:xfrm>
          <a:prstGeom prst="ellipse">
            <a:avLst/>
          </a:prstGeom>
          <a:solidFill>
            <a:srgbClr val="B4552F"/>
          </a:solidFill>
          <a:ln>
            <a:noFill/>
          </a:ln>
        </p:spPr>
        <p:txBody>
          <a:bodyPr anchorCtr="0" anchor="ctr" bIns="55700" lIns="55700" spcFirstLastPara="1" rIns="55700" wrap="square" tIns="55700">
            <a:noAutofit/>
          </a:bodyPr>
          <a:lstStyle/>
          <a:p>
            <a:pPr indent="0" lvl="0" marL="0" rtl="0" algn="l">
              <a:spcBef>
                <a:spcPts val="0"/>
              </a:spcBef>
              <a:spcAft>
                <a:spcPts val="0"/>
              </a:spcAft>
              <a:buNone/>
            </a:pPr>
            <a:r>
              <a:t/>
            </a:r>
            <a:endParaRPr/>
          </a:p>
        </p:txBody>
      </p:sp>
      <p:sp>
        <p:nvSpPr>
          <p:cNvPr descr="/home/claude/otwc_deck/icons/plus.png" id="177" name="Google Shape;177;p19"/>
          <p:cNvSpPr/>
          <p:nvPr/>
        </p:nvSpPr>
        <p:spPr>
          <a:xfrm>
            <a:off x="2203882" y="2658164"/>
            <a:ext cx="78003" cy="78003"/>
          </a:xfrm>
          <a:prstGeom prst="rect">
            <a:avLst/>
          </a:prstGeom>
          <a:noFill/>
          <a:ln>
            <a:noFill/>
          </a:ln>
        </p:spPr>
      </p:sp>
      <p:sp>
        <p:nvSpPr>
          <p:cNvPr id="178" name="Google Shape;178;p19"/>
          <p:cNvSpPr/>
          <p:nvPr/>
        </p:nvSpPr>
        <p:spPr>
          <a:xfrm>
            <a:off x="978127" y="2953459"/>
            <a:ext cx="1348200" cy="401100"/>
          </a:xfrm>
          <a:prstGeom prst="roundRect">
            <a:avLst>
              <a:gd fmla="val 8333" name="adj"/>
            </a:avLst>
          </a:prstGeom>
          <a:solidFill>
            <a:srgbClr val="FFFFFF"/>
          </a:solidFill>
          <a:ln cap="flat" cmpd="sng" w="5800">
            <a:solidFill>
              <a:srgbClr val="E4D8C4"/>
            </a:solidFill>
            <a:prstDash val="solid"/>
            <a:round/>
            <a:headEnd len="sm" w="sm" type="none"/>
            <a:tailEnd len="sm" w="sm" type="none"/>
          </a:ln>
        </p:spPr>
        <p:txBody>
          <a:bodyPr anchorCtr="0" anchor="ctr" bIns="55700" lIns="55700" spcFirstLastPara="1" rIns="55700" wrap="square" tIns="55700">
            <a:noAutofit/>
          </a:bodyPr>
          <a:lstStyle/>
          <a:p>
            <a:pPr indent="0" lvl="0" marL="0" rtl="0" algn="l">
              <a:spcBef>
                <a:spcPts val="0"/>
              </a:spcBef>
              <a:spcAft>
                <a:spcPts val="0"/>
              </a:spcAft>
              <a:buNone/>
            </a:pPr>
            <a:r>
              <a:t/>
            </a:r>
            <a:endParaRPr/>
          </a:p>
        </p:txBody>
      </p:sp>
      <p:sp>
        <p:nvSpPr>
          <p:cNvPr id="179" name="Google Shape;179;p19"/>
          <p:cNvSpPr/>
          <p:nvPr/>
        </p:nvSpPr>
        <p:spPr>
          <a:xfrm>
            <a:off x="1028271" y="3009175"/>
            <a:ext cx="289800" cy="289800"/>
          </a:xfrm>
          <a:prstGeom prst="roundRect">
            <a:avLst>
              <a:gd fmla="val 15385" name="adj"/>
            </a:avLst>
          </a:prstGeom>
          <a:solidFill>
            <a:srgbClr val="C9A66B"/>
          </a:solidFill>
          <a:ln>
            <a:noFill/>
          </a:ln>
        </p:spPr>
        <p:txBody>
          <a:bodyPr anchorCtr="0" anchor="ctr" bIns="55700" lIns="55700" spcFirstLastPara="1" rIns="55700" wrap="square" tIns="55700">
            <a:noAutofit/>
          </a:bodyPr>
          <a:lstStyle/>
          <a:p>
            <a:pPr indent="0" lvl="0" marL="0" rtl="0" algn="l">
              <a:spcBef>
                <a:spcPts val="0"/>
              </a:spcBef>
              <a:spcAft>
                <a:spcPts val="0"/>
              </a:spcAft>
              <a:buNone/>
            </a:pPr>
            <a:r>
              <a:t/>
            </a:r>
            <a:endParaRPr/>
          </a:p>
        </p:txBody>
      </p:sp>
      <p:sp>
        <p:nvSpPr>
          <p:cNvPr descr="/home/claude/otwc_deck/icons/coffee.png" id="180" name="Google Shape;180;p19"/>
          <p:cNvSpPr/>
          <p:nvPr/>
        </p:nvSpPr>
        <p:spPr>
          <a:xfrm>
            <a:off x="1100702" y="3076035"/>
            <a:ext cx="144862" cy="144862"/>
          </a:xfrm>
          <a:prstGeom prst="rect">
            <a:avLst/>
          </a:prstGeom>
          <a:noFill/>
          <a:ln>
            <a:noFill/>
          </a:ln>
        </p:spPr>
      </p:sp>
      <p:sp>
        <p:nvSpPr>
          <p:cNvPr id="181" name="Google Shape;181;p19"/>
          <p:cNvSpPr/>
          <p:nvPr/>
        </p:nvSpPr>
        <p:spPr>
          <a:xfrm>
            <a:off x="1373712" y="2998032"/>
            <a:ext cx="679800" cy="16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09"/>
              </a:buClr>
              <a:buSzPts val="548"/>
              <a:buFont typeface="Calibri"/>
              <a:buNone/>
            </a:pPr>
            <a:r>
              <a:rPr b="1" i="0" lang="en-GB" sz="548" u="none" cap="none" strike="noStrike">
                <a:solidFill>
                  <a:srgbClr val="241509"/>
                </a:solidFill>
                <a:latin typeface="Calibri"/>
                <a:ea typeface="Calibri"/>
                <a:cs typeface="Calibri"/>
                <a:sym typeface="Calibri"/>
              </a:rPr>
              <a:t>Kaya Butter Toast Set</a:t>
            </a:r>
            <a:endParaRPr b="0" i="0" sz="548" u="none" cap="none" strike="noStrike">
              <a:solidFill>
                <a:srgbClr val="000000"/>
              </a:solidFill>
              <a:latin typeface="Calibri"/>
              <a:ea typeface="Calibri"/>
              <a:cs typeface="Calibri"/>
              <a:sym typeface="Calibri"/>
            </a:endParaRPr>
          </a:p>
        </p:txBody>
      </p:sp>
      <p:sp>
        <p:nvSpPr>
          <p:cNvPr id="182" name="Google Shape;182;p19"/>
          <p:cNvSpPr/>
          <p:nvPr/>
        </p:nvSpPr>
        <p:spPr>
          <a:xfrm>
            <a:off x="1373712" y="3154037"/>
            <a:ext cx="679800" cy="13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52F"/>
              </a:buClr>
              <a:buSzPts val="518"/>
              <a:buFont typeface="Calibri"/>
              <a:buNone/>
            </a:pPr>
            <a:r>
              <a:rPr b="1" lang="en-GB" sz="518">
                <a:solidFill>
                  <a:srgbClr val="B4552F"/>
                </a:solidFill>
                <a:latin typeface="Calibri"/>
                <a:ea typeface="Calibri"/>
                <a:cs typeface="Calibri"/>
                <a:sym typeface="Calibri"/>
              </a:rPr>
              <a:t>SGD </a:t>
            </a:r>
            <a:r>
              <a:rPr b="1" i="0" lang="en-GB" sz="518" u="none" cap="none" strike="noStrike">
                <a:solidFill>
                  <a:srgbClr val="B4552F"/>
                </a:solidFill>
                <a:latin typeface="Calibri"/>
                <a:ea typeface="Calibri"/>
                <a:cs typeface="Calibri"/>
                <a:sym typeface="Calibri"/>
              </a:rPr>
              <a:t>6.80</a:t>
            </a:r>
            <a:endParaRPr b="0" i="0" sz="518" u="none" cap="none" strike="noStrike">
              <a:solidFill>
                <a:srgbClr val="000000"/>
              </a:solidFill>
              <a:latin typeface="Calibri"/>
              <a:ea typeface="Calibri"/>
              <a:cs typeface="Calibri"/>
              <a:sym typeface="Calibri"/>
            </a:endParaRPr>
          </a:p>
        </p:txBody>
      </p:sp>
      <p:sp>
        <p:nvSpPr>
          <p:cNvPr id="183" name="Google Shape;183;p19"/>
          <p:cNvSpPr/>
          <p:nvPr/>
        </p:nvSpPr>
        <p:spPr>
          <a:xfrm>
            <a:off x="2176024" y="3087178"/>
            <a:ext cx="133800" cy="133800"/>
          </a:xfrm>
          <a:prstGeom prst="ellipse">
            <a:avLst/>
          </a:prstGeom>
          <a:solidFill>
            <a:srgbClr val="B4552F"/>
          </a:solidFill>
          <a:ln>
            <a:noFill/>
          </a:ln>
        </p:spPr>
        <p:txBody>
          <a:bodyPr anchorCtr="0" anchor="ctr" bIns="55700" lIns="55700" spcFirstLastPara="1" rIns="55700" wrap="square" tIns="55700">
            <a:noAutofit/>
          </a:bodyPr>
          <a:lstStyle/>
          <a:p>
            <a:pPr indent="0" lvl="0" marL="0" rtl="0" algn="l">
              <a:spcBef>
                <a:spcPts val="0"/>
              </a:spcBef>
              <a:spcAft>
                <a:spcPts val="0"/>
              </a:spcAft>
              <a:buNone/>
            </a:pPr>
            <a:r>
              <a:t/>
            </a:r>
            <a:endParaRPr/>
          </a:p>
        </p:txBody>
      </p:sp>
      <p:sp>
        <p:nvSpPr>
          <p:cNvPr descr="/home/claude/otwc_deck/icons/plus.png" id="184" name="Google Shape;184;p19"/>
          <p:cNvSpPr/>
          <p:nvPr/>
        </p:nvSpPr>
        <p:spPr>
          <a:xfrm>
            <a:off x="2203882" y="3115036"/>
            <a:ext cx="78003" cy="78003"/>
          </a:xfrm>
          <a:prstGeom prst="rect">
            <a:avLst/>
          </a:prstGeom>
          <a:noFill/>
          <a:ln>
            <a:noFill/>
          </a:ln>
        </p:spPr>
      </p:sp>
      <p:sp>
        <p:nvSpPr>
          <p:cNvPr id="185" name="Google Shape;185;p19"/>
          <p:cNvSpPr/>
          <p:nvPr/>
        </p:nvSpPr>
        <p:spPr>
          <a:xfrm>
            <a:off x="978127" y="3410332"/>
            <a:ext cx="1348200" cy="401100"/>
          </a:xfrm>
          <a:prstGeom prst="roundRect">
            <a:avLst>
              <a:gd fmla="val 8333" name="adj"/>
            </a:avLst>
          </a:prstGeom>
          <a:solidFill>
            <a:srgbClr val="FFFFFF"/>
          </a:solidFill>
          <a:ln cap="flat" cmpd="sng" w="5800">
            <a:solidFill>
              <a:srgbClr val="E4D8C4"/>
            </a:solidFill>
            <a:prstDash val="solid"/>
            <a:round/>
            <a:headEnd len="sm" w="sm" type="none"/>
            <a:tailEnd len="sm" w="sm" type="none"/>
          </a:ln>
        </p:spPr>
        <p:txBody>
          <a:bodyPr anchorCtr="0" anchor="ctr" bIns="55700" lIns="55700" spcFirstLastPara="1" rIns="55700" wrap="square" tIns="55700">
            <a:noAutofit/>
          </a:bodyPr>
          <a:lstStyle/>
          <a:p>
            <a:pPr indent="0" lvl="0" marL="0" rtl="0" algn="l">
              <a:spcBef>
                <a:spcPts val="0"/>
              </a:spcBef>
              <a:spcAft>
                <a:spcPts val="0"/>
              </a:spcAft>
              <a:buNone/>
            </a:pPr>
            <a:r>
              <a:t/>
            </a:r>
            <a:endParaRPr/>
          </a:p>
        </p:txBody>
      </p:sp>
      <p:sp>
        <p:nvSpPr>
          <p:cNvPr id="186" name="Google Shape;186;p19"/>
          <p:cNvSpPr/>
          <p:nvPr/>
        </p:nvSpPr>
        <p:spPr>
          <a:xfrm>
            <a:off x="1028271" y="3466048"/>
            <a:ext cx="289800" cy="289800"/>
          </a:xfrm>
          <a:prstGeom prst="roundRect">
            <a:avLst>
              <a:gd fmla="val 15385" name="adj"/>
            </a:avLst>
          </a:prstGeom>
          <a:solidFill>
            <a:srgbClr val="C9A66B"/>
          </a:solidFill>
          <a:ln>
            <a:noFill/>
          </a:ln>
        </p:spPr>
        <p:txBody>
          <a:bodyPr anchorCtr="0" anchor="ctr" bIns="55700" lIns="55700" spcFirstLastPara="1" rIns="55700" wrap="square" tIns="55700">
            <a:noAutofit/>
          </a:bodyPr>
          <a:lstStyle/>
          <a:p>
            <a:pPr indent="0" lvl="0" marL="0" rtl="0" algn="l">
              <a:spcBef>
                <a:spcPts val="0"/>
              </a:spcBef>
              <a:spcAft>
                <a:spcPts val="0"/>
              </a:spcAft>
              <a:buNone/>
            </a:pPr>
            <a:r>
              <a:t/>
            </a:r>
            <a:endParaRPr/>
          </a:p>
        </p:txBody>
      </p:sp>
      <p:sp>
        <p:nvSpPr>
          <p:cNvPr descr="/home/claude/otwc_deck/icons/coffee.png" id="187" name="Google Shape;187;p19"/>
          <p:cNvSpPr/>
          <p:nvPr/>
        </p:nvSpPr>
        <p:spPr>
          <a:xfrm>
            <a:off x="1100702" y="3532907"/>
            <a:ext cx="144862" cy="144862"/>
          </a:xfrm>
          <a:prstGeom prst="rect">
            <a:avLst/>
          </a:prstGeom>
          <a:noFill/>
          <a:ln>
            <a:noFill/>
          </a:ln>
        </p:spPr>
      </p:sp>
      <p:sp>
        <p:nvSpPr>
          <p:cNvPr id="188" name="Google Shape;188;p19"/>
          <p:cNvSpPr/>
          <p:nvPr/>
        </p:nvSpPr>
        <p:spPr>
          <a:xfrm>
            <a:off x="1373712" y="3454904"/>
            <a:ext cx="679800" cy="16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09"/>
              </a:buClr>
              <a:buSzPts val="548"/>
              <a:buFont typeface="Calibri"/>
              <a:buNone/>
            </a:pPr>
            <a:r>
              <a:rPr b="1" i="0" lang="en-GB" sz="548" u="none" cap="none" strike="noStrike">
                <a:solidFill>
                  <a:srgbClr val="241509"/>
                </a:solidFill>
                <a:latin typeface="Calibri"/>
                <a:ea typeface="Calibri"/>
                <a:cs typeface="Calibri"/>
                <a:sym typeface="Calibri"/>
              </a:rPr>
              <a:t>Iced Hazelnut Latte</a:t>
            </a:r>
            <a:endParaRPr b="0" i="0" sz="548" u="none" cap="none" strike="noStrike">
              <a:solidFill>
                <a:srgbClr val="000000"/>
              </a:solidFill>
              <a:latin typeface="Calibri"/>
              <a:ea typeface="Calibri"/>
              <a:cs typeface="Calibri"/>
              <a:sym typeface="Calibri"/>
            </a:endParaRPr>
          </a:p>
        </p:txBody>
      </p:sp>
      <p:sp>
        <p:nvSpPr>
          <p:cNvPr id="189" name="Google Shape;189;p19"/>
          <p:cNvSpPr/>
          <p:nvPr/>
        </p:nvSpPr>
        <p:spPr>
          <a:xfrm>
            <a:off x="1373712" y="3610910"/>
            <a:ext cx="679800" cy="13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52F"/>
              </a:buClr>
              <a:buSzPts val="518"/>
              <a:buFont typeface="Calibri"/>
              <a:buNone/>
            </a:pPr>
            <a:r>
              <a:rPr b="1" i="0" lang="en-GB" sz="518" u="none" cap="none" strike="noStrike">
                <a:solidFill>
                  <a:srgbClr val="B4552F"/>
                </a:solidFill>
                <a:latin typeface="Calibri"/>
                <a:ea typeface="Calibri"/>
                <a:cs typeface="Calibri"/>
                <a:sym typeface="Calibri"/>
              </a:rPr>
              <a:t>RM 6.20</a:t>
            </a:r>
            <a:endParaRPr b="0" i="0" sz="518" u="none" cap="none" strike="noStrike">
              <a:solidFill>
                <a:srgbClr val="000000"/>
              </a:solidFill>
              <a:latin typeface="Calibri"/>
              <a:ea typeface="Calibri"/>
              <a:cs typeface="Calibri"/>
              <a:sym typeface="Calibri"/>
            </a:endParaRPr>
          </a:p>
        </p:txBody>
      </p:sp>
      <p:sp>
        <p:nvSpPr>
          <p:cNvPr id="190" name="Google Shape;190;p19"/>
          <p:cNvSpPr/>
          <p:nvPr/>
        </p:nvSpPr>
        <p:spPr>
          <a:xfrm>
            <a:off x="2176024" y="3544050"/>
            <a:ext cx="133800" cy="133800"/>
          </a:xfrm>
          <a:prstGeom prst="ellipse">
            <a:avLst/>
          </a:prstGeom>
          <a:solidFill>
            <a:srgbClr val="B4552F"/>
          </a:solidFill>
          <a:ln>
            <a:noFill/>
          </a:ln>
        </p:spPr>
        <p:txBody>
          <a:bodyPr anchorCtr="0" anchor="ctr" bIns="55700" lIns="55700" spcFirstLastPara="1" rIns="55700" wrap="square" tIns="55700">
            <a:noAutofit/>
          </a:bodyPr>
          <a:lstStyle/>
          <a:p>
            <a:pPr indent="0" lvl="0" marL="0" rtl="0" algn="l">
              <a:spcBef>
                <a:spcPts val="0"/>
              </a:spcBef>
              <a:spcAft>
                <a:spcPts val="0"/>
              </a:spcAft>
              <a:buNone/>
            </a:pPr>
            <a:r>
              <a:t/>
            </a:r>
            <a:endParaRPr/>
          </a:p>
        </p:txBody>
      </p:sp>
      <p:sp>
        <p:nvSpPr>
          <p:cNvPr descr="/home/claude/otwc_deck/icons/plus.png" id="191" name="Google Shape;191;p19"/>
          <p:cNvSpPr/>
          <p:nvPr/>
        </p:nvSpPr>
        <p:spPr>
          <a:xfrm>
            <a:off x="2203882" y="3571908"/>
            <a:ext cx="78003" cy="78003"/>
          </a:xfrm>
          <a:prstGeom prst="rect">
            <a:avLst/>
          </a:prstGeom>
          <a:noFill/>
          <a:ln>
            <a:noFill/>
          </a:ln>
        </p:spPr>
      </p:sp>
      <p:sp>
        <p:nvSpPr>
          <p:cNvPr id="192" name="Google Shape;192;p19"/>
          <p:cNvSpPr/>
          <p:nvPr/>
        </p:nvSpPr>
        <p:spPr>
          <a:xfrm>
            <a:off x="978127" y="3471619"/>
            <a:ext cx="1348200" cy="234000"/>
          </a:xfrm>
          <a:prstGeom prst="roundRect">
            <a:avLst>
              <a:gd fmla="val 19048" name="adj"/>
            </a:avLst>
          </a:prstGeom>
          <a:solidFill>
            <a:srgbClr val="B4552F"/>
          </a:solidFill>
          <a:ln>
            <a:noFill/>
          </a:ln>
        </p:spPr>
        <p:txBody>
          <a:bodyPr anchorCtr="0" anchor="ctr" bIns="55700" lIns="55700" spcFirstLastPara="1" rIns="55700" wrap="square" tIns="55700">
            <a:noAutofit/>
          </a:bodyPr>
          <a:lstStyle/>
          <a:p>
            <a:pPr indent="0" lvl="0" marL="0" rtl="0" algn="l">
              <a:spcBef>
                <a:spcPts val="0"/>
              </a:spcBef>
              <a:spcAft>
                <a:spcPts val="0"/>
              </a:spcAft>
              <a:buNone/>
            </a:pPr>
            <a:r>
              <a:t/>
            </a:r>
            <a:endParaRPr/>
          </a:p>
        </p:txBody>
      </p:sp>
      <p:sp>
        <p:nvSpPr>
          <p:cNvPr id="193" name="Google Shape;193;p19"/>
          <p:cNvSpPr/>
          <p:nvPr/>
        </p:nvSpPr>
        <p:spPr>
          <a:xfrm>
            <a:off x="1061701" y="3471619"/>
            <a:ext cx="668700" cy="23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48"/>
              <a:buFont typeface="Calibri"/>
              <a:buNone/>
            </a:pPr>
            <a:r>
              <a:rPr b="0" i="0" lang="en-GB" sz="548" u="none" cap="none" strike="noStrike">
                <a:solidFill>
                  <a:srgbClr val="FFFFFF"/>
                </a:solidFill>
                <a:latin typeface="Calibri"/>
                <a:ea typeface="Calibri"/>
                <a:cs typeface="Calibri"/>
                <a:sym typeface="Calibri"/>
              </a:rPr>
              <a:t>3 items</a:t>
            </a:r>
            <a:endParaRPr b="0" i="0" sz="548" u="none" cap="none" strike="noStrike">
              <a:solidFill>
                <a:srgbClr val="000000"/>
              </a:solidFill>
              <a:latin typeface="Calibri"/>
              <a:ea typeface="Calibri"/>
              <a:cs typeface="Calibri"/>
              <a:sym typeface="Calibri"/>
            </a:endParaRPr>
          </a:p>
        </p:txBody>
      </p:sp>
      <p:sp>
        <p:nvSpPr>
          <p:cNvPr id="194" name="Google Shape;194;p19"/>
          <p:cNvSpPr/>
          <p:nvPr/>
        </p:nvSpPr>
        <p:spPr>
          <a:xfrm>
            <a:off x="1061701" y="3471619"/>
            <a:ext cx="1181100" cy="2340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548"/>
              <a:buFont typeface="Calibri"/>
              <a:buNone/>
            </a:pPr>
            <a:r>
              <a:rPr b="1" i="0" lang="en-GB" sz="548" u="none" cap="none" strike="noStrike">
                <a:solidFill>
                  <a:srgbClr val="FFFFFF"/>
                </a:solidFill>
                <a:latin typeface="Calibri"/>
                <a:ea typeface="Calibri"/>
                <a:cs typeface="Calibri"/>
                <a:sym typeface="Calibri"/>
              </a:rPr>
              <a:t>View Cart — </a:t>
            </a:r>
            <a:r>
              <a:rPr b="1" lang="en-GB" sz="548">
                <a:solidFill>
                  <a:srgbClr val="FFFFFF"/>
                </a:solidFill>
                <a:latin typeface="Calibri"/>
                <a:ea typeface="Calibri"/>
                <a:cs typeface="Calibri"/>
                <a:sym typeface="Calibri"/>
              </a:rPr>
              <a:t>SGD </a:t>
            </a:r>
            <a:r>
              <a:rPr b="1" i="0" lang="en-GB" sz="548" u="none" cap="none" strike="noStrike">
                <a:solidFill>
                  <a:srgbClr val="FFFFFF"/>
                </a:solidFill>
                <a:latin typeface="Calibri"/>
                <a:ea typeface="Calibri"/>
                <a:cs typeface="Calibri"/>
                <a:sym typeface="Calibri"/>
              </a:rPr>
              <a:t>15.50</a:t>
            </a:r>
            <a:endParaRPr b="0" i="0" sz="548" u="none" cap="none" strike="noStrike">
              <a:solidFill>
                <a:srgbClr val="000000"/>
              </a:solidFill>
              <a:latin typeface="Calibri"/>
              <a:ea typeface="Calibri"/>
              <a:cs typeface="Calibri"/>
              <a:sym typeface="Calibri"/>
            </a:endParaRPr>
          </a:p>
        </p:txBody>
      </p:sp>
      <p:sp>
        <p:nvSpPr>
          <p:cNvPr id="195" name="Google Shape;195;p19"/>
          <p:cNvSpPr/>
          <p:nvPr/>
        </p:nvSpPr>
        <p:spPr>
          <a:xfrm>
            <a:off x="894553" y="3778058"/>
            <a:ext cx="1515600" cy="306300"/>
          </a:xfrm>
          <a:prstGeom prst="rect">
            <a:avLst/>
          </a:prstGeom>
          <a:solidFill>
            <a:srgbClr val="FFFFFF"/>
          </a:solidFill>
          <a:ln cap="flat" cmpd="sng" w="5800">
            <a:solidFill>
              <a:srgbClr val="E4D8C4"/>
            </a:solidFill>
            <a:prstDash val="solid"/>
            <a:round/>
            <a:headEnd len="sm" w="sm" type="none"/>
            <a:tailEnd len="sm" w="sm" type="none"/>
          </a:ln>
        </p:spPr>
        <p:txBody>
          <a:bodyPr anchorCtr="0" anchor="ctr" bIns="55700" lIns="55700" spcFirstLastPara="1" rIns="55700" wrap="square" tIns="55700">
            <a:noAutofit/>
          </a:bodyPr>
          <a:lstStyle/>
          <a:p>
            <a:pPr indent="0" lvl="0" marL="0" rtl="0" algn="l">
              <a:spcBef>
                <a:spcPts val="0"/>
              </a:spcBef>
              <a:spcAft>
                <a:spcPts val="0"/>
              </a:spcAft>
              <a:buNone/>
            </a:pPr>
            <a:r>
              <a:t/>
            </a:r>
            <a:endParaRPr/>
          </a:p>
        </p:txBody>
      </p:sp>
      <p:sp>
        <p:nvSpPr>
          <p:cNvPr descr="/home/claude/otwc_deck/icons/home.png" id="196" name="Google Shape;196;p19"/>
          <p:cNvSpPr/>
          <p:nvPr/>
        </p:nvSpPr>
        <p:spPr>
          <a:xfrm>
            <a:off x="1011557" y="3811488"/>
            <a:ext cx="144862" cy="144862"/>
          </a:xfrm>
          <a:prstGeom prst="rect">
            <a:avLst/>
          </a:prstGeom>
          <a:noFill/>
          <a:ln>
            <a:noFill/>
          </a:ln>
        </p:spPr>
      </p:sp>
      <p:sp>
        <p:nvSpPr>
          <p:cNvPr id="197" name="Google Shape;197;p19"/>
          <p:cNvSpPr/>
          <p:nvPr/>
        </p:nvSpPr>
        <p:spPr>
          <a:xfrm>
            <a:off x="894553" y="3961921"/>
            <a:ext cx="378900" cy="1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4552F"/>
              </a:buClr>
              <a:buSzPts val="457"/>
              <a:buFont typeface="Calibri"/>
              <a:buNone/>
            </a:pPr>
            <a:r>
              <a:rPr b="1" i="0" lang="en-GB" sz="457" u="none" cap="none" strike="noStrike">
                <a:solidFill>
                  <a:srgbClr val="B4552F"/>
                </a:solidFill>
                <a:latin typeface="Calibri"/>
                <a:ea typeface="Calibri"/>
                <a:cs typeface="Calibri"/>
                <a:sym typeface="Calibri"/>
              </a:rPr>
              <a:t>Home</a:t>
            </a:r>
            <a:endParaRPr b="0" i="0" sz="457" u="none" cap="none" strike="noStrike">
              <a:solidFill>
                <a:srgbClr val="000000"/>
              </a:solidFill>
              <a:latin typeface="Calibri"/>
              <a:ea typeface="Calibri"/>
              <a:cs typeface="Calibri"/>
              <a:sym typeface="Calibri"/>
            </a:endParaRPr>
          </a:p>
        </p:txBody>
      </p:sp>
      <p:sp>
        <p:nvSpPr>
          <p:cNvPr descr="/home/claude/otwc_deck/icons/search.png" id="198" name="Google Shape;198;p19"/>
          <p:cNvSpPr/>
          <p:nvPr/>
        </p:nvSpPr>
        <p:spPr>
          <a:xfrm>
            <a:off x="1390426" y="3811488"/>
            <a:ext cx="144862" cy="144862"/>
          </a:xfrm>
          <a:prstGeom prst="rect">
            <a:avLst/>
          </a:prstGeom>
          <a:noFill/>
          <a:ln>
            <a:noFill/>
          </a:ln>
        </p:spPr>
      </p:sp>
      <p:sp>
        <p:nvSpPr>
          <p:cNvPr id="199" name="Google Shape;199;p19"/>
          <p:cNvSpPr/>
          <p:nvPr/>
        </p:nvSpPr>
        <p:spPr>
          <a:xfrm>
            <a:off x="1273422" y="3961921"/>
            <a:ext cx="378900" cy="1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B78"/>
              </a:buClr>
              <a:buSzPts val="457"/>
              <a:buFont typeface="Calibri"/>
              <a:buNone/>
            </a:pPr>
            <a:r>
              <a:rPr lang="en-GB" sz="457">
                <a:solidFill>
                  <a:srgbClr val="9A8B78"/>
                </a:solidFill>
                <a:latin typeface="Calibri"/>
                <a:ea typeface="Calibri"/>
                <a:cs typeface="Calibri"/>
                <a:sym typeface="Calibri"/>
              </a:rPr>
              <a:t>Pulse</a:t>
            </a:r>
            <a:endParaRPr b="0" i="0" sz="457" u="none" cap="none" strike="noStrike">
              <a:solidFill>
                <a:srgbClr val="000000"/>
              </a:solidFill>
              <a:latin typeface="Calibri"/>
              <a:ea typeface="Calibri"/>
              <a:cs typeface="Calibri"/>
              <a:sym typeface="Calibri"/>
            </a:endParaRPr>
          </a:p>
        </p:txBody>
      </p:sp>
      <p:sp>
        <p:nvSpPr>
          <p:cNvPr descr="/home/claude/otwc_deck/icons/pin.png" id="200" name="Google Shape;200;p19"/>
          <p:cNvSpPr/>
          <p:nvPr/>
        </p:nvSpPr>
        <p:spPr>
          <a:xfrm>
            <a:off x="1769296" y="3811488"/>
            <a:ext cx="144862" cy="144862"/>
          </a:xfrm>
          <a:prstGeom prst="rect">
            <a:avLst/>
          </a:prstGeom>
          <a:noFill/>
          <a:ln>
            <a:noFill/>
          </a:ln>
        </p:spPr>
      </p:sp>
      <p:sp>
        <p:nvSpPr>
          <p:cNvPr id="201" name="Google Shape;201;p19"/>
          <p:cNvSpPr/>
          <p:nvPr/>
        </p:nvSpPr>
        <p:spPr>
          <a:xfrm>
            <a:off x="1652292" y="3961921"/>
            <a:ext cx="378900" cy="1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B78"/>
              </a:buClr>
              <a:buSzPts val="457"/>
              <a:buFont typeface="Calibri"/>
              <a:buNone/>
            </a:pPr>
            <a:r>
              <a:rPr b="0" i="0" lang="en-GB" sz="457" u="none" cap="none" strike="noStrike">
                <a:solidFill>
                  <a:srgbClr val="9A8B78"/>
                </a:solidFill>
                <a:latin typeface="Calibri"/>
                <a:ea typeface="Calibri"/>
                <a:cs typeface="Calibri"/>
                <a:sym typeface="Calibri"/>
              </a:rPr>
              <a:t>Outlets</a:t>
            </a:r>
            <a:endParaRPr b="0" i="0" sz="457" u="none" cap="none" strike="noStrike">
              <a:solidFill>
                <a:srgbClr val="000000"/>
              </a:solidFill>
              <a:latin typeface="Calibri"/>
              <a:ea typeface="Calibri"/>
              <a:cs typeface="Calibri"/>
              <a:sym typeface="Calibri"/>
            </a:endParaRPr>
          </a:p>
        </p:txBody>
      </p:sp>
      <p:sp>
        <p:nvSpPr>
          <p:cNvPr descr="/home/claude/otwc_deck/icons/crown.png" id="202" name="Google Shape;202;p19"/>
          <p:cNvSpPr/>
          <p:nvPr/>
        </p:nvSpPr>
        <p:spPr>
          <a:xfrm>
            <a:off x="2148166" y="3811488"/>
            <a:ext cx="144862" cy="144862"/>
          </a:xfrm>
          <a:prstGeom prst="rect">
            <a:avLst/>
          </a:prstGeom>
          <a:noFill/>
          <a:ln>
            <a:noFill/>
          </a:ln>
        </p:spPr>
      </p:sp>
      <p:sp>
        <p:nvSpPr>
          <p:cNvPr id="203" name="Google Shape;203;p19"/>
          <p:cNvSpPr/>
          <p:nvPr/>
        </p:nvSpPr>
        <p:spPr>
          <a:xfrm>
            <a:off x="2031162" y="3961921"/>
            <a:ext cx="378900" cy="11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B78"/>
              </a:buClr>
              <a:buSzPts val="457"/>
              <a:buFont typeface="Calibri"/>
              <a:buNone/>
            </a:pPr>
            <a:r>
              <a:rPr b="0" i="0" lang="en-GB" sz="457" u="none" cap="none" strike="noStrike">
                <a:solidFill>
                  <a:srgbClr val="9A8B78"/>
                </a:solidFill>
                <a:latin typeface="Calibri"/>
                <a:ea typeface="Calibri"/>
                <a:cs typeface="Calibri"/>
                <a:sym typeface="Calibri"/>
              </a:rPr>
              <a:t>Account</a:t>
            </a:r>
            <a:endParaRPr b="0" i="0" sz="457" u="none" cap="none" strike="noStrike">
              <a:solidFill>
                <a:srgbClr val="000000"/>
              </a:solidFill>
              <a:latin typeface="Calibri"/>
              <a:ea typeface="Calibri"/>
              <a:cs typeface="Calibri"/>
              <a:sym typeface="Calibri"/>
            </a:endParaRPr>
          </a:p>
        </p:txBody>
      </p:sp>
      <p:pic>
        <p:nvPicPr>
          <p:cNvPr id="204" name="Google Shape;204;p19" title="logo.png"/>
          <p:cNvPicPr preferRelativeResize="0"/>
          <p:nvPr/>
        </p:nvPicPr>
        <p:blipFill>
          <a:blip r:embed="rId3">
            <a:alphaModFix/>
          </a:blip>
          <a:stretch>
            <a:fillRect/>
          </a:stretch>
        </p:blipFill>
        <p:spPr>
          <a:xfrm>
            <a:off x="7743638" y="59725"/>
            <a:ext cx="1304024" cy="1165525"/>
          </a:xfrm>
          <a:prstGeom prst="rect">
            <a:avLst/>
          </a:prstGeom>
          <a:noFill/>
          <a:ln>
            <a:noFill/>
          </a:ln>
        </p:spPr>
      </p:pic>
      <p:sp>
        <p:nvSpPr>
          <p:cNvPr id="205" name="Google Shape;205;p19"/>
          <p:cNvSpPr txBox="1"/>
          <p:nvPr>
            <p:ph type="title"/>
          </p:nvPr>
        </p:nvSpPr>
        <p:spPr>
          <a:xfrm>
            <a:off x="348725" y="4517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latin typeface="Cambria"/>
                <a:ea typeface="Cambria"/>
                <a:cs typeface="Cambria"/>
                <a:sym typeface="Cambria"/>
              </a:rPr>
              <a:t>Order System</a:t>
            </a:r>
            <a:endParaRPr b="1">
              <a:latin typeface="Cambria"/>
              <a:ea typeface="Cambria"/>
              <a:cs typeface="Cambria"/>
              <a:sym typeface="Cambri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0"/>
          <p:cNvSpPr/>
          <p:nvPr/>
        </p:nvSpPr>
        <p:spPr>
          <a:xfrm>
            <a:off x="429430" y="177475"/>
            <a:ext cx="9144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66B"/>
              </a:buClr>
              <a:buSzPts val="1200"/>
              <a:buFont typeface="Calibri"/>
              <a:buNone/>
            </a:pPr>
            <a:r>
              <a:rPr b="1" lang="en-GB" sz="1200">
                <a:solidFill>
                  <a:srgbClr val="C9A66B"/>
                </a:solidFill>
                <a:latin typeface="Calibri"/>
                <a:ea typeface="Calibri"/>
                <a:cs typeface="Calibri"/>
                <a:sym typeface="Calibri"/>
              </a:rPr>
              <a:t>FEATURE </a:t>
            </a:r>
            <a:r>
              <a:rPr b="1" lang="en-GB" sz="1200">
                <a:solidFill>
                  <a:srgbClr val="C9A66B"/>
                </a:solidFill>
                <a:latin typeface="Calibri"/>
                <a:ea typeface="Calibri"/>
                <a:cs typeface="Calibri"/>
                <a:sym typeface="Calibri"/>
              </a:rPr>
              <a:t>2</a:t>
            </a:r>
            <a:r>
              <a:rPr b="1" i="0" lang="en-GB" sz="1200" u="none" cap="none" strike="noStrike">
                <a:solidFill>
                  <a:srgbClr val="C9A66B"/>
                </a:solidFill>
                <a:latin typeface="Calibri"/>
                <a:ea typeface="Calibri"/>
                <a:cs typeface="Calibri"/>
                <a:sym typeface="Calibri"/>
              </a:rPr>
              <a:t>  ·  </a:t>
            </a:r>
            <a:r>
              <a:rPr b="1" lang="en-GB" sz="1200">
                <a:solidFill>
                  <a:srgbClr val="C9A66B"/>
                </a:solidFill>
                <a:latin typeface="Calibri"/>
                <a:ea typeface="Calibri"/>
                <a:cs typeface="Calibri"/>
                <a:sym typeface="Calibri"/>
              </a:rPr>
              <a:t>LOCATIONS</a:t>
            </a:r>
            <a:endParaRPr b="1" i="0" sz="1200" u="none" cap="none" strike="noStrike">
              <a:solidFill>
                <a:srgbClr val="000000"/>
              </a:solidFill>
              <a:latin typeface="Calibri"/>
              <a:ea typeface="Calibri"/>
              <a:cs typeface="Calibri"/>
              <a:sym typeface="Calibri"/>
            </a:endParaRPr>
          </a:p>
        </p:txBody>
      </p:sp>
      <p:pic>
        <p:nvPicPr>
          <p:cNvPr id="211" name="Google Shape;211;p20" title="logo.png"/>
          <p:cNvPicPr preferRelativeResize="0"/>
          <p:nvPr/>
        </p:nvPicPr>
        <p:blipFill>
          <a:blip r:embed="rId3">
            <a:alphaModFix/>
          </a:blip>
          <a:stretch>
            <a:fillRect/>
          </a:stretch>
        </p:blipFill>
        <p:spPr>
          <a:xfrm>
            <a:off x="7743638" y="59725"/>
            <a:ext cx="1304024" cy="1165525"/>
          </a:xfrm>
          <a:prstGeom prst="rect">
            <a:avLst/>
          </a:prstGeom>
          <a:noFill/>
          <a:ln>
            <a:noFill/>
          </a:ln>
        </p:spPr>
      </p:pic>
      <p:sp>
        <p:nvSpPr>
          <p:cNvPr id="212" name="Google Shape;212;p20"/>
          <p:cNvSpPr/>
          <p:nvPr/>
        </p:nvSpPr>
        <p:spPr>
          <a:xfrm>
            <a:off x="3276923" y="1191839"/>
            <a:ext cx="5004900" cy="41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4A3C"/>
              </a:buClr>
              <a:buSzPts val="1064"/>
              <a:buFont typeface="Calibri"/>
              <a:buNone/>
            </a:pPr>
            <a:r>
              <a:rPr b="0" i="1" lang="en-GB" sz="1064" u="none" cap="none" strike="noStrike">
                <a:solidFill>
                  <a:srgbClr val="5A4A3C"/>
                </a:solidFill>
                <a:latin typeface="Calibri"/>
                <a:ea typeface="Calibri"/>
                <a:cs typeface="Calibri"/>
                <a:sym typeface="Calibri"/>
              </a:rPr>
              <a:t>Guides customers </a:t>
            </a:r>
            <a:r>
              <a:rPr i="1" lang="en-GB" sz="1064">
                <a:solidFill>
                  <a:srgbClr val="5A4A3C"/>
                </a:solidFill>
                <a:latin typeface="Calibri"/>
                <a:ea typeface="Calibri"/>
                <a:cs typeface="Calibri"/>
                <a:sym typeface="Calibri"/>
              </a:rPr>
              <a:t>on outlets near them, promote sales when customer is near an outlet</a:t>
            </a:r>
            <a:endParaRPr b="0" i="0" sz="1064" u="none" cap="none" strike="noStrike">
              <a:solidFill>
                <a:srgbClr val="000000"/>
              </a:solidFill>
              <a:latin typeface="Calibri"/>
              <a:ea typeface="Calibri"/>
              <a:cs typeface="Calibri"/>
              <a:sym typeface="Calibri"/>
            </a:endParaRPr>
          </a:p>
        </p:txBody>
      </p:sp>
      <p:sp>
        <p:nvSpPr>
          <p:cNvPr id="213" name="Google Shape;213;p20"/>
          <p:cNvSpPr/>
          <p:nvPr/>
        </p:nvSpPr>
        <p:spPr>
          <a:xfrm>
            <a:off x="3276926" y="1736763"/>
            <a:ext cx="4532100" cy="20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2417"/>
              </a:buClr>
              <a:buSzPts val="1026"/>
              <a:buFont typeface="Calibri"/>
              <a:buNone/>
            </a:pPr>
            <a:r>
              <a:rPr b="1" lang="en-GB" sz="1026">
                <a:solidFill>
                  <a:srgbClr val="3B2417"/>
                </a:solidFill>
                <a:latin typeface="Calibri"/>
                <a:ea typeface="Calibri"/>
                <a:cs typeface="Calibri"/>
                <a:sym typeface="Calibri"/>
              </a:rPr>
              <a:t>Identify when customers are near an outlet</a:t>
            </a:r>
            <a:endParaRPr b="0" i="0" sz="1026" u="none" cap="none" strike="noStrike">
              <a:solidFill>
                <a:srgbClr val="000000"/>
              </a:solidFill>
              <a:latin typeface="Calibri"/>
              <a:ea typeface="Calibri"/>
              <a:cs typeface="Calibri"/>
              <a:sym typeface="Calibri"/>
            </a:endParaRPr>
          </a:p>
        </p:txBody>
      </p:sp>
      <p:sp>
        <p:nvSpPr>
          <p:cNvPr id="214" name="Google Shape;214;p20"/>
          <p:cNvSpPr/>
          <p:nvPr/>
        </p:nvSpPr>
        <p:spPr>
          <a:xfrm>
            <a:off x="3276926" y="2292854"/>
            <a:ext cx="4532100" cy="20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2417"/>
              </a:buClr>
              <a:buSzPts val="1026"/>
              <a:buFont typeface="Calibri"/>
              <a:buNone/>
            </a:pPr>
            <a:r>
              <a:rPr b="1" lang="en-GB" sz="1026">
                <a:solidFill>
                  <a:srgbClr val="3B2417"/>
                </a:solidFill>
                <a:latin typeface="Calibri"/>
                <a:ea typeface="Calibri"/>
                <a:cs typeface="Calibri"/>
                <a:sym typeface="Calibri"/>
              </a:rPr>
              <a:t>Triggers push notification to encourage advance order</a:t>
            </a:r>
            <a:endParaRPr b="0" i="0" sz="1026" u="none" cap="none" strike="noStrike">
              <a:solidFill>
                <a:srgbClr val="000000"/>
              </a:solidFill>
              <a:latin typeface="Calibri"/>
              <a:ea typeface="Calibri"/>
              <a:cs typeface="Calibri"/>
              <a:sym typeface="Calibri"/>
            </a:endParaRPr>
          </a:p>
        </p:txBody>
      </p:sp>
      <p:sp>
        <p:nvSpPr>
          <p:cNvPr id="215" name="Google Shape;215;p20"/>
          <p:cNvSpPr/>
          <p:nvPr/>
        </p:nvSpPr>
        <p:spPr>
          <a:xfrm>
            <a:off x="3276926" y="2848945"/>
            <a:ext cx="4532100" cy="20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2417"/>
              </a:buClr>
              <a:buSzPts val="1026"/>
              <a:buFont typeface="Calibri"/>
              <a:buNone/>
            </a:pPr>
            <a:r>
              <a:rPr b="1" lang="en-GB" sz="1026">
                <a:solidFill>
                  <a:srgbClr val="3B2417"/>
                </a:solidFill>
                <a:latin typeface="Calibri"/>
                <a:ea typeface="Calibri"/>
                <a:cs typeface="Calibri"/>
                <a:sym typeface="Calibri"/>
              </a:rPr>
              <a:t>Customer places order ahead of time</a:t>
            </a:r>
            <a:endParaRPr b="0" i="0" sz="1026" u="none" cap="none" strike="noStrike">
              <a:solidFill>
                <a:srgbClr val="000000"/>
              </a:solidFill>
              <a:latin typeface="Calibri"/>
              <a:ea typeface="Calibri"/>
              <a:cs typeface="Calibri"/>
              <a:sym typeface="Calibri"/>
            </a:endParaRPr>
          </a:p>
        </p:txBody>
      </p:sp>
      <p:sp>
        <p:nvSpPr>
          <p:cNvPr id="216" name="Google Shape;216;p20"/>
          <p:cNvSpPr/>
          <p:nvPr/>
        </p:nvSpPr>
        <p:spPr>
          <a:xfrm>
            <a:off x="3276926" y="3405036"/>
            <a:ext cx="4532100" cy="20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2417"/>
              </a:buClr>
              <a:buSzPts val="1026"/>
              <a:buFont typeface="Calibri"/>
              <a:buNone/>
            </a:pPr>
            <a:r>
              <a:rPr b="1" lang="en-GB" sz="1026">
                <a:solidFill>
                  <a:srgbClr val="3B2417"/>
                </a:solidFill>
                <a:latin typeface="Calibri"/>
                <a:ea typeface="Calibri"/>
                <a:cs typeface="Calibri"/>
                <a:sym typeface="Calibri"/>
              </a:rPr>
              <a:t>Customers proceed to store and pick up their order (shorten waiting time)</a:t>
            </a:r>
            <a:endParaRPr b="0" i="0" sz="1026" u="none" cap="none" strike="noStrike">
              <a:solidFill>
                <a:srgbClr val="000000"/>
              </a:solidFill>
              <a:latin typeface="Calibri"/>
              <a:ea typeface="Calibri"/>
              <a:cs typeface="Calibri"/>
              <a:sym typeface="Calibri"/>
            </a:endParaRPr>
          </a:p>
        </p:txBody>
      </p:sp>
      <p:sp>
        <p:nvSpPr>
          <p:cNvPr id="217" name="Google Shape;217;p20"/>
          <p:cNvSpPr/>
          <p:nvPr/>
        </p:nvSpPr>
        <p:spPr>
          <a:xfrm>
            <a:off x="3276923" y="3932492"/>
            <a:ext cx="5004900" cy="382200"/>
          </a:xfrm>
          <a:prstGeom prst="roundRect">
            <a:avLst>
              <a:gd fmla="val 10909" name="adj"/>
            </a:avLst>
          </a:prstGeom>
          <a:solidFill>
            <a:srgbClr val="F3E4DA"/>
          </a:solidFill>
          <a:ln>
            <a:noFill/>
          </a:ln>
        </p:spPr>
        <p:txBody>
          <a:bodyPr anchorCtr="0" anchor="ctr" bIns="69500" lIns="69500" spcFirstLastPara="1" rIns="69500" wrap="square" tIns="69500">
            <a:noAutofit/>
          </a:bodyPr>
          <a:lstStyle/>
          <a:p>
            <a:pPr indent="0" lvl="0" marL="0" rtl="0" algn="l">
              <a:spcBef>
                <a:spcPts val="0"/>
              </a:spcBef>
              <a:spcAft>
                <a:spcPts val="0"/>
              </a:spcAft>
              <a:buNone/>
            </a:pPr>
            <a:r>
              <a:t/>
            </a:r>
            <a:endParaRPr/>
          </a:p>
        </p:txBody>
      </p:sp>
      <p:sp>
        <p:nvSpPr>
          <p:cNvPr id="218" name="Google Shape;218;p20"/>
          <p:cNvSpPr/>
          <p:nvPr/>
        </p:nvSpPr>
        <p:spPr>
          <a:xfrm>
            <a:off x="3415946" y="3932492"/>
            <a:ext cx="4726800" cy="382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52F"/>
              </a:buClr>
              <a:buSzPts val="836"/>
              <a:buFont typeface="Calibri"/>
              <a:buNone/>
            </a:pPr>
            <a:r>
              <a:rPr i="1" lang="en-GB" sz="836">
                <a:solidFill>
                  <a:srgbClr val="B4552F"/>
                </a:solidFill>
                <a:latin typeface="Calibri"/>
                <a:ea typeface="Calibri"/>
                <a:cs typeface="Calibri"/>
                <a:sym typeface="Calibri"/>
              </a:rPr>
              <a:t>Improves: User experience in finding stores near them, encourages online order and pick up</a:t>
            </a:r>
            <a:endParaRPr b="0" i="0" sz="836" u="none" cap="none" strike="noStrike">
              <a:solidFill>
                <a:srgbClr val="000000"/>
              </a:solidFill>
              <a:latin typeface="Calibri"/>
              <a:ea typeface="Calibri"/>
              <a:cs typeface="Calibri"/>
              <a:sym typeface="Calibri"/>
            </a:endParaRPr>
          </a:p>
        </p:txBody>
      </p:sp>
      <p:grpSp>
        <p:nvGrpSpPr>
          <p:cNvPr id="219" name="Google Shape;219;p20"/>
          <p:cNvGrpSpPr/>
          <p:nvPr/>
        </p:nvGrpSpPr>
        <p:grpSpPr>
          <a:xfrm>
            <a:off x="652075" y="1287725"/>
            <a:ext cx="1821600" cy="3249000"/>
            <a:chOff x="652075" y="1287725"/>
            <a:chExt cx="1821600" cy="3249000"/>
          </a:xfrm>
        </p:grpSpPr>
        <p:sp>
          <p:nvSpPr>
            <p:cNvPr id="220" name="Google Shape;220;p20"/>
            <p:cNvSpPr/>
            <p:nvPr/>
          </p:nvSpPr>
          <p:spPr>
            <a:xfrm>
              <a:off x="652075" y="1287725"/>
              <a:ext cx="1821600" cy="3249000"/>
            </a:xfrm>
            <a:prstGeom prst="roundRect">
              <a:avLst>
                <a:gd fmla="val 9333" name="adj"/>
              </a:avLst>
            </a:prstGeom>
            <a:solidFill>
              <a:srgbClr val="3B2417"/>
            </a:solidFill>
            <a:ln cap="flat" cmpd="sng" w="16875">
              <a:solidFill>
                <a:srgbClr val="C9A66B"/>
              </a:solidFill>
              <a:prstDash val="solid"/>
              <a:round/>
              <a:headEnd len="sm" w="sm" type="none"/>
              <a:tailEnd len="sm" w="sm" type="none"/>
            </a:ln>
            <a:effectLst>
              <a:outerShdw blurRad="101209" rotWithShape="0" algn="bl" dir="5400000" dist="42170">
                <a:srgbClr val="3B2417">
                  <a:alpha val="34900"/>
                </a:srgbClr>
              </a:outerShdw>
            </a:effectLst>
          </p:spPr>
          <p:txBody>
            <a:bodyPr anchorCtr="0" anchor="ctr" bIns="60725" lIns="60725" spcFirstLastPara="1" rIns="60725" wrap="square" tIns="60725">
              <a:noAutofit/>
            </a:bodyPr>
            <a:lstStyle/>
            <a:p>
              <a:pPr indent="0" lvl="0" marL="0" rtl="0" algn="l">
                <a:spcBef>
                  <a:spcPts val="0"/>
                </a:spcBef>
                <a:spcAft>
                  <a:spcPts val="0"/>
                </a:spcAft>
                <a:buNone/>
              </a:pPr>
              <a:r>
                <a:t/>
              </a:r>
              <a:endParaRPr/>
            </a:p>
          </p:txBody>
        </p:sp>
        <p:sp>
          <p:nvSpPr>
            <p:cNvPr id="221" name="Google Shape;221;p20"/>
            <p:cNvSpPr/>
            <p:nvPr/>
          </p:nvSpPr>
          <p:spPr>
            <a:xfrm>
              <a:off x="737090" y="1530627"/>
              <a:ext cx="1652100" cy="2811600"/>
            </a:xfrm>
            <a:prstGeom prst="roundRect">
              <a:avLst>
                <a:gd fmla="val 4412" name="adj"/>
              </a:avLst>
            </a:prstGeom>
            <a:solidFill>
              <a:srgbClr val="FBF7F0"/>
            </a:solidFill>
            <a:ln>
              <a:noFill/>
            </a:ln>
          </p:spPr>
          <p:txBody>
            <a:bodyPr anchorCtr="0" anchor="ctr" bIns="60725" lIns="60725" spcFirstLastPara="1" rIns="60725" wrap="square" tIns="60725">
              <a:noAutofit/>
            </a:bodyPr>
            <a:lstStyle/>
            <a:p>
              <a:pPr indent="0" lvl="0" marL="0" rtl="0" algn="l">
                <a:spcBef>
                  <a:spcPts val="0"/>
                </a:spcBef>
                <a:spcAft>
                  <a:spcPts val="0"/>
                </a:spcAft>
                <a:buNone/>
              </a:pPr>
              <a:r>
                <a:t/>
              </a:r>
              <a:endParaRPr/>
            </a:p>
          </p:txBody>
        </p:sp>
        <p:sp>
          <p:nvSpPr>
            <p:cNvPr id="222" name="Google Shape;222;p20"/>
            <p:cNvSpPr/>
            <p:nvPr/>
          </p:nvSpPr>
          <p:spPr>
            <a:xfrm>
              <a:off x="1289687" y="1360595"/>
              <a:ext cx="546600" cy="78900"/>
            </a:xfrm>
            <a:prstGeom prst="roundRect">
              <a:avLst>
                <a:gd fmla="val 46154" name="adj"/>
              </a:avLst>
            </a:prstGeom>
            <a:solidFill>
              <a:srgbClr val="3B2417"/>
            </a:solidFill>
            <a:ln cap="flat" cmpd="sng" w="6325">
              <a:solidFill>
                <a:srgbClr val="5A4632"/>
              </a:solidFill>
              <a:prstDash val="solid"/>
              <a:round/>
              <a:headEnd len="sm" w="sm" type="none"/>
              <a:tailEnd len="sm" w="sm" type="none"/>
            </a:ln>
          </p:spPr>
          <p:txBody>
            <a:bodyPr anchorCtr="0" anchor="ctr" bIns="60725" lIns="60725" spcFirstLastPara="1" rIns="60725" wrap="square" tIns="60725">
              <a:noAutofit/>
            </a:bodyPr>
            <a:lstStyle/>
            <a:p>
              <a:pPr indent="0" lvl="0" marL="0" rtl="0" algn="l">
                <a:spcBef>
                  <a:spcPts val="0"/>
                </a:spcBef>
                <a:spcAft>
                  <a:spcPts val="0"/>
                </a:spcAft>
                <a:buNone/>
              </a:pPr>
              <a:r>
                <a:t/>
              </a:r>
              <a:endParaRPr/>
            </a:p>
          </p:txBody>
        </p:sp>
        <p:sp>
          <p:nvSpPr>
            <p:cNvPr id="223" name="Google Shape;223;p20"/>
            <p:cNvSpPr/>
            <p:nvPr/>
          </p:nvSpPr>
          <p:spPr>
            <a:xfrm>
              <a:off x="1350412" y="4402937"/>
              <a:ext cx="425100" cy="36600"/>
            </a:xfrm>
            <a:prstGeom prst="roundRect">
              <a:avLst>
                <a:gd fmla="val 50000" name="adj"/>
              </a:avLst>
            </a:prstGeom>
            <a:solidFill>
              <a:srgbClr val="5A4632"/>
            </a:solidFill>
            <a:ln>
              <a:noFill/>
            </a:ln>
          </p:spPr>
          <p:txBody>
            <a:bodyPr anchorCtr="0" anchor="ctr" bIns="60725" lIns="60725" spcFirstLastPara="1" rIns="60725" wrap="square" tIns="60725">
              <a:noAutofit/>
            </a:bodyPr>
            <a:lstStyle/>
            <a:p>
              <a:pPr indent="0" lvl="0" marL="0" rtl="0" algn="l">
                <a:spcBef>
                  <a:spcPts val="0"/>
                </a:spcBef>
                <a:spcAft>
                  <a:spcPts val="0"/>
                </a:spcAft>
                <a:buNone/>
              </a:pPr>
              <a:r>
                <a:t/>
              </a:r>
              <a:endParaRPr/>
            </a:p>
          </p:txBody>
        </p:sp>
        <p:sp>
          <p:nvSpPr>
            <p:cNvPr id="224" name="Google Shape;224;p20"/>
            <p:cNvSpPr/>
            <p:nvPr/>
          </p:nvSpPr>
          <p:spPr>
            <a:xfrm>
              <a:off x="809960" y="1567062"/>
              <a:ext cx="486000" cy="13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09"/>
                </a:buClr>
                <a:buSzPts val="598"/>
                <a:buFont typeface="Calibri"/>
                <a:buNone/>
              </a:pPr>
              <a:r>
                <a:rPr b="1" i="0" lang="en-GB" sz="598" u="none" cap="none" strike="noStrike">
                  <a:solidFill>
                    <a:srgbClr val="241509"/>
                  </a:solidFill>
                  <a:latin typeface="Calibri"/>
                  <a:ea typeface="Calibri"/>
                  <a:cs typeface="Calibri"/>
                  <a:sym typeface="Calibri"/>
                </a:rPr>
                <a:t>9:41</a:t>
              </a:r>
              <a:endParaRPr b="0" i="0" sz="598" u="none" cap="none" strike="noStrike">
                <a:solidFill>
                  <a:srgbClr val="000000"/>
                </a:solidFill>
                <a:latin typeface="Calibri"/>
                <a:ea typeface="Calibri"/>
                <a:cs typeface="Calibri"/>
                <a:sym typeface="Calibri"/>
              </a:endParaRPr>
            </a:p>
          </p:txBody>
        </p:sp>
        <p:sp>
          <p:nvSpPr>
            <p:cNvPr id="225" name="Google Shape;225;p20"/>
            <p:cNvSpPr/>
            <p:nvPr/>
          </p:nvSpPr>
          <p:spPr>
            <a:xfrm>
              <a:off x="1963734" y="1567062"/>
              <a:ext cx="364200" cy="1338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41509"/>
                </a:buClr>
                <a:buSzPts val="598"/>
                <a:buFont typeface="Calibri"/>
                <a:buNone/>
              </a:pPr>
              <a:r>
                <a:rPr b="1" i="0" lang="en-GB" sz="598" u="none" cap="none" strike="noStrike">
                  <a:solidFill>
                    <a:srgbClr val="241509"/>
                  </a:solidFill>
                  <a:latin typeface="Calibri"/>
                  <a:ea typeface="Calibri"/>
                  <a:cs typeface="Calibri"/>
                  <a:sym typeface="Calibri"/>
                </a:rPr>
                <a:t>100%</a:t>
              </a:r>
              <a:endParaRPr b="0" i="0" sz="598" u="none" cap="none" strike="noStrike">
                <a:solidFill>
                  <a:srgbClr val="000000"/>
                </a:solidFill>
                <a:latin typeface="Calibri"/>
                <a:ea typeface="Calibri"/>
                <a:cs typeface="Calibri"/>
                <a:sym typeface="Calibri"/>
              </a:endParaRPr>
            </a:p>
          </p:txBody>
        </p:sp>
        <p:sp>
          <p:nvSpPr>
            <p:cNvPr id="226" name="Google Shape;226;p20"/>
            <p:cNvSpPr/>
            <p:nvPr/>
          </p:nvSpPr>
          <p:spPr>
            <a:xfrm>
              <a:off x="737090" y="1712803"/>
              <a:ext cx="1652100" cy="303600"/>
            </a:xfrm>
            <a:prstGeom prst="rect">
              <a:avLst/>
            </a:prstGeom>
            <a:solidFill>
              <a:srgbClr val="3B2417"/>
            </a:solidFill>
            <a:ln>
              <a:noFill/>
            </a:ln>
          </p:spPr>
          <p:txBody>
            <a:bodyPr anchorCtr="0" anchor="ctr" bIns="60725" lIns="60725" spcFirstLastPara="1" rIns="60725" wrap="square" tIns="60725">
              <a:noAutofit/>
            </a:bodyPr>
            <a:lstStyle/>
            <a:p>
              <a:pPr indent="0" lvl="0" marL="0" rtl="0" algn="l">
                <a:spcBef>
                  <a:spcPts val="0"/>
                </a:spcBef>
                <a:spcAft>
                  <a:spcPts val="0"/>
                </a:spcAft>
                <a:buNone/>
              </a:pPr>
              <a:r>
                <a:t/>
              </a:r>
              <a:endParaRPr/>
            </a:p>
          </p:txBody>
        </p:sp>
        <p:sp>
          <p:nvSpPr>
            <p:cNvPr id="227" name="Google Shape;227;p20"/>
            <p:cNvSpPr/>
            <p:nvPr/>
          </p:nvSpPr>
          <p:spPr>
            <a:xfrm>
              <a:off x="737013" y="1700678"/>
              <a:ext cx="1652100" cy="303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97"/>
                <a:buFont typeface="Cambria"/>
                <a:buNone/>
              </a:pPr>
              <a:r>
                <a:rPr b="1" i="0" lang="en-GB" sz="897" u="none" cap="none" strike="noStrike">
                  <a:solidFill>
                    <a:srgbClr val="FFFFFF"/>
                  </a:solidFill>
                  <a:latin typeface="Cambria"/>
                  <a:ea typeface="Cambria"/>
                  <a:cs typeface="Cambria"/>
                  <a:sym typeface="Cambria"/>
                </a:rPr>
                <a:t>Nearby Outlets</a:t>
              </a:r>
              <a:endParaRPr b="0" i="0" sz="897" u="none" cap="none" strike="noStrike">
                <a:solidFill>
                  <a:srgbClr val="000000"/>
                </a:solidFill>
                <a:latin typeface="Calibri"/>
                <a:ea typeface="Calibri"/>
                <a:cs typeface="Calibri"/>
                <a:sym typeface="Calibri"/>
              </a:endParaRPr>
            </a:p>
          </p:txBody>
        </p:sp>
        <p:sp>
          <p:nvSpPr>
            <p:cNvPr id="228" name="Google Shape;228;p20"/>
            <p:cNvSpPr/>
            <p:nvPr/>
          </p:nvSpPr>
          <p:spPr>
            <a:xfrm>
              <a:off x="737090" y="2089300"/>
              <a:ext cx="1652100" cy="1275300"/>
            </a:xfrm>
            <a:prstGeom prst="rect">
              <a:avLst/>
            </a:prstGeom>
            <a:solidFill>
              <a:srgbClr val="2E5F58"/>
            </a:solidFill>
            <a:ln>
              <a:noFill/>
            </a:ln>
          </p:spPr>
          <p:txBody>
            <a:bodyPr anchorCtr="0" anchor="ctr" bIns="60725" lIns="60725" spcFirstLastPara="1" rIns="60725" wrap="square" tIns="60725">
              <a:noAutofit/>
            </a:bodyPr>
            <a:lstStyle/>
            <a:p>
              <a:pPr indent="0" lvl="0" marL="0" rtl="0" algn="l">
                <a:spcBef>
                  <a:spcPts val="0"/>
                </a:spcBef>
                <a:spcAft>
                  <a:spcPts val="0"/>
                </a:spcAft>
                <a:buNone/>
              </a:pPr>
              <a:r>
                <a:t/>
              </a:r>
              <a:endParaRPr/>
            </a:p>
          </p:txBody>
        </p:sp>
        <p:sp>
          <p:nvSpPr>
            <p:cNvPr id="229" name="Google Shape;229;p20"/>
            <p:cNvSpPr/>
            <p:nvPr/>
          </p:nvSpPr>
          <p:spPr>
            <a:xfrm>
              <a:off x="828177" y="3158067"/>
              <a:ext cx="789600" cy="145800"/>
            </a:xfrm>
            <a:prstGeom prst="roundRect">
              <a:avLst>
                <a:gd fmla="val 20833" name="adj"/>
              </a:avLst>
            </a:prstGeom>
            <a:solidFill>
              <a:srgbClr val="1F433D"/>
            </a:solidFill>
            <a:ln>
              <a:noFill/>
            </a:ln>
          </p:spPr>
          <p:txBody>
            <a:bodyPr anchorCtr="0" anchor="ctr" bIns="60725" lIns="60725" spcFirstLastPara="1" rIns="60725" wrap="square" tIns="60725">
              <a:noAutofit/>
            </a:bodyPr>
            <a:lstStyle/>
            <a:p>
              <a:pPr indent="0" lvl="0" marL="0" rtl="0" algn="l">
                <a:spcBef>
                  <a:spcPts val="0"/>
                </a:spcBef>
                <a:spcAft>
                  <a:spcPts val="0"/>
                </a:spcAft>
                <a:buNone/>
              </a:pPr>
              <a:r>
                <a:t/>
              </a:r>
              <a:endParaRPr/>
            </a:p>
          </p:txBody>
        </p:sp>
        <p:sp>
          <p:nvSpPr>
            <p:cNvPr id="230" name="Google Shape;230;p20"/>
            <p:cNvSpPr/>
            <p:nvPr/>
          </p:nvSpPr>
          <p:spPr>
            <a:xfrm>
              <a:off x="858540" y="3158067"/>
              <a:ext cx="789600" cy="14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65"/>
                <a:buFont typeface="Calibri"/>
                <a:buNone/>
              </a:pPr>
              <a:r>
                <a:rPr b="0" i="0" lang="en-GB" sz="465" u="none" cap="none" strike="noStrike">
                  <a:solidFill>
                    <a:srgbClr val="FFFFFF"/>
                  </a:solidFill>
                  <a:latin typeface="Calibri"/>
                  <a:ea typeface="Calibri"/>
                  <a:cs typeface="Calibri"/>
                  <a:sym typeface="Calibri"/>
                </a:rPr>
                <a:t>📍 You are here</a:t>
              </a:r>
              <a:endParaRPr b="0" i="0" sz="465" u="none" cap="none" strike="noStrike">
                <a:solidFill>
                  <a:srgbClr val="000000"/>
                </a:solidFill>
                <a:latin typeface="Calibri"/>
                <a:ea typeface="Calibri"/>
                <a:cs typeface="Calibri"/>
                <a:sym typeface="Calibri"/>
              </a:endParaRPr>
            </a:p>
          </p:txBody>
        </p:sp>
        <p:sp>
          <p:nvSpPr>
            <p:cNvPr id="231" name="Google Shape;231;p20"/>
            <p:cNvSpPr/>
            <p:nvPr/>
          </p:nvSpPr>
          <p:spPr>
            <a:xfrm>
              <a:off x="828177" y="3425259"/>
              <a:ext cx="1469700" cy="340200"/>
            </a:xfrm>
            <a:prstGeom prst="roundRect">
              <a:avLst>
                <a:gd fmla="val 10714" name="adj"/>
              </a:avLst>
            </a:prstGeom>
            <a:solidFill>
              <a:srgbClr val="F0E8DA"/>
            </a:solidFill>
            <a:ln>
              <a:noFill/>
            </a:ln>
          </p:spPr>
          <p:txBody>
            <a:bodyPr anchorCtr="0" anchor="ctr" bIns="60725" lIns="60725" spcFirstLastPara="1" rIns="60725" wrap="square" tIns="60725">
              <a:noAutofit/>
            </a:bodyPr>
            <a:lstStyle/>
            <a:p>
              <a:pPr indent="0" lvl="0" marL="0" rtl="0" algn="l">
                <a:spcBef>
                  <a:spcPts val="0"/>
                </a:spcBef>
                <a:spcAft>
                  <a:spcPts val="0"/>
                </a:spcAft>
                <a:buNone/>
              </a:pPr>
              <a:r>
                <a:t/>
              </a:r>
              <a:endParaRPr/>
            </a:p>
          </p:txBody>
        </p:sp>
        <p:sp>
          <p:nvSpPr>
            <p:cNvPr descr="/home/claude/otwc_deck/icons/store.png" id="232" name="Google Shape;232;p20"/>
            <p:cNvSpPr/>
            <p:nvPr/>
          </p:nvSpPr>
          <p:spPr>
            <a:xfrm>
              <a:off x="888902" y="3510274"/>
              <a:ext cx="170029" cy="170029"/>
            </a:xfrm>
            <a:prstGeom prst="rect">
              <a:avLst/>
            </a:prstGeom>
            <a:noFill/>
            <a:ln>
              <a:noFill/>
            </a:ln>
          </p:spPr>
        </p:sp>
        <p:sp>
          <p:nvSpPr>
            <p:cNvPr id="233" name="Google Shape;233;p20"/>
            <p:cNvSpPr/>
            <p:nvPr/>
          </p:nvSpPr>
          <p:spPr>
            <a:xfrm>
              <a:off x="1113585" y="3455621"/>
              <a:ext cx="741000" cy="14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09"/>
                </a:buClr>
                <a:buSzPts val="598"/>
                <a:buFont typeface="Calibri"/>
                <a:buNone/>
              </a:pPr>
              <a:r>
                <a:rPr b="1" i="0" lang="en-GB" sz="598" u="none" cap="none" strike="noStrike">
                  <a:solidFill>
                    <a:srgbClr val="241509"/>
                  </a:solidFill>
                  <a:latin typeface="Calibri"/>
                  <a:ea typeface="Calibri"/>
                  <a:cs typeface="Calibri"/>
                  <a:sym typeface="Calibri"/>
                </a:rPr>
                <a:t>Kallang Wave Mall</a:t>
              </a:r>
              <a:endParaRPr b="0" i="0" sz="598" u="none" cap="none" strike="noStrike">
                <a:solidFill>
                  <a:srgbClr val="000000"/>
                </a:solidFill>
                <a:latin typeface="Calibri"/>
                <a:ea typeface="Calibri"/>
                <a:cs typeface="Calibri"/>
                <a:sym typeface="Calibri"/>
              </a:endParaRPr>
            </a:p>
          </p:txBody>
        </p:sp>
        <p:sp>
          <p:nvSpPr>
            <p:cNvPr id="234" name="Google Shape;234;p20"/>
            <p:cNvSpPr/>
            <p:nvPr/>
          </p:nvSpPr>
          <p:spPr>
            <a:xfrm>
              <a:off x="1113585" y="3601362"/>
              <a:ext cx="741000" cy="13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52F"/>
                </a:buClr>
                <a:buSzPts val="498"/>
                <a:buFont typeface="Calibri"/>
                <a:buNone/>
              </a:pPr>
              <a:r>
                <a:rPr b="0" i="0" lang="en-GB" sz="498" u="none" cap="none" strike="noStrike">
                  <a:solidFill>
                    <a:srgbClr val="B4552F"/>
                  </a:solidFill>
                  <a:latin typeface="Calibri"/>
                  <a:ea typeface="Calibri"/>
                  <a:cs typeface="Calibri"/>
                  <a:sym typeface="Calibri"/>
                </a:rPr>
                <a:t>0.4 km  ·  Halal</a:t>
              </a:r>
              <a:endParaRPr b="0" i="0" sz="498" u="none" cap="none" strike="noStrike">
                <a:solidFill>
                  <a:srgbClr val="000000"/>
                </a:solidFill>
                <a:latin typeface="Calibri"/>
                <a:ea typeface="Calibri"/>
                <a:cs typeface="Calibri"/>
                <a:sym typeface="Calibri"/>
              </a:endParaRPr>
            </a:p>
          </p:txBody>
        </p:sp>
        <p:sp>
          <p:nvSpPr>
            <p:cNvPr descr="/home/claude/otwc_deck/icons/navicon.png" id="235" name="Google Shape;235;p20"/>
            <p:cNvSpPr/>
            <p:nvPr/>
          </p:nvSpPr>
          <p:spPr>
            <a:xfrm>
              <a:off x="2145909" y="3522419"/>
              <a:ext cx="133594" cy="133594"/>
            </a:xfrm>
            <a:prstGeom prst="rect">
              <a:avLst/>
            </a:prstGeom>
            <a:noFill/>
            <a:ln>
              <a:noFill/>
            </a:ln>
          </p:spPr>
        </p:sp>
        <p:sp>
          <p:nvSpPr>
            <p:cNvPr id="236" name="Google Shape;236;p20"/>
            <p:cNvSpPr/>
            <p:nvPr/>
          </p:nvSpPr>
          <p:spPr>
            <a:xfrm>
              <a:off x="828177" y="3807829"/>
              <a:ext cx="1469700" cy="340200"/>
            </a:xfrm>
            <a:prstGeom prst="roundRect">
              <a:avLst>
                <a:gd fmla="val 10714" name="adj"/>
              </a:avLst>
            </a:prstGeom>
            <a:solidFill>
              <a:srgbClr val="F0E8DA"/>
            </a:solidFill>
            <a:ln>
              <a:noFill/>
            </a:ln>
          </p:spPr>
          <p:txBody>
            <a:bodyPr anchorCtr="0" anchor="ctr" bIns="60725" lIns="60725" spcFirstLastPara="1" rIns="60725" wrap="square" tIns="60725">
              <a:noAutofit/>
            </a:bodyPr>
            <a:lstStyle/>
            <a:p>
              <a:pPr indent="0" lvl="0" marL="0" rtl="0" algn="l">
                <a:spcBef>
                  <a:spcPts val="0"/>
                </a:spcBef>
                <a:spcAft>
                  <a:spcPts val="0"/>
                </a:spcAft>
                <a:buNone/>
              </a:pPr>
              <a:r>
                <a:t/>
              </a:r>
              <a:endParaRPr/>
            </a:p>
          </p:txBody>
        </p:sp>
        <p:sp>
          <p:nvSpPr>
            <p:cNvPr descr="/home/claude/otwc_deck/icons/store.png" id="237" name="Google Shape;237;p20"/>
            <p:cNvSpPr/>
            <p:nvPr/>
          </p:nvSpPr>
          <p:spPr>
            <a:xfrm>
              <a:off x="888902" y="3892844"/>
              <a:ext cx="170029" cy="170029"/>
            </a:xfrm>
            <a:prstGeom prst="rect">
              <a:avLst/>
            </a:prstGeom>
            <a:noFill/>
            <a:ln>
              <a:noFill/>
            </a:ln>
          </p:spPr>
        </p:sp>
        <p:sp>
          <p:nvSpPr>
            <p:cNvPr id="238" name="Google Shape;238;p20"/>
            <p:cNvSpPr/>
            <p:nvPr/>
          </p:nvSpPr>
          <p:spPr>
            <a:xfrm>
              <a:off x="1113585" y="3838191"/>
              <a:ext cx="741000" cy="14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09"/>
                </a:buClr>
                <a:buSzPts val="598"/>
                <a:buFont typeface="Calibri"/>
                <a:buNone/>
              </a:pPr>
              <a:r>
                <a:rPr b="1" i="0" lang="en-GB" sz="598" u="none" cap="none" strike="noStrike">
                  <a:solidFill>
                    <a:srgbClr val="241509"/>
                  </a:solidFill>
                  <a:latin typeface="Calibri"/>
                  <a:ea typeface="Calibri"/>
                  <a:cs typeface="Calibri"/>
                  <a:sym typeface="Calibri"/>
                </a:rPr>
                <a:t>Square 2, Novena</a:t>
              </a:r>
              <a:endParaRPr b="0" i="0" sz="598" u="none" cap="none" strike="noStrike">
                <a:solidFill>
                  <a:srgbClr val="000000"/>
                </a:solidFill>
                <a:latin typeface="Calibri"/>
                <a:ea typeface="Calibri"/>
                <a:cs typeface="Calibri"/>
                <a:sym typeface="Calibri"/>
              </a:endParaRPr>
            </a:p>
          </p:txBody>
        </p:sp>
        <p:sp>
          <p:nvSpPr>
            <p:cNvPr id="239" name="Google Shape;239;p20"/>
            <p:cNvSpPr/>
            <p:nvPr/>
          </p:nvSpPr>
          <p:spPr>
            <a:xfrm>
              <a:off x="1113585" y="3983932"/>
              <a:ext cx="741000" cy="133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52F"/>
                </a:buClr>
                <a:buSzPts val="498"/>
                <a:buFont typeface="Calibri"/>
                <a:buNone/>
              </a:pPr>
              <a:r>
                <a:rPr b="0" i="0" lang="en-GB" sz="498" u="none" cap="none" strike="noStrike">
                  <a:solidFill>
                    <a:srgbClr val="B4552F"/>
                  </a:solidFill>
                  <a:latin typeface="Calibri"/>
                  <a:ea typeface="Calibri"/>
                  <a:cs typeface="Calibri"/>
                  <a:sym typeface="Calibri"/>
                </a:rPr>
                <a:t>1.2 km  ·  Open</a:t>
              </a:r>
              <a:endParaRPr b="0" i="0" sz="498" u="none" cap="none" strike="noStrike">
                <a:solidFill>
                  <a:srgbClr val="000000"/>
                </a:solidFill>
                <a:latin typeface="Calibri"/>
                <a:ea typeface="Calibri"/>
                <a:cs typeface="Calibri"/>
                <a:sym typeface="Calibri"/>
              </a:endParaRPr>
            </a:p>
          </p:txBody>
        </p:sp>
        <p:sp>
          <p:nvSpPr>
            <p:cNvPr descr="/home/claude/otwc_deck/icons/navicon.png" id="240" name="Google Shape;240;p20"/>
            <p:cNvSpPr/>
            <p:nvPr/>
          </p:nvSpPr>
          <p:spPr>
            <a:xfrm>
              <a:off x="2145909" y="3904989"/>
              <a:ext cx="133594" cy="133594"/>
            </a:xfrm>
            <a:prstGeom prst="rect">
              <a:avLst/>
            </a:prstGeom>
            <a:noFill/>
            <a:ln>
              <a:noFill/>
            </a:ln>
          </p:spPr>
        </p:sp>
        <p:sp>
          <p:nvSpPr>
            <p:cNvPr id="241" name="Google Shape;241;p20"/>
            <p:cNvSpPr/>
            <p:nvPr/>
          </p:nvSpPr>
          <p:spPr>
            <a:xfrm>
              <a:off x="1113585" y="4220761"/>
              <a:ext cx="741000" cy="14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09"/>
                </a:buClr>
                <a:buSzPts val="598"/>
                <a:buFont typeface="Calibri"/>
                <a:buNone/>
              </a:pPr>
              <a:r>
                <a:rPr b="1" i="0" lang="en-GB" sz="598" u="none" cap="none" strike="noStrike">
                  <a:solidFill>
                    <a:srgbClr val="241509"/>
                  </a:solidFill>
                  <a:latin typeface="Calibri"/>
                  <a:ea typeface="Calibri"/>
                  <a:cs typeface="Calibri"/>
                  <a:sym typeface="Calibri"/>
                </a:rPr>
                <a:t>Jurong Point</a:t>
              </a:r>
              <a:endParaRPr b="0" i="0" sz="598" u="none" cap="none" strike="noStrike">
                <a:solidFill>
                  <a:srgbClr val="000000"/>
                </a:solidFill>
                <a:latin typeface="Calibri"/>
                <a:ea typeface="Calibri"/>
                <a:cs typeface="Calibri"/>
                <a:sym typeface="Calibri"/>
              </a:endParaRPr>
            </a:p>
          </p:txBody>
        </p:sp>
        <p:sp>
          <p:nvSpPr>
            <p:cNvPr id="242" name="Google Shape;242;p20"/>
            <p:cNvSpPr/>
            <p:nvPr/>
          </p:nvSpPr>
          <p:spPr>
            <a:xfrm>
              <a:off x="737090" y="4008222"/>
              <a:ext cx="1652100" cy="333900"/>
            </a:xfrm>
            <a:prstGeom prst="rect">
              <a:avLst/>
            </a:prstGeom>
            <a:solidFill>
              <a:srgbClr val="FFFFFF"/>
            </a:solidFill>
            <a:ln cap="flat" cmpd="sng" w="6325">
              <a:solidFill>
                <a:srgbClr val="E4D8C4"/>
              </a:solidFill>
              <a:prstDash val="solid"/>
              <a:round/>
              <a:headEnd len="sm" w="sm" type="none"/>
              <a:tailEnd len="sm" w="sm" type="none"/>
            </a:ln>
          </p:spPr>
          <p:txBody>
            <a:bodyPr anchorCtr="0" anchor="ctr" bIns="60725" lIns="60725" spcFirstLastPara="1" rIns="60725" wrap="square" tIns="60725">
              <a:noAutofit/>
            </a:bodyPr>
            <a:lstStyle/>
            <a:p>
              <a:pPr indent="0" lvl="0" marL="0" rtl="0" algn="l">
                <a:spcBef>
                  <a:spcPts val="0"/>
                </a:spcBef>
                <a:spcAft>
                  <a:spcPts val="0"/>
                </a:spcAft>
                <a:buNone/>
              </a:pPr>
              <a:r>
                <a:t/>
              </a:r>
              <a:endParaRPr/>
            </a:p>
          </p:txBody>
        </p:sp>
        <p:sp>
          <p:nvSpPr>
            <p:cNvPr descr="/home/claude/otwc_deck/icons/home.png" id="243" name="Google Shape;243;p20"/>
            <p:cNvSpPr/>
            <p:nvPr/>
          </p:nvSpPr>
          <p:spPr>
            <a:xfrm>
              <a:off x="864612" y="4044658"/>
              <a:ext cx="157885" cy="157885"/>
            </a:xfrm>
            <a:prstGeom prst="rect">
              <a:avLst/>
            </a:prstGeom>
            <a:noFill/>
            <a:ln>
              <a:noFill/>
            </a:ln>
          </p:spPr>
        </p:sp>
        <p:sp>
          <p:nvSpPr>
            <p:cNvPr id="244" name="Google Shape;244;p20"/>
            <p:cNvSpPr/>
            <p:nvPr/>
          </p:nvSpPr>
          <p:spPr>
            <a:xfrm>
              <a:off x="737090" y="4208616"/>
              <a:ext cx="412800" cy="121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B78"/>
                </a:buClr>
                <a:buSzPts val="498"/>
                <a:buFont typeface="Calibri"/>
                <a:buNone/>
              </a:pPr>
              <a:r>
                <a:rPr b="0" i="0" lang="en-GB" sz="498" u="none" cap="none" strike="noStrike">
                  <a:solidFill>
                    <a:srgbClr val="9A8B78"/>
                  </a:solidFill>
                  <a:latin typeface="Calibri"/>
                  <a:ea typeface="Calibri"/>
                  <a:cs typeface="Calibri"/>
                  <a:sym typeface="Calibri"/>
                </a:rPr>
                <a:t>Home</a:t>
              </a:r>
              <a:endParaRPr b="0" i="0" sz="498" u="none" cap="none" strike="noStrike">
                <a:solidFill>
                  <a:srgbClr val="000000"/>
                </a:solidFill>
                <a:latin typeface="Calibri"/>
                <a:ea typeface="Calibri"/>
                <a:cs typeface="Calibri"/>
                <a:sym typeface="Calibri"/>
              </a:endParaRPr>
            </a:p>
          </p:txBody>
        </p:sp>
        <p:sp>
          <p:nvSpPr>
            <p:cNvPr descr="/home/claude/otwc_deck/icons/search.png" id="245" name="Google Shape;245;p20"/>
            <p:cNvSpPr/>
            <p:nvPr/>
          </p:nvSpPr>
          <p:spPr>
            <a:xfrm>
              <a:off x="1277542" y="4044658"/>
              <a:ext cx="157885" cy="157885"/>
            </a:xfrm>
            <a:prstGeom prst="rect">
              <a:avLst/>
            </a:prstGeom>
            <a:noFill/>
            <a:ln>
              <a:noFill/>
            </a:ln>
          </p:spPr>
        </p:sp>
        <p:sp>
          <p:nvSpPr>
            <p:cNvPr id="246" name="Google Shape;246;p20"/>
            <p:cNvSpPr/>
            <p:nvPr/>
          </p:nvSpPr>
          <p:spPr>
            <a:xfrm>
              <a:off x="1150020" y="4208616"/>
              <a:ext cx="412800" cy="121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B78"/>
                </a:buClr>
                <a:buSzPts val="498"/>
                <a:buFont typeface="Calibri"/>
                <a:buNone/>
              </a:pPr>
              <a:r>
                <a:rPr lang="en-GB" sz="498">
                  <a:solidFill>
                    <a:srgbClr val="9A8B78"/>
                  </a:solidFill>
                  <a:latin typeface="Calibri"/>
                  <a:ea typeface="Calibri"/>
                  <a:cs typeface="Calibri"/>
                  <a:sym typeface="Calibri"/>
                </a:rPr>
                <a:t>Pulse</a:t>
              </a:r>
              <a:endParaRPr b="0" i="0" sz="498" u="none" cap="none" strike="noStrike">
                <a:solidFill>
                  <a:srgbClr val="000000"/>
                </a:solidFill>
                <a:latin typeface="Calibri"/>
                <a:ea typeface="Calibri"/>
                <a:cs typeface="Calibri"/>
                <a:sym typeface="Calibri"/>
              </a:endParaRPr>
            </a:p>
          </p:txBody>
        </p:sp>
        <p:sp>
          <p:nvSpPr>
            <p:cNvPr descr="/home/claude/otwc_deck/icons/pin.png" id="247" name="Google Shape;247;p20"/>
            <p:cNvSpPr/>
            <p:nvPr/>
          </p:nvSpPr>
          <p:spPr>
            <a:xfrm>
              <a:off x="1690472" y="4044658"/>
              <a:ext cx="157885" cy="157885"/>
            </a:xfrm>
            <a:prstGeom prst="rect">
              <a:avLst/>
            </a:prstGeom>
            <a:noFill/>
            <a:ln>
              <a:noFill/>
            </a:ln>
          </p:spPr>
        </p:sp>
        <p:sp>
          <p:nvSpPr>
            <p:cNvPr id="248" name="Google Shape;248;p20"/>
            <p:cNvSpPr/>
            <p:nvPr/>
          </p:nvSpPr>
          <p:spPr>
            <a:xfrm>
              <a:off x="1562949" y="4208616"/>
              <a:ext cx="412800" cy="121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4552F"/>
                </a:buClr>
                <a:buSzPts val="498"/>
                <a:buFont typeface="Calibri"/>
                <a:buNone/>
              </a:pPr>
              <a:r>
                <a:rPr b="1" i="0" lang="en-GB" sz="498" u="none" cap="none" strike="noStrike">
                  <a:solidFill>
                    <a:srgbClr val="B4552F"/>
                  </a:solidFill>
                  <a:latin typeface="Calibri"/>
                  <a:ea typeface="Calibri"/>
                  <a:cs typeface="Calibri"/>
                  <a:sym typeface="Calibri"/>
                </a:rPr>
                <a:t>Outlets</a:t>
              </a:r>
              <a:endParaRPr b="0" i="0" sz="498" u="none" cap="none" strike="noStrike">
                <a:solidFill>
                  <a:srgbClr val="000000"/>
                </a:solidFill>
                <a:latin typeface="Calibri"/>
                <a:ea typeface="Calibri"/>
                <a:cs typeface="Calibri"/>
                <a:sym typeface="Calibri"/>
              </a:endParaRPr>
            </a:p>
          </p:txBody>
        </p:sp>
        <p:sp>
          <p:nvSpPr>
            <p:cNvPr descr="/home/claude/otwc_deck/icons/crown.png" id="249" name="Google Shape;249;p20"/>
            <p:cNvSpPr/>
            <p:nvPr/>
          </p:nvSpPr>
          <p:spPr>
            <a:xfrm>
              <a:off x="2103402" y="4044658"/>
              <a:ext cx="157885" cy="157885"/>
            </a:xfrm>
            <a:prstGeom prst="rect">
              <a:avLst/>
            </a:prstGeom>
            <a:noFill/>
            <a:ln>
              <a:noFill/>
            </a:ln>
          </p:spPr>
        </p:sp>
        <p:sp>
          <p:nvSpPr>
            <p:cNvPr id="250" name="Google Shape;250;p20"/>
            <p:cNvSpPr/>
            <p:nvPr/>
          </p:nvSpPr>
          <p:spPr>
            <a:xfrm>
              <a:off x="1975879" y="4208616"/>
              <a:ext cx="412800" cy="121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B78"/>
                </a:buClr>
                <a:buSzPts val="498"/>
                <a:buFont typeface="Calibri"/>
                <a:buNone/>
              </a:pPr>
              <a:r>
                <a:rPr b="0" i="0" lang="en-GB" sz="498" u="none" cap="none" strike="noStrike">
                  <a:solidFill>
                    <a:srgbClr val="9A8B78"/>
                  </a:solidFill>
                  <a:latin typeface="Calibri"/>
                  <a:ea typeface="Calibri"/>
                  <a:cs typeface="Calibri"/>
                  <a:sym typeface="Calibri"/>
                </a:rPr>
                <a:t>Account</a:t>
              </a:r>
              <a:endParaRPr b="0" i="0" sz="498" u="none" cap="none" strike="noStrike">
                <a:solidFill>
                  <a:srgbClr val="000000"/>
                </a:solidFill>
                <a:latin typeface="Calibri"/>
                <a:ea typeface="Calibri"/>
                <a:cs typeface="Calibri"/>
                <a:sym typeface="Calibri"/>
              </a:endParaRPr>
            </a:p>
          </p:txBody>
        </p:sp>
        <p:pic>
          <p:nvPicPr>
            <p:cNvPr id="251" name="Google Shape;251;p20" title="logo.png"/>
            <p:cNvPicPr preferRelativeResize="0"/>
            <p:nvPr/>
          </p:nvPicPr>
          <p:blipFill>
            <a:blip r:embed="rId3">
              <a:alphaModFix/>
            </a:blip>
            <a:stretch>
              <a:fillRect/>
            </a:stretch>
          </p:blipFill>
          <p:spPr>
            <a:xfrm>
              <a:off x="1435426" y="2530234"/>
              <a:ext cx="412899" cy="369042"/>
            </a:xfrm>
            <a:prstGeom prst="rect">
              <a:avLst/>
            </a:prstGeom>
            <a:noFill/>
            <a:ln>
              <a:noFill/>
            </a:ln>
          </p:spPr>
        </p:pic>
        <p:pic>
          <p:nvPicPr>
            <p:cNvPr id="252" name="Google Shape;252;p20" title="logo.png"/>
            <p:cNvPicPr preferRelativeResize="0"/>
            <p:nvPr/>
          </p:nvPicPr>
          <p:blipFill>
            <a:blip r:embed="rId3">
              <a:alphaModFix/>
            </a:blip>
            <a:stretch>
              <a:fillRect/>
            </a:stretch>
          </p:blipFill>
          <p:spPr>
            <a:xfrm>
              <a:off x="1046776" y="2815648"/>
              <a:ext cx="412899" cy="369042"/>
            </a:xfrm>
            <a:prstGeom prst="rect">
              <a:avLst/>
            </a:prstGeom>
            <a:noFill/>
            <a:ln>
              <a:noFill/>
            </a:ln>
          </p:spPr>
        </p:pic>
        <p:pic>
          <p:nvPicPr>
            <p:cNvPr id="253" name="Google Shape;253;p20" title="logo.png"/>
            <p:cNvPicPr preferRelativeResize="0"/>
            <p:nvPr/>
          </p:nvPicPr>
          <p:blipFill>
            <a:blip r:embed="rId3">
              <a:alphaModFix/>
            </a:blip>
            <a:stretch>
              <a:fillRect/>
            </a:stretch>
          </p:blipFill>
          <p:spPr>
            <a:xfrm>
              <a:off x="1939492" y="2967448"/>
              <a:ext cx="412899" cy="369042"/>
            </a:xfrm>
            <a:prstGeom prst="rect">
              <a:avLst/>
            </a:prstGeom>
            <a:noFill/>
            <a:ln>
              <a:noFill/>
            </a:ln>
          </p:spPr>
        </p:pic>
        <p:pic>
          <p:nvPicPr>
            <p:cNvPr id="254" name="Google Shape;254;p20" title="logo.png"/>
            <p:cNvPicPr preferRelativeResize="0"/>
            <p:nvPr/>
          </p:nvPicPr>
          <p:blipFill>
            <a:blip r:embed="rId3">
              <a:alphaModFix/>
            </a:blip>
            <a:stretch>
              <a:fillRect/>
            </a:stretch>
          </p:blipFill>
          <p:spPr>
            <a:xfrm>
              <a:off x="1016409" y="2263040"/>
              <a:ext cx="412899" cy="369042"/>
            </a:xfrm>
            <a:prstGeom prst="rect">
              <a:avLst/>
            </a:prstGeom>
            <a:noFill/>
            <a:ln>
              <a:noFill/>
            </a:ln>
          </p:spPr>
        </p:pic>
        <p:sp>
          <p:nvSpPr>
            <p:cNvPr id="255" name="Google Shape;255;p20"/>
            <p:cNvSpPr txBox="1"/>
            <p:nvPr/>
          </p:nvSpPr>
          <p:spPr>
            <a:xfrm>
              <a:off x="1320056" y="2612344"/>
              <a:ext cx="486000" cy="381000"/>
            </a:xfrm>
            <a:prstGeom prst="rect">
              <a:avLst/>
            </a:prstGeom>
            <a:noFill/>
            <a:ln>
              <a:noFill/>
            </a:ln>
          </p:spPr>
          <p:txBody>
            <a:bodyPr anchorCtr="0" anchor="t" bIns="79900" lIns="79900" spcFirstLastPara="1" rIns="79900" wrap="square" tIns="79900">
              <a:spAutoFit/>
            </a:bodyPr>
            <a:lstStyle/>
            <a:p>
              <a:pPr indent="0" lvl="0" marL="0" rtl="0" algn="l">
                <a:spcBef>
                  <a:spcPts val="0"/>
                </a:spcBef>
                <a:spcAft>
                  <a:spcPts val="0"/>
                </a:spcAft>
                <a:buNone/>
              </a:pPr>
              <a:r>
                <a:rPr lang="en-GB" sz="1426">
                  <a:solidFill>
                    <a:schemeClr val="lt1"/>
                  </a:solidFill>
                  <a:latin typeface="Calibri"/>
                  <a:ea typeface="Calibri"/>
                  <a:cs typeface="Calibri"/>
                  <a:sym typeface="Calibri"/>
                </a:rPr>
                <a:t>📍</a:t>
              </a:r>
              <a:endParaRPr sz="2185"/>
            </a:p>
          </p:txBody>
        </p:sp>
      </p:grpSp>
      <p:sp>
        <p:nvSpPr>
          <p:cNvPr id="256" name="Google Shape;256;p20"/>
          <p:cNvSpPr txBox="1"/>
          <p:nvPr>
            <p:ph type="title"/>
          </p:nvPr>
        </p:nvSpPr>
        <p:spPr>
          <a:xfrm>
            <a:off x="348725" y="4517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latin typeface="Cambria"/>
                <a:ea typeface="Cambria"/>
                <a:cs typeface="Cambria"/>
                <a:sym typeface="Cambria"/>
              </a:rPr>
              <a:t>Store Locator &amp; Order Pick Ups</a:t>
            </a:r>
            <a:endParaRPr b="1">
              <a:latin typeface="Cambria"/>
              <a:ea typeface="Cambria"/>
              <a:cs typeface="Cambria"/>
              <a:sym typeface="Cambria"/>
            </a:endParaRPr>
          </a:p>
        </p:txBody>
      </p:sp>
      <p:sp>
        <p:nvSpPr>
          <p:cNvPr id="257" name="Google Shape;257;p20"/>
          <p:cNvSpPr/>
          <p:nvPr/>
        </p:nvSpPr>
        <p:spPr>
          <a:xfrm>
            <a:off x="4122200" y="1998200"/>
            <a:ext cx="157800" cy="208500"/>
          </a:xfrm>
          <a:prstGeom prst="downArrow">
            <a:avLst>
              <a:gd fmla="val 50000" name="adj1"/>
              <a:gd fmla="val 50000" name="adj2"/>
            </a:avLst>
          </a:prstGeom>
          <a:solidFill>
            <a:srgbClr val="5A4632"/>
          </a:solidFill>
          <a:ln cap="flat" cmpd="sng" w="9525">
            <a:solidFill>
              <a:srgbClr val="5A46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swald"/>
              <a:ea typeface="Oswald"/>
              <a:cs typeface="Oswald"/>
              <a:sym typeface="Oswald"/>
            </a:endParaRPr>
          </a:p>
        </p:txBody>
      </p:sp>
      <p:sp>
        <p:nvSpPr>
          <p:cNvPr id="258" name="Google Shape;258;p20"/>
          <p:cNvSpPr/>
          <p:nvPr/>
        </p:nvSpPr>
        <p:spPr>
          <a:xfrm>
            <a:off x="4122200" y="2587500"/>
            <a:ext cx="157800" cy="208500"/>
          </a:xfrm>
          <a:prstGeom prst="downArrow">
            <a:avLst>
              <a:gd fmla="val 50000" name="adj1"/>
              <a:gd fmla="val 50000" name="adj2"/>
            </a:avLst>
          </a:prstGeom>
          <a:solidFill>
            <a:srgbClr val="5A4632"/>
          </a:solidFill>
          <a:ln cap="flat" cmpd="sng" w="9525">
            <a:solidFill>
              <a:srgbClr val="5A46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swald"/>
              <a:ea typeface="Oswald"/>
              <a:cs typeface="Oswald"/>
              <a:sym typeface="Oswald"/>
            </a:endParaRPr>
          </a:p>
        </p:txBody>
      </p:sp>
      <p:sp>
        <p:nvSpPr>
          <p:cNvPr id="259" name="Google Shape;259;p20"/>
          <p:cNvSpPr/>
          <p:nvPr/>
        </p:nvSpPr>
        <p:spPr>
          <a:xfrm>
            <a:off x="4122200" y="3176800"/>
            <a:ext cx="157800" cy="208500"/>
          </a:xfrm>
          <a:prstGeom prst="downArrow">
            <a:avLst>
              <a:gd fmla="val 50000" name="adj1"/>
              <a:gd fmla="val 50000" name="adj2"/>
            </a:avLst>
          </a:prstGeom>
          <a:solidFill>
            <a:srgbClr val="5A4632"/>
          </a:solidFill>
          <a:ln cap="flat" cmpd="sng" w="9525">
            <a:solidFill>
              <a:srgbClr val="5A46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swald"/>
              <a:ea typeface="Oswald"/>
              <a:cs typeface="Oswald"/>
              <a:sym typeface="Oswa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1"/>
          <p:cNvSpPr/>
          <p:nvPr/>
        </p:nvSpPr>
        <p:spPr>
          <a:xfrm>
            <a:off x="429430" y="177475"/>
            <a:ext cx="9144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66B"/>
              </a:buClr>
              <a:buSzPts val="1200"/>
              <a:buFont typeface="Calibri"/>
              <a:buNone/>
            </a:pPr>
            <a:r>
              <a:rPr b="1" lang="en-GB" sz="1200">
                <a:solidFill>
                  <a:srgbClr val="C9A66B"/>
                </a:solidFill>
                <a:latin typeface="Calibri"/>
                <a:ea typeface="Calibri"/>
                <a:cs typeface="Calibri"/>
                <a:sym typeface="Calibri"/>
              </a:rPr>
              <a:t>FEATURE 3</a:t>
            </a:r>
            <a:r>
              <a:rPr b="1" i="0" lang="en-GB" sz="1200" u="none" cap="none" strike="noStrike">
                <a:solidFill>
                  <a:srgbClr val="C9A66B"/>
                </a:solidFill>
                <a:latin typeface="Calibri"/>
                <a:ea typeface="Calibri"/>
                <a:cs typeface="Calibri"/>
                <a:sym typeface="Calibri"/>
              </a:rPr>
              <a:t> ·  </a:t>
            </a:r>
            <a:r>
              <a:rPr b="1" lang="en-GB" sz="1200">
                <a:solidFill>
                  <a:srgbClr val="C9A66B"/>
                </a:solidFill>
                <a:latin typeface="Calibri"/>
                <a:ea typeface="Calibri"/>
                <a:cs typeface="Calibri"/>
                <a:sym typeface="Calibri"/>
              </a:rPr>
              <a:t>SUBSCRIPTION </a:t>
            </a:r>
            <a:endParaRPr b="1" i="0" sz="1200" u="none" cap="none" strike="noStrike">
              <a:solidFill>
                <a:srgbClr val="000000"/>
              </a:solidFill>
              <a:latin typeface="Calibri"/>
              <a:ea typeface="Calibri"/>
              <a:cs typeface="Calibri"/>
              <a:sym typeface="Calibri"/>
            </a:endParaRPr>
          </a:p>
        </p:txBody>
      </p:sp>
      <p:pic>
        <p:nvPicPr>
          <p:cNvPr id="265" name="Google Shape;265;p21" title="logo.png"/>
          <p:cNvPicPr preferRelativeResize="0"/>
          <p:nvPr/>
        </p:nvPicPr>
        <p:blipFill>
          <a:blip r:embed="rId3">
            <a:alphaModFix/>
          </a:blip>
          <a:stretch>
            <a:fillRect/>
          </a:stretch>
        </p:blipFill>
        <p:spPr>
          <a:xfrm>
            <a:off x="7743638" y="59725"/>
            <a:ext cx="1304024" cy="1165525"/>
          </a:xfrm>
          <a:prstGeom prst="rect">
            <a:avLst/>
          </a:prstGeom>
          <a:noFill/>
          <a:ln>
            <a:noFill/>
          </a:ln>
        </p:spPr>
      </p:pic>
      <p:sp>
        <p:nvSpPr>
          <p:cNvPr id="266" name="Google Shape;266;p21"/>
          <p:cNvSpPr txBox="1"/>
          <p:nvPr>
            <p:ph type="title"/>
          </p:nvPr>
        </p:nvSpPr>
        <p:spPr>
          <a:xfrm>
            <a:off x="311700" y="587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latin typeface="Cambria"/>
                <a:ea typeface="Cambria"/>
                <a:cs typeface="Cambria"/>
                <a:sym typeface="Cambria"/>
              </a:rPr>
              <a:t>Coffee Subscription Programme</a:t>
            </a:r>
            <a:endParaRPr b="1">
              <a:latin typeface="Cambria"/>
              <a:ea typeface="Cambria"/>
              <a:cs typeface="Cambria"/>
              <a:sym typeface="Cambria"/>
            </a:endParaRPr>
          </a:p>
        </p:txBody>
      </p:sp>
      <p:sp>
        <p:nvSpPr>
          <p:cNvPr id="267" name="Google Shape;267;p21"/>
          <p:cNvSpPr/>
          <p:nvPr/>
        </p:nvSpPr>
        <p:spPr>
          <a:xfrm>
            <a:off x="698814" y="1357348"/>
            <a:ext cx="1789884" cy="3191725"/>
          </a:xfrm>
          <a:prstGeom prst="roundRect">
            <a:avLst>
              <a:gd fmla="val 9333" name="adj"/>
            </a:avLst>
          </a:prstGeom>
          <a:solidFill>
            <a:srgbClr val="3B2417"/>
          </a:solidFill>
          <a:ln cap="flat" cmpd="sng" w="16575">
            <a:solidFill>
              <a:srgbClr val="C9A66B"/>
            </a:solidFill>
            <a:prstDash val="solid"/>
            <a:round/>
            <a:headEnd len="sm" w="sm" type="none"/>
            <a:tailEnd len="sm" w="sm" type="none"/>
          </a:ln>
          <a:effectLst>
            <a:outerShdw blurRad="99433" rotWithShape="0" algn="bl" dir="5400000" dist="41430">
              <a:srgbClr val="3B2417">
                <a:alpha val="34900"/>
              </a:srgbClr>
            </a:outerShdw>
          </a:effectLst>
        </p:spPr>
        <p:txBody>
          <a:bodyPr anchorCtr="0" anchor="ctr" bIns="59650" lIns="59650" spcFirstLastPara="1" rIns="59650" wrap="square" tIns="59650">
            <a:noAutofit/>
          </a:bodyPr>
          <a:lstStyle/>
          <a:p>
            <a:pPr indent="0" lvl="0" marL="0" rtl="0" algn="l">
              <a:spcBef>
                <a:spcPts val="0"/>
              </a:spcBef>
              <a:spcAft>
                <a:spcPts val="0"/>
              </a:spcAft>
              <a:buNone/>
            </a:pPr>
            <a:r>
              <a:t/>
            </a:r>
            <a:endParaRPr/>
          </a:p>
        </p:txBody>
      </p:sp>
      <p:sp>
        <p:nvSpPr>
          <p:cNvPr id="268" name="Google Shape;268;p21"/>
          <p:cNvSpPr/>
          <p:nvPr/>
        </p:nvSpPr>
        <p:spPr>
          <a:xfrm>
            <a:off x="782337" y="1595985"/>
            <a:ext cx="1622695" cy="2762056"/>
          </a:xfrm>
          <a:prstGeom prst="roundRect">
            <a:avLst>
              <a:gd fmla="val 4412" name="adj"/>
            </a:avLst>
          </a:prstGeom>
          <a:solidFill>
            <a:srgbClr val="FBF7F0"/>
          </a:solidFill>
          <a:ln>
            <a:noFill/>
          </a:ln>
        </p:spPr>
        <p:txBody>
          <a:bodyPr anchorCtr="0" anchor="ctr" bIns="59650" lIns="59650" spcFirstLastPara="1" rIns="59650" wrap="square" tIns="59650">
            <a:noAutofit/>
          </a:bodyPr>
          <a:lstStyle/>
          <a:p>
            <a:pPr indent="0" lvl="0" marL="0" rtl="0" algn="l">
              <a:spcBef>
                <a:spcPts val="0"/>
              </a:spcBef>
              <a:spcAft>
                <a:spcPts val="0"/>
              </a:spcAft>
              <a:buNone/>
            </a:pPr>
            <a:r>
              <a:t/>
            </a:r>
            <a:endParaRPr/>
          </a:p>
        </p:txBody>
      </p:sp>
      <p:sp>
        <p:nvSpPr>
          <p:cNvPr id="269" name="Google Shape;269;p21"/>
          <p:cNvSpPr/>
          <p:nvPr/>
        </p:nvSpPr>
        <p:spPr>
          <a:xfrm>
            <a:off x="1325234" y="1428939"/>
            <a:ext cx="537000" cy="77402"/>
          </a:xfrm>
          <a:prstGeom prst="roundRect">
            <a:avLst>
              <a:gd fmla="val 46154" name="adj"/>
            </a:avLst>
          </a:prstGeom>
          <a:solidFill>
            <a:srgbClr val="3B2417"/>
          </a:solidFill>
          <a:ln cap="flat" cmpd="sng" w="6225">
            <a:solidFill>
              <a:srgbClr val="5A4632"/>
            </a:solidFill>
            <a:prstDash val="solid"/>
            <a:round/>
            <a:headEnd len="sm" w="sm" type="none"/>
            <a:tailEnd len="sm" w="sm" type="none"/>
          </a:ln>
        </p:spPr>
        <p:txBody>
          <a:bodyPr anchorCtr="0" anchor="ctr" bIns="59650" lIns="59650" spcFirstLastPara="1" rIns="59650" wrap="square" tIns="59650">
            <a:noAutofit/>
          </a:bodyPr>
          <a:lstStyle/>
          <a:p>
            <a:pPr indent="0" lvl="0" marL="0" rtl="0" algn="l">
              <a:spcBef>
                <a:spcPts val="0"/>
              </a:spcBef>
              <a:spcAft>
                <a:spcPts val="0"/>
              </a:spcAft>
              <a:buNone/>
            </a:pPr>
            <a:r>
              <a:t/>
            </a:r>
            <a:endParaRPr/>
          </a:p>
        </p:txBody>
      </p:sp>
      <p:sp>
        <p:nvSpPr>
          <p:cNvPr id="270" name="Google Shape;270;p21"/>
          <p:cNvSpPr/>
          <p:nvPr/>
        </p:nvSpPr>
        <p:spPr>
          <a:xfrm>
            <a:off x="1384893" y="4417869"/>
            <a:ext cx="417628" cy="35777"/>
          </a:xfrm>
          <a:prstGeom prst="roundRect">
            <a:avLst>
              <a:gd fmla="val 50000" name="adj"/>
            </a:avLst>
          </a:prstGeom>
          <a:solidFill>
            <a:srgbClr val="5A4632"/>
          </a:solidFill>
          <a:ln>
            <a:noFill/>
          </a:ln>
        </p:spPr>
        <p:txBody>
          <a:bodyPr anchorCtr="0" anchor="ctr" bIns="59650" lIns="59650" spcFirstLastPara="1" rIns="59650" wrap="square" tIns="59650">
            <a:noAutofit/>
          </a:bodyPr>
          <a:lstStyle/>
          <a:p>
            <a:pPr indent="0" lvl="0" marL="0" rtl="0" algn="l">
              <a:spcBef>
                <a:spcPts val="0"/>
              </a:spcBef>
              <a:spcAft>
                <a:spcPts val="0"/>
              </a:spcAft>
              <a:buNone/>
            </a:pPr>
            <a:r>
              <a:t/>
            </a:r>
            <a:endParaRPr/>
          </a:p>
        </p:txBody>
      </p:sp>
      <p:sp>
        <p:nvSpPr>
          <p:cNvPr id="271" name="Google Shape;271;p21"/>
          <p:cNvSpPr/>
          <p:nvPr/>
        </p:nvSpPr>
        <p:spPr>
          <a:xfrm>
            <a:off x="853928" y="1631781"/>
            <a:ext cx="477142" cy="1314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09"/>
              </a:buClr>
              <a:buSzPts val="587"/>
              <a:buFont typeface="Calibri"/>
              <a:buNone/>
            </a:pPr>
            <a:r>
              <a:rPr b="1" i="0" lang="en-GB" sz="587" u="none" cap="none" strike="noStrike">
                <a:solidFill>
                  <a:srgbClr val="241509"/>
                </a:solidFill>
                <a:latin typeface="Calibri"/>
                <a:ea typeface="Calibri"/>
                <a:cs typeface="Calibri"/>
                <a:sym typeface="Calibri"/>
              </a:rPr>
              <a:t>9:41</a:t>
            </a:r>
            <a:endParaRPr b="0" i="0" sz="587" u="none" cap="none" strike="noStrike">
              <a:solidFill>
                <a:srgbClr val="000000"/>
              </a:solidFill>
              <a:latin typeface="Calibri"/>
              <a:ea typeface="Calibri"/>
              <a:cs typeface="Calibri"/>
              <a:sym typeface="Calibri"/>
            </a:endParaRPr>
          </a:p>
        </p:txBody>
      </p:sp>
      <p:sp>
        <p:nvSpPr>
          <p:cNvPr id="272" name="Google Shape;272;p21"/>
          <p:cNvSpPr/>
          <p:nvPr/>
        </p:nvSpPr>
        <p:spPr>
          <a:xfrm>
            <a:off x="1987448" y="1631781"/>
            <a:ext cx="358114" cy="13141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41509"/>
              </a:buClr>
              <a:buSzPts val="587"/>
              <a:buFont typeface="Calibri"/>
              <a:buNone/>
            </a:pPr>
            <a:r>
              <a:rPr b="1" i="0" lang="en-GB" sz="587" u="none" cap="none" strike="noStrike">
                <a:solidFill>
                  <a:srgbClr val="241509"/>
                </a:solidFill>
                <a:latin typeface="Calibri"/>
                <a:ea typeface="Calibri"/>
                <a:cs typeface="Calibri"/>
                <a:sym typeface="Calibri"/>
              </a:rPr>
              <a:t>100%</a:t>
            </a:r>
            <a:endParaRPr b="0" i="0" sz="587" u="none" cap="none" strike="noStrike">
              <a:solidFill>
                <a:srgbClr val="000000"/>
              </a:solidFill>
              <a:latin typeface="Calibri"/>
              <a:ea typeface="Calibri"/>
              <a:cs typeface="Calibri"/>
              <a:sym typeface="Calibri"/>
            </a:endParaRPr>
          </a:p>
        </p:txBody>
      </p:sp>
      <p:sp>
        <p:nvSpPr>
          <p:cNvPr id="273" name="Google Shape;273;p21"/>
          <p:cNvSpPr/>
          <p:nvPr/>
        </p:nvSpPr>
        <p:spPr>
          <a:xfrm>
            <a:off x="782337" y="1774963"/>
            <a:ext cx="1622695" cy="298257"/>
          </a:xfrm>
          <a:prstGeom prst="rect">
            <a:avLst/>
          </a:prstGeom>
          <a:solidFill>
            <a:srgbClr val="3B2417"/>
          </a:solidFill>
          <a:ln>
            <a:noFill/>
          </a:ln>
        </p:spPr>
        <p:txBody>
          <a:bodyPr anchorCtr="0" anchor="ctr" bIns="59650" lIns="59650" spcFirstLastPara="1" rIns="59650" wrap="square" tIns="59650">
            <a:noAutofit/>
          </a:bodyPr>
          <a:lstStyle/>
          <a:p>
            <a:pPr indent="0" lvl="0" marL="0" rtl="0" algn="l">
              <a:spcBef>
                <a:spcPts val="0"/>
              </a:spcBef>
              <a:spcAft>
                <a:spcPts val="0"/>
              </a:spcAft>
              <a:buNone/>
            </a:pPr>
            <a:r>
              <a:t/>
            </a:r>
            <a:endParaRPr/>
          </a:p>
        </p:txBody>
      </p:sp>
      <p:sp>
        <p:nvSpPr>
          <p:cNvPr id="274" name="Google Shape;274;p21"/>
          <p:cNvSpPr/>
          <p:nvPr/>
        </p:nvSpPr>
        <p:spPr>
          <a:xfrm>
            <a:off x="782262" y="1777913"/>
            <a:ext cx="1622700" cy="298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81"/>
              <a:buFont typeface="Cambria"/>
              <a:buNone/>
            </a:pPr>
            <a:r>
              <a:rPr b="1" lang="en-GB" sz="881">
                <a:solidFill>
                  <a:srgbClr val="FFFFFF"/>
                </a:solidFill>
                <a:latin typeface="Cambria"/>
                <a:ea typeface="Cambria"/>
                <a:cs typeface="Cambria"/>
                <a:sym typeface="Cambria"/>
              </a:rPr>
              <a:t>Subscription</a:t>
            </a:r>
            <a:endParaRPr b="0" i="0" sz="881" u="none" cap="none" strike="noStrike">
              <a:solidFill>
                <a:srgbClr val="000000"/>
              </a:solidFill>
              <a:latin typeface="Calibri"/>
              <a:ea typeface="Calibri"/>
              <a:cs typeface="Calibri"/>
              <a:sym typeface="Calibri"/>
            </a:endParaRPr>
          </a:p>
        </p:txBody>
      </p:sp>
      <p:sp>
        <p:nvSpPr>
          <p:cNvPr id="275" name="Google Shape;275;p21"/>
          <p:cNvSpPr/>
          <p:nvPr/>
        </p:nvSpPr>
        <p:spPr>
          <a:xfrm>
            <a:off x="871825" y="2144851"/>
            <a:ext cx="1443810" cy="369811"/>
          </a:xfrm>
          <a:prstGeom prst="roundRect">
            <a:avLst>
              <a:gd fmla="val 12903" name="adj"/>
            </a:avLst>
          </a:prstGeom>
          <a:solidFill>
            <a:srgbClr val="C9A66B"/>
          </a:solidFill>
          <a:ln>
            <a:noFill/>
          </a:ln>
        </p:spPr>
        <p:txBody>
          <a:bodyPr anchorCtr="0" anchor="ctr" bIns="59650" lIns="59650" spcFirstLastPara="1" rIns="59650" wrap="square" tIns="59650">
            <a:noAutofit/>
          </a:bodyPr>
          <a:lstStyle/>
          <a:p>
            <a:pPr indent="0" lvl="0" marL="0" rtl="0" algn="l">
              <a:spcBef>
                <a:spcPts val="0"/>
              </a:spcBef>
              <a:spcAft>
                <a:spcPts val="0"/>
              </a:spcAft>
              <a:buNone/>
            </a:pPr>
            <a:r>
              <a:t/>
            </a:r>
            <a:endParaRPr/>
          </a:p>
        </p:txBody>
      </p:sp>
      <p:sp>
        <p:nvSpPr>
          <p:cNvPr id="276" name="Google Shape;276;p21"/>
          <p:cNvSpPr/>
          <p:nvPr/>
        </p:nvSpPr>
        <p:spPr>
          <a:xfrm>
            <a:off x="1199950" y="2192578"/>
            <a:ext cx="1026182" cy="155149"/>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2417"/>
              </a:buClr>
              <a:buSzPts val="587"/>
              <a:buFont typeface="Calibri"/>
              <a:buNone/>
            </a:pPr>
            <a:r>
              <a:rPr b="1" i="0" lang="en-GB" sz="587" u="none" cap="none" strike="noStrike">
                <a:solidFill>
                  <a:srgbClr val="3B2417"/>
                </a:solidFill>
                <a:latin typeface="Calibri"/>
                <a:ea typeface="Calibri"/>
                <a:cs typeface="Calibri"/>
                <a:sym typeface="Calibri"/>
              </a:rPr>
              <a:t>Never run out at home</a:t>
            </a:r>
            <a:endParaRPr b="0" i="0" sz="587" u="none" cap="none" strike="noStrike">
              <a:solidFill>
                <a:srgbClr val="000000"/>
              </a:solidFill>
              <a:latin typeface="Calibri"/>
              <a:ea typeface="Calibri"/>
              <a:cs typeface="Calibri"/>
              <a:sym typeface="Calibri"/>
            </a:endParaRPr>
          </a:p>
        </p:txBody>
      </p:sp>
      <p:sp>
        <p:nvSpPr>
          <p:cNvPr id="277" name="Google Shape;277;p21"/>
          <p:cNvSpPr/>
          <p:nvPr/>
        </p:nvSpPr>
        <p:spPr>
          <a:xfrm>
            <a:off x="1199950" y="2347692"/>
            <a:ext cx="1026182" cy="1314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4632"/>
              </a:buClr>
              <a:buSzPts val="522"/>
              <a:buFont typeface="Calibri"/>
              <a:buNone/>
            </a:pPr>
            <a:r>
              <a:rPr b="0" i="0" lang="en-GB" sz="522" u="none" cap="none" strike="noStrike">
                <a:solidFill>
                  <a:srgbClr val="5A4632"/>
                </a:solidFill>
                <a:latin typeface="Calibri"/>
                <a:ea typeface="Calibri"/>
                <a:cs typeface="Calibri"/>
                <a:sym typeface="Calibri"/>
              </a:rPr>
              <a:t>Save 15% on every delivery</a:t>
            </a:r>
            <a:endParaRPr b="0" i="0" sz="522" u="none" cap="none" strike="noStrike">
              <a:solidFill>
                <a:srgbClr val="000000"/>
              </a:solidFill>
              <a:latin typeface="Calibri"/>
              <a:ea typeface="Calibri"/>
              <a:cs typeface="Calibri"/>
              <a:sym typeface="Calibri"/>
            </a:endParaRPr>
          </a:p>
        </p:txBody>
      </p:sp>
      <p:sp>
        <p:nvSpPr>
          <p:cNvPr id="278" name="Google Shape;278;p21"/>
          <p:cNvSpPr/>
          <p:nvPr/>
        </p:nvSpPr>
        <p:spPr>
          <a:xfrm>
            <a:off x="871825" y="2610193"/>
            <a:ext cx="1443810" cy="11937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8B78"/>
              </a:buClr>
              <a:buSzPts val="522"/>
              <a:buFont typeface="Calibri"/>
              <a:buNone/>
            </a:pPr>
            <a:r>
              <a:rPr b="1" i="0" lang="en-GB" sz="522" u="none" cap="none" strike="noStrike">
                <a:solidFill>
                  <a:srgbClr val="9A8B78"/>
                </a:solidFill>
                <a:latin typeface="Calibri"/>
                <a:ea typeface="Calibri"/>
                <a:cs typeface="Calibri"/>
                <a:sym typeface="Calibri"/>
              </a:rPr>
              <a:t>YOUR SACHETS</a:t>
            </a:r>
            <a:endParaRPr b="0" i="0" sz="522" u="none" cap="none" strike="noStrike">
              <a:solidFill>
                <a:srgbClr val="000000"/>
              </a:solidFill>
              <a:latin typeface="Calibri"/>
              <a:ea typeface="Calibri"/>
              <a:cs typeface="Calibri"/>
              <a:sym typeface="Calibri"/>
            </a:endParaRPr>
          </a:p>
        </p:txBody>
      </p:sp>
      <p:sp>
        <p:nvSpPr>
          <p:cNvPr id="279" name="Google Shape;279;p21"/>
          <p:cNvSpPr/>
          <p:nvPr/>
        </p:nvSpPr>
        <p:spPr>
          <a:xfrm>
            <a:off x="871825" y="2765307"/>
            <a:ext cx="1443810" cy="262480"/>
          </a:xfrm>
          <a:prstGeom prst="roundRect">
            <a:avLst>
              <a:gd fmla="val 13636" name="adj"/>
            </a:avLst>
          </a:prstGeom>
          <a:solidFill>
            <a:srgbClr val="F0E8DA"/>
          </a:solidFill>
          <a:ln cap="flat" cmpd="sng" w="6225">
            <a:solidFill>
              <a:srgbClr val="E4D8C4"/>
            </a:solidFill>
            <a:prstDash val="solid"/>
            <a:round/>
            <a:headEnd len="sm" w="sm" type="none"/>
            <a:tailEnd len="sm" w="sm" type="none"/>
          </a:ln>
        </p:spPr>
        <p:txBody>
          <a:bodyPr anchorCtr="0" anchor="ctr" bIns="59650" lIns="59650" spcFirstLastPara="1" rIns="59650" wrap="square" tIns="59650">
            <a:noAutofit/>
          </a:bodyPr>
          <a:lstStyle/>
          <a:p>
            <a:pPr indent="0" lvl="0" marL="0" rtl="0" algn="l">
              <a:spcBef>
                <a:spcPts val="0"/>
              </a:spcBef>
              <a:spcAft>
                <a:spcPts val="0"/>
              </a:spcAft>
              <a:buNone/>
            </a:pPr>
            <a:r>
              <a:t/>
            </a:r>
            <a:endParaRPr/>
          </a:p>
        </p:txBody>
      </p:sp>
      <p:sp>
        <p:nvSpPr>
          <p:cNvPr id="280" name="Google Shape;280;p21"/>
          <p:cNvSpPr/>
          <p:nvPr/>
        </p:nvSpPr>
        <p:spPr>
          <a:xfrm>
            <a:off x="931484" y="2836898"/>
            <a:ext cx="119371" cy="119371"/>
          </a:xfrm>
          <a:prstGeom prst="roundRect">
            <a:avLst>
              <a:gd fmla="val 20000" name="adj"/>
            </a:avLst>
          </a:prstGeom>
          <a:solidFill>
            <a:srgbClr val="B4552F"/>
          </a:solidFill>
          <a:ln cap="flat" cmpd="sng" w="8275">
            <a:solidFill>
              <a:srgbClr val="B4552F"/>
            </a:solidFill>
            <a:prstDash val="solid"/>
            <a:round/>
            <a:headEnd len="sm" w="sm" type="none"/>
            <a:tailEnd len="sm" w="sm" type="none"/>
          </a:ln>
        </p:spPr>
        <p:txBody>
          <a:bodyPr anchorCtr="0" anchor="ctr" bIns="59650" lIns="59650" spcFirstLastPara="1" rIns="59650" wrap="square" tIns="59650">
            <a:noAutofit/>
          </a:bodyPr>
          <a:lstStyle/>
          <a:p>
            <a:pPr indent="0" lvl="0" marL="0" rtl="0" algn="l">
              <a:spcBef>
                <a:spcPts val="0"/>
              </a:spcBef>
              <a:spcAft>
                <a:spcPts val="0"/>
              </a:spcAft>
              <a:buNone/>
            </a:pPr>
            <a:r>
              <a:t/>
            </a:r>
            <a:endParaRPr/>
          </a:p>
        </p:txBody>
      </p:sp>
      <p:sp>
        <p:nvSpPr>
          <p:cNvPr descr="/home/claude/otwc_deck/icons/check.png" id="281" name="Google Shape;281;p21"/>
          <p:cNvSpPr/>
          <p:nvPr/>
        </p:nvSpPr>
        <p:spPr>
          <a:xfrm>
            <a:off x="943416" y="2848830"/>
            <a:ext cx="95455" cy="95455"/>
          </a:xfrm>
          <a:prstGeom prst="rect">
            <a:avLst/>
          </a:prstGeom>
          <a:noFill/>
          <a:ln>
            <a:noFill/>
          </a:ln>
        </p:spPr>
      </p:sp>
      <p:sp>
        <p:nvSpPr>
          <p:cNvPr id="282" name="Google Shape;282;p21"/>
          <p:cNvSpPr/>
          <p:nvPr/>
        </p:nvSpPr>
        <p:spPr>
          <a:xfrm>
            <a:off x="1110461" y="2783205"/>
            <a:ext cx="847297" cy="1314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09"/>
              </a:buClr>
              <a:buSzPts val="522"/>
              <a:buFont typeface="Calibri"/>
              <a:buNone/>
            </a:pPr>
            <a:r>
              <a:rPr b="1" i="0" lang="en-GB" sz="522" u="none" cap="none" strike="noStrike">
                <a:solidFill>
                  <a:srgbClr val="241509"/>
                </a:solidFill>
                <a:latin typeface="Calibri"/>
                <a:ea typeface="Calibri"/>
                <a:cs typeface="Calibri"/>
                <a:sym typeface="Calibri"/>
              </a:rPr>
              <a:t>Classic White Coffee</a:t>
            </a:r>
            <a:endParaRPr b="0" i="0" sz="522" u="none" cap="none" strike="noStrike">
              <a:solidFill>
                <a:srgbClr val="000000"/>
              </a:solidFill>
              <a:latin typeface="Calibri"/>
              <a:ea typeface="Calibri"/>
              <a:cs typeface="Calibri"/>
              <a:sym typeface="Calibri"/>
            </a:endParaRPr>
          </a:p>
        </p:txBody>
      </p:sp>
      <p:sp>
        <p:nvSpPr>
          <p:cNvPr id="283" name="Google Shape;283;p21"/>
          <p:cNvSpPr/>
          <p:nvPr/>
        </p:nvSpPr>
        <p:spPr>
          <a:xfrm>
            <a:off x="1110461" y="2902523"/>
            <a:ext cx="847297" cy="10733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4A3C"/>
              </a:buClr>
              <a:buSzPts val="457"/>
              <a:buFont typeface="Calibri"/>
              <a:buNone/>
            </a:pPr>
            <a:r>
              <a:rPr b="0" i="0" lang="en-GB" sz="457" u="none" cap="none" strike="noStrike">
                <a:solidFill>
                  <a:srgbClr val="5A4A3C"/>
                </a:solidFill>
                <a:latin typeface="Calibri"/>
                <a:ea typeface="Calibri"/>
                <a:cs typeface="Calibri"/>
                <a:sym typeface="Calibri"/>
              </a:rPr>
              <a:t>x2 boxes</a:t>
            </a:r>
            <a:endParaRPr b="0" i="0" sz="457" u="none" cap="none" strike="noStrike">
              <a:solidFill>
                <a:srgbClr val="000000"/>
              </a:solidFill>
              <a:latin typeface="Calibri"/>
              <a:ea typeface="Calibri"/>
              <a:cs typeface="Calibri"/>
              <a:sym typeface="Calibri"/>
            </a:endParaRPr>
          </a:p>
        </p:txBody>
      </p:sp>
      <p:sp>
        <p:nvSpPr>
          <p:cNvPr id="284" name="Google Shape;284;p21"/>
          <p:cNvSpPr/>
          <p:nvPr/>
        </p:nvSpPr>
        <p:spPr>
          <a:xfrm>
            <a:off x="871825" y="3063603"/>
            <a:ext cx="1443810" cy="262480"/>
          </a:xfrm>
          <a:prstGeom prst="roundRect">
            <a:avLst>
              <a:gd fmla="val 13636" name="adj"/>
            </a:avLst>
          </a:prstGeom>
          <a:solidFill>
            <a:srgbClr val="F0E8DA"/>
          </a:solidFill>
          <a:ln cap="flat" cmpd="sng" w="6225">
            <a:solidFill>
              <a:srgbClr val="E4D8C4"/>
            </a:solidFill>
            <a:prstDash val="solid"/>
            <a:round/>
            <a:headEnd len="sm" w="sm" type="none"/>
            <a:tailEnd len="sm" w="sm" type="none"/>
          </a:ln>
        </p:spPr>
        <p:txBody>
          <a:bodyPr anchorCtr="0" anchor="ctr" bIns="59650" lIns="59650" spcFirstLastPara="1" rIns="59650" wrap="square" tIns="59650">
            <a:noAutofit/>
          </a:bodyPr>
          <a:lstStyle/>
          <a:p>
            <a:pPr indent="0" lvl="0" marL="0" rtl="0" algn="l">
              <a:spcBef>
                <a:spcPts val="0"/>
              </a:spcBef>
              <a:spcAft>
                <a:spcPts val="0"/>
              </a:spcAft>
              <a:buNone/>
            </a:pPr>
            <a:r>
              <a:t/>
            </a:r>
            <a:endParaRPr/>
          </a:p>
        </p:txBody>
      </p:sp>
      <p:sp>
        <p:nvSpPr>
          <p:cNvPr id="285" name="Google Shape;285;p21"/>
          <p:cNvSpPr/>
          <p:nvPr/>
        </p:nvSpPr>
        <p:spPr>
          <a:xfrm>
            <a:off x="931484" y="3135195"/>
            <a:ext cx="119371" cy="119371"/>
          </a:xfrm>
          <a:prstGeom prst="roundRect">
            <a:avLst>
              <a:gd fmla="val 20000" name="adj"/>
            </a:avLst>
          </a:prstGeom>
          <a:solidFill>
            <a:srgbClr val="B4552F"/>
          </a:solidFill>
          <a:ln cap="flat" cmpd="sng" w="8275">
            <a:solidFill>
              <a:srgbClr val="B4552F"/>
            </a:solidFill>
            <a:prstDash val="solid"/>
            <a:round/>
            <a:headEnd len="sm" w="sm" type="none"/>
            <a:tailEnd len="sm" w="sm" type="none"/>
          </a:ln>
        </p:spPr>
        <p:txBody>
          <a:bodyPr anchorCtr="0" anchor="ctr" bIns="59650" lIns="59650" spcFirstLastPara="1" rIns="59650" wrap="square" tIns="59650">
            <a:noAutofit/>
          </a:bodyPr>
          <a:lstStyle/>
          <a:p>
            <a:pPr indent="0" lvl="0" marL="0" rtl="0" algn="l">
              <a:spcBef>
                <a:spcPts val="0"/>
              </a:spcBef>
              <a:spcAft>
                <a:spcPts val="0"/>
              </a:spcAft>
              <a:buNone/>
            </a:pPr>
            <a:r>
              <a:t/>
            </a:r>
            <a:endParaRPr/>
          </a:p>
        </p:txBody>
      </p:sp>
      <p:sp>
        <p:nvSpPr>
          <p:cNvPr descr="/home/claude/otwc_deck/icons/check.png" id="286" name="Google Shape;286;p21"/>
          <p:cNvSpPr/>
          <p:nvPr/>
        </p:nvSpPr>
        <p:spPr>
          <a:xfrm>
            <a:off x="943416" y="3147126"/>
            <a:ext cx="95455" cy="95455"/>
          </a:xfrm>
          <a:prstGeom prst="rect">
            <a:avLst/>
          </a:prstGeom>
          <a:noFill/>
          <a:ln>
            <a:noFill/>
          </a:ln>
        </p:spPr>
      </p:sp>
      <p:sp>
        <p:nvSpPr>
          <p:cNvPr id="287" name="Google Shape;287;p21"/>
          <p:cNvSpPr/>
          <p:nvPr/>
        </p:nvSpPr>
        <p:spPr>
          <a:xfrm>
            <a:off x="1110461" y="3081501"/>
            <a:ext cx="847297" cy="1314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09"/>
              </a:buClr>
              <a:buSzPts val="522"/>
              <a:buFont typeface="Calibri"/>
              <a:buNone/>
            </a:pPr>
            <a:r>
              <a:rPr b="1" i="0" lang="en-GB" sz="522" u="none" cap="none" strike="noStrike">
                <a:solidFill>
                  <a:srgbClr val="241509"/>
                </a:solidFill>
                <a:latin typeface="Calibri"/>
                <a:ea typeface="Calibri"/>
                <a:cs typeface="Calibri"/>
                <a:sym typeface="Calibri"/>
              </a:rPr>
              <a:t>Hazelnut White Coffee</a:t>
            </a:r>
            <a:endParaRPr b="0" i="0" sz="522" u="none" cap="none" strike="noStrike">
              <a:solidFill>
                <a:srgbClr val="000000"/>
              </a:solidFill>
              <a:latin typeface="Calibri"/>
              <a:ea typeface="Calibri"/>
              <a:cs typeface="Calibri"/>
              <a:sym typeface="Calibri"/>
            </a:endParaRPr>
          </a:p>
        </p:txBody>
      </p:sp>
      <p:sp>
        <p:nvSpPr>
          <p:cNvPr id="288" name="Google Shape;288;p21"/>
          <p:cNvSpPr/>
          <p:nvPr/>
        </p:nvSpPr>
        <p:spPr>
          <a:xfrm>
            <a:off x="1110461" y="3200820"/>
            <a:ext cx="847297" cy="10733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4A3C"/>
              </a:buClr>
              <a:buSzPts val="457"/>
              <a:buFont typeface="Calibri"/>
              <a:buNone/>
            </a:pPr>
            <a:r>
              <a:rPr b="0" i="0" lang="en-GB" sz="457" u="none" cap="none" strike="noStrike">
                <a:solidFill>
                  <a:srgbClr val="5A4A3C"/>
                </a:solidFill>
                <a:latin typeface="Calibri"/>
                <a:ea typeface="Calibri"/>
                <a:cs typeface="Calibri"/>
                <a:sym typeface="Calibri"/>
              </a:rPr>
              <a:t>x1 box</a:t>
            </a:r>
            <a:endParaRPr b="0" i="0" sz="457" u="none" cap="none" strike="noStrike">
              <a:solidFill>
                <a:srgbClr val="000000"/>
              </a:solidFill>
              <a:latin typeface="Calibri"/>
              <a:ea typeface="Calibri"/>
              <a:cs typeface="Calibri"/>
              <a:sym typeface="Calibri"/>
            </a:endParaRPr>
          </a:p>
        </p:txBody>
      </p:sp>
      <p:sp>
        <p:nvSpPr>
          <p:cNvPr id="289" name="Google Shape;289;p21"/>
          <p:cNvSpPr/>
          <p:nvPr/>
        </p:nvSpPr>
        <p:spPr>
          <a:xfrm>
            <a:off x="871825" y="3361900"/>
            <a:ext cx="1443810" cy="262480"/>
          </a:xfrm>
          <a:prstGeom prst="roundRect">
            <a:avLst>
              <a:gd fmla="val 13636" name="adj"/>
            </a:avLst>
          </a:prstGeom>
          <a:solidFill>
            <a:srgbClr val="FFFFFF"/>
          </a:solidFill>
          <a:ln cap="flat" cmpd="sng" w="6225">
            <a:solidFill>
              <a:srgbClr val="E4D8C4"/>
            </a:solidFill>
            <a:prstDash val="solid"/>
            <a:round/>
            <a:headEnd len="sm" w="sm" type="none"/>
            <a:tailEnd len="sm" w="sm" type="none"/>
          </a:ln>
        </p:spPr>
        <p:txBody>
          <a:bodyPr anchorCtr="0" anchor="ctr" bIns="59650" lIns="59650" spcFirstLastPara="1" rIns="59650" wrap="square" tIns="59650">
            <a:noAutofit/>
          </a:bodyPr>
          <a:lstStyle/>
          <a:p>
            <a:pPr indent="0" lvl="0" marL="0" rtl="0" algn="l">
              <a:spcBef>
                <a:spcPts val="0"/>
              </a:spcBef>
              <a:spcAft>
                <a:spcPts val="0"/>
              </a:spcAft>
              <a:buNone/>
            </a:pPr>
            <a:r>
              <a:t/>
            </a:r>
            <a:endParaRPr/>
          </a:p>
        </p:txBody>
      </p:sp>
      <p:sp>
        <p:nvSpPr>
          <p:cNvPr id="290" name="Google Shape;290;p21"/>
          <p:cNvSpPr/>
          <p:nvPr/>
        </p:nvSpPr>
        <p:spPr>
          <a:xfrm>
            <a:off x="931484" y="3433491"/>
            <a:ext cx="119371" cy="119371"/>
          </a:xfrm>
          <a:prstGeom prst="roundRect">
            <a:avLst>
              <a:gd fmla="val 20000" name="adj"/>
            </a:avLst>
          </a:prstGeom>
          <a:solidFill>
            <a:srgbClr val="FFFFFF"/>
          </a:solidFill>
          <a:ln cap="flat" cmpd="sng" w="8275">
            <a:solidFill>
              <a:srgbClr val="B9AC9A"/>
            </a:solidFill>
            <a:prstDash val="solid"/>
            <a:round/>
            <a:headEnd len="sm" w="sm" type="none"/>
            <a:tailEnd len="sm" w="sm" type="none"/>
          </a:ln>
        </p:spPr>
        <p:txBody>
          <a:bodyPr anchorCtr="0" anchor="ctr" bIns="59650" lIns="59650" spcFirstLastPara="1" rIns="59650" wrap="square" tIns="59650">
            <a:noAutofit/>
          </a:bodyPr>
          <a:lstStyle/>
          <a:p>
            <a:pPr indent="0" lvl="0" marL="0" rtl="0" algn="l">
              <a:spcBef>
                <a:spcPts val="0"/>
              </a:spcBef>
              <a:spcAft>
                <a:spcPts val="0"/>
              </a:spcAft>
              <a:buNone/>
            </a:pPr>
            <a:r>
              <a:t/>
            </a:r>
            <a:endParaRPr/>
          </a:p>
        </p:txBody>
      </p:sp>
      <p:sp>
        <p:nvSpPr>
          <p:cNvPr id="291" name="Google Shape;291;p21"/>
          <p:cNvSpPr/>
          <p:nvPr/>
        </p:nvSpPr>
        <p:spPr>
          <a:xfrm>
            <a:off x="1110461" y="3379798"/>
            <a:ext cx="847297" cy="1314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09"/>
              </a:buClr>
              <a:buSzPts val="522"/>
              <a:buFont typeface="Calibri"/>
              <a:buNone/>
            </a:pPr>
            <a:r>
              <a:rPr b="1" i="0" lang="en-GB" sz="522" u="none" cap="none" strike="noStrike">
                <a:solidFill>
                  <a:srgbClr val="241509"/>
                </a:solidFill>
                <a:latin typeface="Calibri"/>
                <a:ea typeface="Calibri"/>
                <a:cs typeface="Calibri"/>
                <a:sym typeface="Calibri"/>
              </a:rPr>
              <a:t>Gula Melaka Cold Brew*</a:t>
            </a:r>
            <a:endParaRPr b="0" i="0" sz="522" u="none" cap="none" strike="noStrike">
              <a:solidFill>
                <a:srgbClr val="000000"/>
              </a:solidFill>
              <a:latin typeface="Calibri"/>
              <a:ea typeface="Calibri"/>
              <a:cs typeface="Calibri"/>
              <a:sym typeface="Calibri"/>
            </a:endParaRPr>
          </a:p>
        </p:txBody>
      </p:sp>
      <p:sp>
        <p:nvSpPr>
          <p:cNvPr id="292" name="Google Shape;292;p21"/>
          <p:cNvSpPr/>
          <p:nvPr/>
        </p:nvSpPr>
        <p:spPr>
          <a:xfrm>
            <a:off x="1110461" y="3499116"/>
            <a:ext cx="847297" cy="10733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4A3C"/>
              </a:buClr>
              <a:buSzPts val="457"/>
              <a:buFont typeface="Calibri"/>
              <a:buNone/>
            </a:pPr>
            <a:r>
              <a:rPr b="0" i="0" lang="en-GB" sz="457" u="none" cap="none" strike="noStrike">
                <a:solidFill>
                  <a:srgbClr val="5A4A3C"/>
                </a:solidFill>
                <a:latin typeface="Calibri"/>
                <a:ea typeface="Calibri"/>
                <a:cs typeface="Calibri"/>
                <a:sym typeface="Calibri"/>
              </a:rPr>
              <a:t>x1 box</a:t>
            </a:r>
            <a:endParaRPr b="0" i="0" sz="457" u="none" cap="none" strike="noStrike">
              <a:solidFill>
                <a:srgbClr val="000000"/>
              </a:solidFill>
              <a:latin typeface="Calibri"/>
              <a:ea typeface="Calibri"/>
              <a:cs typeface="Calibri"/>
              <a:sym typeface="Calibri"/>
            </a:endParaRPr>
          </a:p>
        </p:txBody>
      </p:sp>
      <p:sp>
        <p:nvSpPr>
          <p:cNvPr id="293" name="Google Shape;293;p21"/>
          <p:cNvSpPr/>
          <p:nvPr/>
        </p:nvSpPr>
        <p:spPr>
          <a:xfrm>
            <a:off x="871825" y="3672128"/>
            <a:ext cx="1443810" cy="11937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52F"/>
              </a:buClr>
              <a:buSzPts val="424"/>
              <a:buFont typeface="Calibri"/>
              <a:buNone/>
            </a:pPr>
            <a:r>
              <a:rPr b="0" i="1" lang="en-GB" sz="424" u="none" cap="none" strike="noStrike">
                <a:solidFill>
                  <a:srgbClr val="B4552F"/>
                </a:solidFill>
                <a:latin typeface="Calibri"/>
                <a:ea typeface="Calibri"/>
                <a:cs typeface="Calibri"/>
                <a:sym typeface="Calibri"/>
              </a:rPr>
              <a:t>*Kopi Pulse winner — subscriber exclusive</a:t>
            </a:r>
            <a:endParaRPr b="0" i="0" sz="424" u="none" cap="none" strike="noStrike">
              <a:solidFill>
                <a:srgbClr val="000000"/>
              </a:solidFill>
              <a:latin typeface="Calibri"/>
              <a:ea typeface="Calibri"/>
              <a:cs typeface="Calibri"/>
              <a:sym typeface="Calibri"/>
            </a:endParaRPr>
          </a:p>
        </p:txBody>
      </p:sp>
      <p:sp>
        <p:nvSpPr>
          <p:cNvPr id="294" name="Google Shape;294;p21"/>
          <p:cNvSpPr/>
          <p:nvPr/>
        </p:nvSpPr>
        <p:spPr>
          <a:xfrm>
            <a:off x="871825" y="3827242"/>
            <a:ext cx="1443810" cy="119371"/>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8B78"/>
              </a:buClr>
              <a:buSzPts val="522"/>
              <a:buFont typeface="Calibri"/>
              <a:buNone/>
            </a:pPr>
            <a:r>
              <a:rPr b="1" i="0" lang="en-GB" sz="522" u="none" cap="none" strike="noStrike">
                <a:solidFill>
                  <a:srgbClr val="9A8B78"/>
                </a:solidFill>
                <a:latin typeface="Calibri"/>
                <a:ea typeface="Calibri"/>
                <a:cs typeface="Calibri"/>
                <a:sym typeface="Calibri"/>
              </a:rPr>
              <a:t>DELIVERY FREQUENCY</a:t>
            </a:r>
            <a:endParaRPr b="0" i="0" sz="522" u="none" cap="none" strike="noStrike">
              <a:solidFill>
                <a:srgbClr val="000000"/>
              </a:solidFill>
              <a:latin typeface="Calibri"/>
              <a:ea typeface="Calibri"/>
              <a:cs typeface="Calibri"/>
              <a:sym typeface="Calibri"/>
            </a:endParaRPr>
          </a:p>
        </p:txBody>
      </p:sp>
      <p:sp>
        <p:nvSpPr>
          <p:cNvPr id="295" name="Google Shape;295;p21"/>
          <p:cNvSpPr/>
          <p:nvPr/>
        </p:nvSpPr>
        <p:spPr>
          <a:xfrm>
            <a:off x="871825" y="3970425"/>
            <a:ext cx="449277" cy="202622"/>
          </a:xfrm>
          <a:prstGeom prst="roundRect">
            <a:avLst>
              <a:gd fmla="val 17647" name="adj"/>
            </a:avLst>
          </a:prstGeom>
          <a:solidFill>
            <a:srgbClr val="F0E8DA"/>
          </a:solidFill>
          <a:ln>
            <a:noFill/>
          </a:ln>
        </p:spPr>
        <p:txBody>
          <a:bodyPr anchorCtr="0" anchor="ctr" bIns="59650" lIns="59650" spcFirstLastPara="1" rIns="59650" wrap="square" tIns="59650">
            <a:noAutofit/>
          </a:bodyPr>
          <a:lstStyle/>
          <a:p>
            <a:pPr indent="0" lvl="0" marL="0" rtl="0" algn="l">
              <a:spcBef>
                <a:spcPts val="0"/>
              </a:spcBef>
              <a:spcAft>
                <a:spcPts val="0"/>
              </a:spcAft>
              <a:buNone/>
            </a:pPr>
            <a:r>
              <a:t/>
            </a:r>
            <a:endParaRPr/>
          </a:p>
        </p:txBody>
      </p:sp>
      <p:sp>
        <p:nvSpPr>
          <p:cNvPr id="296" name="Google Shape;296;p21"/>
          <p:cNvSpPr/>
          <p:nvPr/>
        </p:nvSpPr>
        <p:spPr>
          <a:xfrm>
            <a:off x="871825" y="3970425"/>
            <a:ext cx="449277" cy="20262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4A3C"/>
              </a:buClr>
              <a:buSzPts val="522"/>
              <a:buFont typeface="Calibri"/>
              <a:buNone/>
            </a:pPr>
            <a:r>
              <a:rPr b="1" i="0" lang="en-GB" sz="522" u="none" cap="none" strike="noStrike">
                <a:solidFill>
                  <a:srgbClr val="5A4A3C"/>
                </a:solidFill>
                <a:latin typeface="Calibri"/>
                <a:ea typeface="Calibri"/>
                <a:cs typeface="Calibri"/>
                <a:sym typeface="Calibri"/>
              </a:rPr>
              <a:t>2 wks</a:t>
            </a:r>
            <a:endParaRPr b="0" i="0" sz="522" u="none" cap="none" strike="noStrike">
              <a:solidFill>
                <a:srgbClr val="000000"/>
              </a:solidFill>
              <a:latin typeface="Calibri"/>
              <a:ea typeface="Calibri"/>
              <a:cs typeface="Calibri"/>
              <a:sym typeface="Calibri"/>
            </a:endParaRPr>
          </a:p>
        </p:txBody>
      </p:sp>
      <p:sp>
        <p:nvSpPr>
          <p:cNvPr id="297" name="Google Shape;297;p21"/>
          <p:cNvSpPr/>
          <p:nvPr/>
        </p:nvSpPr>
        <p:spPr>
          <a:xfrm>
            <a:off x="1368984" y="3970425"/>
            <a:ext cx="449277" cy="202622"/>
          </a:xfrm>
          <a:prstGeom prst="roundRect">
            <a:avLst>
              <a:gd fmla="val 17647" name="adj"/>
            </a:avLst>
          </a:prstGeom>
          <a:solidFill>
            <a:srgbClr val="B4552F"/>
          </a:solidFill>
          <a:ln>
            <a:noFill/>
          </a:ln>
        </p:spPr>
        <p:txBody>
          <a:bodyPr anchorCtr="0" anchor="ctr" bIns="59650" lIns="59650" spcFirstLastPara="1" rIns="59650" wrap="square" tIns="59650">
            <a:noAutofit/>
          </a:bodyPr>
          <a:lstStyle/>
          <a:p>
            <a:pPr indent="0" lvl="0" marL="0" rtl="0" algn="l">
              <a:spcBef>
                <a:spcPts val="0"/>
              </a:spcBef>
              <a:spcAft>
                <a:spcPts val="0"/>
              </a:spcAft>
              <a:buNone/>
            </a:pPr>
            <a:r>
              <a:t/>
            </a:r>
            <a:endParaRPr/>
          </a:p>
        </p:txBody>
      </p:sp>
      <p:sp>
        <p:nvSpPr>
          <p:cNvPr id="298" name="Google Shape;298;p21"/>
          <p:cNvSpPr/>
          <p:nvPr/>
        </p:nvSpPr>
        <p:spPr>
          <a:xfrm>
            <a:off x="1368984" y="3970425"/>
            <a:ext cx="449277" cy="20262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22"/>
              <a:buFont typeface="Calibri"/>
              <a:buNone/>
            </a:pPr>
            <a:r>
              <a:rPr b="1" i="0" lang="en-GB" sz="522" u="none" cap="none" strike="noStrike">
                <a:solidFill>
                  <a:srgbClr val="FFFFFF"/>
                </a:solidFill>
                <a:latin typeface="Calibri"/>
                <a:ea typeface="Calibri"/>
                <a:cs typeface="Calibri"/>
                <a:sym typeface="Calibri"/>
              </a:rPr>
              <a:t>Monthly</a:t>
            </a:r>
            <a:endParaRPr b="0" i="0" sz="522" u="none" cap="none" strike="noStrike">
              <a:solidFill>
                <a:srgbClr val="000000"/>
              </a:solidFill>
              <a:latin typeface="Calibri"/>
              <a:ea typeface="Calibri"/>
              <a:cs typeface="Calibri"/>
              <a:sym typeface="Calibri"/>
            </a:endParaRPr>
          </a:p>
        </p:txBody>
      </p:sp>
      <p:sp>
        <p:nvSpPr>
          <p:cNvPr id="299" name="Google Shape;299;p21"/>
          <p:cNvSpPr/>
          <p:nvPr/>
        </p:nvSpPr>
        <p:spPr>
          <a:xfrm>
            <a:off x="1866142" y="3970425"/>
            <a:ext cx="449277" cy="202622"/>
          </a:xfrm>
          <a:prstGeom prst="roundRect">
            <a:avLst>
              <a:gd fmla="val 17647" name="adj"/>
            </a:avLst>
          </a:prstGeom>
          <a:solidFill>
            <a:srgbClr val="F0E8DA"/>
          </a:solidFill>
          <a:ln>
            <a:noFill/>
          </a:ln>
        </p:spPr>
        <p:txBody>
          <a:bodyPr anchorCtr="0" anchor="ctr" bIns="59650" lIns="59650" spcFirstLastPara="1" rIns="59650" wrap="square" tIns="59650">
            <a:noAutofit/>
          </a:bodyPr>
          <a:lstStyle/>
          <a:p>
            <a:pPr indent="0" lvl="0" marL="0" rtl="0" algn="l">
              <a:spcBef>
                <a:spcPts val="0"/>
              </a:spcBef>
              <a:spcAft>
                <a:spcPts val="0"/>
              </a:spcAft>
              <a:buNone/>
            </a:pPr>
            <a:r>
              <a:t/>
            </a:r>
            <a:endParaRPr/>
          </a:p>
        </p:txBody>
      </p:sp>
      <p:sp>
        <p:nvSpPr>
          <p:cNvPr id="300" name="Google Shape;300;p21"/>
          <p:cNvSpPr/>
          <p:nvPr/>
        </p:nvSpPr>
        <p:spPr>
          <a:xfrm>
            <a:off x="1866142" y="3970425"/>
            <a:ext cx="449277" cy="20262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4A3C"/>
              </a:buClr>
              <a:buSzPts val="522"/>
              <a:buFont typeface="Calibri"/>
              <a:buNone/>
            </a:pPr>
            <a:r>
              <a:rPr b="1" i="0" lang="en-GB" sz="522" u="none" cap="none" strike="noStrike">
                <a:solidFill>
                  <a:srgbClr val="5A4A3C"/>
                </a:solidFill>
                <a:latin typeface="Calibri"/>
                <a:ea typeface="Calibri"/>
                <a:cs typeface="Calibri"/>
                <a:sym typeface="Calibri"/>
              </a:rPr>
              <a:t>6 wks</a:t>
            </a:r>
            <a:endParaRPr b="0" i="0" sz="522" u="none" cap="none" strike="noStrike">
              <a:solidFill>
                <a:srgbClr val="000000"/>
              </a:solidFill>
              <a:latin typeface="Calibri"/>
              <a:ea typeface="Calibri"/>
              <a:cs typeface="Calibri"/>
              <a:sym typeface="Calibri"/>
            </a:endParaRPr>
          </a:p>
        </p:txBody>
      </p:sp>
      <p:sp>
        <p:nvSpPr>
          <p:cNvPr id="301" name="Google Shape;301;p21"/>
          <p:cNvSpPr/>
          <p:nvPr/>
        </p:nvSpPr>
        <p:spPr>
          <a:xfrm>
            <a:off x="871825" y="3701958"/>
            <a:ext cx="1443810" cy="250439"/>
          </a:xfrm>
          <a:prstGeom prst="roundRect">
            <a:avLst>
              <a:gd fmla="val 19048" name="adj"/>
            </a:avLst>
          </a:prstGeom>
          <a:solidFill>
            <a:srgbClr val="B4552F"/>
          </a:solidFill>
          <a:ln>
            <a:noFill/>
          </a:ln>
        </p:spPr>
        <p:txBody>
          <a:bodyPr anchorCtr="0" anchor="ctr" bIns="59650" lIns="59650" spcFirstLastPara="1" rIns="59650" wrap="square" tIns="59650">
            <a:noAutofit/>
          </a:bodyPr>
          <a:lstStyle/>
          <a:p>
            <a:pPr indent="0" lvl="0" marL="0" rtl="0" algn="l">
              <a:spcBef>
                <a:spcPts val="0"/>
              </a:spcBef>
              <a:spcAft>
                <a:spcPts val="0"/>
              </a:spcAft>
              <a:buNone/>
            </a:pPr>
            <a:r>
              <a:t/>
            </a:r>
            <a:endParaRPr/>
          </a:p>
        </p:txBody>
      </p:sp>
      <p:sp>
        <p:nvSpPr>
          <p:cNvPr descr="/home/claude/otwc_deck/icons/sync.png" id="302" name="Google Shape;302;p21"/>
          <p:cNvSpPr/>
          <p:nvPr/>
        </p:nvSpPr>
        <p:spPr>
          <a:xfrm>
            <a:off x="961314" y="3767583"/>
            <a:ext cx="119318" cy="119318"/>
          </a:xfrm>
          <a:prstGeom prst="rect">
            <a:avLst/>
          </a:prstGeom>
          <a:noFill/>
          <a:ln>
            <a:noFill/>
          </a:ln>
        </p:spPr>
      </p:sp>
      <p:sp>
        <p:nvSpPr>
          <p:cNvPr id="303" name="Google Shape;303;p21"/>
          <p:cNvSpPr/>
          <p:nvPr/>
        </p:nvSpPr>
        <p:spPr>
          <a:xfrm>
            <a:off x="871825" y="3701958"/>
            <a:ext cx="1443810" cy="250439"/>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87"/>
              <a:buFont typeface="Calibri"/>
              <a:buNone/>
            </a:pPr>
            <a:r>
              <a:rPr b="1" i="0" lang="en-GB" sz="587" u="none" cap="none" strike="noStrike">
                <a:solidFill>
                  <a:srgbClr val="FFFFFF"/>
                </a:solidFill>
                <a:latin typeface="Calibri"/>
                <a:ea typeface="Calibri"/>
                <a:cs typeface="Calibri"/>
                <a:sym typeface="Calibri"/>
              </a:rPr>
              <a:t>Subscribe — </a:t>
            </a:r>
            <a:r>
              <a:rPr b="1" lang="en-GB" sz="587">
                <a:solidFill>
                  <a:srgbClr val="FFFFFF"/>
                </a:solidFill>
                <a:latin typeface="Calibri"/>
                <a:ea typeface="Calibri"/>
                <a:cs typeface="Calibri"/>
                <a:sym typeface="Calibri"/>
              </a:rPr>
              <a:t>SGD </a:t>
            </a:r>
            <a:r>
              <a:rPr b="1" i="0" lang="en-GB" sz="587" u="none" cap="none" strike="noStrike">
                <a:solidFill>
                  <a:srgbClr val="FFFFFF"/>
                </a:solidFill>
                <a:latin typeface="Calibri"/>
                <a:ea typeface="Calibri"/>
                <a:cs typeface="Calibri"/>
                <a:sym typeface="Calibri"/>
              </a:rPr>
              <a:t>18.90/mo</a:t>
            </a:r>
            <a:endParaRPr b="0" i="0" sz="587" u="none" cap="none" strike="noStrike">
              <a:solidFill>
                <a:srgbClr val="000000"/>
              </a:solidFill>
              <a:latin typeface="Calibri"/>
              <a:ea typeface="Calibri"/>
              <a:cs typeface="Calibri"/>
              <a:sym typeface="Calibri"/>
            </a:endParaRPr>
          </a:p>
        </p:txBody>
      </p:sp>
      <p:sp>
        <p:nvSpPr>
          <p:cNvPr id="304" name="Google Shape;304;p21"/>
          <p:cNvSpPr/>
          <p:nvPr/>
        </p:nvSpPr>
        <p:spPr>
          <a:xfrm>
            <a:off x="782337" y="4030084"/>
            <a:ext cx="1622695" cy="328186"/>
          </a:xfrm>
          <a:prstGeom prst="rect">
            <a:avLst/>
          </a:prstGeom>
          <a:solidFill>
            <a:srgbClr val="FFFFFF"/>
          </a:solidFill>
          <a:ln cap="flat" cmpd="sng" w="6225">
            <a:solidFill>
              <a:srgbClr val="E4D8C4"/>
            </a:solidFill>
            <a:prstDash val="solid"/>
            <a:round/>
            <a:headEnd len="sm" w="sm" type="none"/>
            <a:tailEnd len="sm" w="sm" type="none"/>
          </a:ln>
        </p:spPr>
        <p:txBody>
          <a:bodyPr anchorCtr="0" anchor="ctr" bIns="59650" lIns="59650" spcFirstLastPara="1" rIns="59650" wrap="square" tIns="59650">
            <a:noAutofit/>
          </a:bodyPr>
          <a:lstStyle/>
          <a:p>
            <a:pPr indent="0" lvl="0" marL="0" rtl="0" algn="l">
              <a:spcBef>
                <a:spcPts val="0"/>
              </a:spcBef>
              <a:spcAft>
                <a:spcPts val="0"/>
              </a:spcAft>
              <a:buNone/>
            </a:pPr>
            <a:r>
              <a:t/>
            </a:r>
            <a:endParaRPr/>
          </a:p>
        </p:txBody>
      </p:sp>
      <p:sp>
        <p:nvSpPr>
          <p:cNvPr descr="/home/claude/otwc_deck/icons/home.png" id="305" name="Google Shape;305;p21"/>
          <p:cNvSpPr/>
          <p:nvPr/>
        </p:nvSpPr>
        <p:spPr>
          <a:xfrm>
            <a:off x="907621" y="4065879"/>
            <a:ext cx="155113" cy="155113"/>
          </a:xfrm>
          <a:prstGeom prst="rect">
            <a:avLst/>
          </a:prstGeom>
          <a:noFill/>
          <a:ln>
            <a:noFill/>
          </a:ln>
        </p:spPr>
      </p:sp>
      <p:sp>
        <p:nvSpPr>
          <p:cNvPr id="306" name="Google Shape;306;p21"/>
          <p:cNvSpPr/>
          <p:nvPr/>
        </p:nvSpPr>
        <p:spPr>
          <a:xfrm>
            <a:off x="782337" y="4226960"/>
            <a:ext cx="405588" cy="11937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B78"/>
              </a:buClr>
              <a:buSzPts val="489"/>
              <a:buFont typeface="Calibri"/>
              <a:buNone/>
            </a:pPr>
            <a:r>
              <a:rPr b="0" i="0" lang="en-GB" sz="489" u="none" cap="none" strike="noStrike">
                <a:solidFill>
                  <a:srgbClr val="9A8B78"/>
                </a:solidFill>
                <a:latin typeface="Calibri"/>
                <a:ea typeface="Calibri"/>
                <a:cs typeface="Calibri"/>
                <a:sym typeface="Calibri"/>
              </a:rPr>
              <a:t>Home</a:t>
            </a:r>
            <a:endParaRPr b="0" i="0" sz="489" u="none" cap="none" strike="noStrike">
              <a:solidFill>
                <a:srgbClr val="000000"/>
              </a:solidFill>
              <a:latin typeface="Calibri"/>
              <a:ea typeface="Calibri"/>
              <a:cs typeface="Calibri"/>
              <a:sym typeface="Calibri"/>
            </a:endParaRPr>
          </a:p>
        </p:txBody>
      </p:sp>
      <p:sp>
        <p:nvSpPr>
          <p:cNvPr descr="/home/claude/otwc_deck/icons/search.png" id="307" name="Google Shape;307;p21"/>
          <p:cNvSpPr/>
          <p:nvPr/>
        </p:nvSpPr>
        <p:spPr>
          <a:xfrm>
            <a:off x="1313302" y="4065879"/>
            <a:ext cx="155113" cy="155113"/>
          </a:xfrm>
          <a:prstGeom prst="rect">
            <a:avLst/>
          </a:prstGeom>
          <a:noFill/>
          <a:ln>
            <a:noFill/>
          </a:ln>
        </p:spPr>
      </p:sp>
      <p:sp>
        <p:nvSpPr>
          <p:cNvPr id="308" name="Google Shape;308;p21"/>
          <p:cNvSpPr/>
          <p:nvPr/>
        </p:nvSpPr>
        <p:spPr>
          <a:xfrm>
            <a:off x="1188018" y="4226960"/>
            <a:ext cx="405588" cy="11937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B78"/>
              </a:buClr>
              <a:buSzPts val="489"/>
              <a:buFont typeface="Calibri"/>
              <a:buNone/>
            </a:pPr>
            <a:r>
              <a:rPr b="0" i="0" lang="en-GB" sz="489" u="none" cap="none" strike="noStrike">
                <a:solidFill>
                  <a:srgbClr val="9A8B78"/>
                </a:solidFill>
                <a:latin typeface="Calibri"/>
                <a:ea typeface="Calibri"/>
                <a:cs typeface="Calibri"/>
                <a:sym typeface="Calibri"/>
              </a:rPr>
              <a:t>Pulse</a:t>
            </a:r>
            <a:endParaRPr b="0" i="0" sz="489" u="none" cap="none" strike="noStrike">
              <a:solidFill>
                <a:srgbClr val="000000"/>
              </a:solidFill>
              <a:latin typeface="Calibri"/>
              <a:ea typeface="Calibri"/>
              <a:cs typeface="Calibri"/>
              <a:sym typeface="Calibri"/>
            </a:endParaRPr>
          </a:p>
        </p:txBody>
      </p:sp>
      <p:sp>
        <p:nvSpPr>
          <p:cNvPr descr="/home/claude/otwc_deck/icons/pin.png" id="309" name="Google Shape;309;p21"/>
          <p:cNvSpPr/>
          <p:nvPr/>
        </p:nvSpPr>
        <p:spPr>
          <a:xfrm>
            <a:off x="1718983" y="4065879"/>
            <a:ext cx="155113" cy="155113"/>
          </a:xfrm>
          <a:prstGeom prst="rect">
            <a:avLst/>
          </a:prstGeom>
          <a:noFill/>
          <a:ln>
            <a:noFill/>
          </a:ln>
        </p:spPr>
      </p:sp>
      <p:sp>
        <p:nvSpPr>
          <p:cNvPr id="310" name="Google Shape;310;p21"/>
          <p:cNvSpPr/>
          <p:nvPr/>
        </p:nvSpPr>
        <p:spPr>
          <a:xfrm>
            <a:off x="1593699" y="4226960"/>
            <a:ext cx="405588" cy="11937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B78"/>
              </a:buClr>
              <a:buSzPts val="489"/>
              <a:buFont typeface="Calibri"/>
              <a:buNone/>
            </a:pPr>
            <a:r>
              <a:rPr b="0" i="0" lang="en-GB" sz="489" u="none" cap="none" strike="noStrike">
                <a:solidFill>
                  <a:srgbClr val="9A8B78"/>
                </a:solidFill>
                <a:latin typeface="Calibri"/>
                <a:ea typeface="Calibri"/>
                <a:cs typeface="Calibri"/>
                <a:sym typeface="Calibri"/>
              </a:rPr>
              <a:t>Outlets</a:t>
            </a:r>
            <a:endParaRPr b="0" i="0" sz="489" u="none" cap="none" strike="noStrike">
              <a:solidFill>
                <a:srgbClr val="000000"/>
              </a:solidFill>
              <a:latin typeface="Calibri"/>
              <a:ea typeface="Calibri"/>
              <a:cs typeface="Calibri"/>
              <a:sym typeface="Calibri"/>
            </a:endParaRPr>
          </a:p>
        </p:txBody>
      </p:sp>
      <p:sp>
        <p:nvSpPr>
          <p:cNvPr descr="/home/claude/otwc_deck/icons/crown.png" id="311" name="Google Shape;311;p21"/>
          <p:cNvSpPr/>
          <p:nvPr/>
        </p:nvSpPr>
        <p:spPr>
          <a:xfrm>
            <a:off x="2124664" y="4065879"/>
            <a:ext cx="155113" cy="155113"/>
          </a:xfrm>
          <a:prstGeom prst="rect">
            <a:avLst/>
          </a:prstGeom>
          <a:noFill/>
          <a:ln>
            <a:noFill/>
          </a:ln>
        </p:spPr>
      </p:sp>
      <p:sp>
        <p:nvSpPr>
          <p:cNvPr id="312" name="Google Shape;312;p21"/>
          <p:cNvSpPr/>
          <p:nvPr/>
        </p:nvSpPr>
        <p:spPr>
          <a:xfrm>
            <a:off x="1999380" y="4226960"/>
            <a:ext cx="405588" cy="119371"/>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4552F"/>
              </a:buClr>
              <a:buSzPts val="489"/>
              <a:buFont typeface="Calibri"/>
              <a:buNone/>
            </a:pPr>
            <a:r>
              <a:rPr b="1" i="0" lang="en-GB" sz="489" u="none" cap="none" strike="noStrike">
                <a:solidFill>
                  <a:srgbClr val="B4552F"/>
                </a:solidFill>
                <a:latin typeface="Calibri"/>
                <a:ea typeface="Calibri"/>
                <a:cs typeface="Calibri"/>
                <a:sym typeface="Calibri"/>
              </a:rPr>
              <a:t>Account</a:t>
            </a:r>
            <a:endParaRPr b="0" i="0" sz="489" u="none" cap="none" strike="noStrike">
              <a:solidFill>
                <a:srgbClr val="000000"/>
              </a:solidFill>
              <a:latin typeface="Calibri"/>
              <a:ea typeface="Calibri"/>
              <a:cs typeface="Calibri"/>
              <a:sym typeface="Calibri"/>
            </a:endParaRPr>
          </a:p>
        </p:txBody>
      </p:sp>
      <p:sp>
        <p:nvSpPr>
          <p:cNvPr id="313" name="Google Shape;313;p21"/>
          <p:cNvSpPr/>
          <p:nvPr/>
        </p:nvSpPr>
        <p:spPr>
          <a:xfrm>
            <a:off x="3341722" y="1486276"/>
            <a:ext cx="4838100" cy="403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4A3C"/>
              </a:buClr>
              <a:buSzPts val="1029"/>
              <a:buFont typeface="Calibri"/>
              <a:buNone/>
            </a:pPr>
            <a:r>
              <a:rPr i="1" lang="en-GB" sz="1029">
                <a:solidFill>
                  <a:srgbClr val="5A4A3C"/>
                </a:solidFill>
                <a:latin typeface="Calibri"/>
                <a:ea typeface="Calibri"/>
                <a:cs typeface="Calibri"/>
                <a:sym typeface="Calibri"/>
              </a:rPr>
              <a:t>R</a:t>
            </a:r>
            <a:r>
              <a:rPr b="0" i="1" lang="en-GB" sz="1029" u="none" cap="none" strike="noStrike">
                <a:solidFill>
                  <a:srgbClr val="5A4A3C"/>
                </a:solidFill>
                <a:latin typeface="Calibri"/>
                <a:ea typeface="Calibri"/>
                <a:cs typeface="Calibri"/>
                <a:sym typeface="Calibri"/>
              </a:rPr>
              <a:t>ecurring, direct-to-consumer sachet delivery.</a:t>
            </a:r>
            <a:endParaRPr b="0" i="0" sz="1029" u="none" cap="none" strike="noStrike">
              <a:solidFill>
                <a:srgbClr val="000000"/>
              </a:solidFill>
              <a:latin typeface="Calibri"/>
              <a:ea typeface="Calibri"/>
              <a:cs typeface="Calibri"/>
              <a:sym typeface="Calibri"/>
            </a:endParaRPr>
          </a:p>
        </p:txBody>
      </p:sp>
      <p:sp>
        <p:nvSpPr>
          <p:cNvPr id="314" name="Google Shape;314;p21"/>
          <p:cNvSpPr/>
          <p:nvPr/>
        </p:nvSpPr>
        <p:spPr>
          <a:xfrm>
            <a:off x="3341731" y="1955632"/>
            <a:ext cx="4381200" cy="20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2417"/>
              </a:buClr>
              <a:buSzPts val="992"/>
              <a:buFont typeface="Calibri"/>
              <a:buNone/>
            </a:pPr>
            <a:r>
              <a:rPr b="1" i="0" lang="en-GB" sz="992" u="none" cap="none" strike="noStrike">
                <a:solidFill>
                  <a:srgbClr val="3B2417"/>
                </a:solidFill>
                <a:latin typeface="Calibri"/>
                <a:ea typeface="Calibri"/>
                <a:cs typeface="Calibri"/>
                <a:sym typeface="Calibri"/>
              </a:rPr>
              <a:t>Recurring, not one-off</a:t>
            </a:r>
            <a:endParaRPr b="0" i="0" sz="992" u="none" cap="none" strike="noStrike">
              <a:solidFill>
                <a:srgbClr val="000000"/>
              </a:solidFill>
              <a:latin typeface="Calibri"/>
              <a:ea typeface="Calibri"/>
              <a:cs typeface="Calibri"/>
              <a:sym typeface="Calibri"/>
            </a:endParaRPr>
          </a:p>
        </p:txBody>
      </p:sp>
      <p:sp>
        <p:nvSpPr>
          <p:cNvPr id="315" name="Google Shape;315;p21"/>
          <p:cNvSpPr/>
          <p:nvPr/>
        </p:nvSpPr>
        <p:spPr>
          <a:xfrm>
            <a:off x="3341731" y="2150501"/>
            <a:ext cx="4381200" cy="26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4A3C"/>
              </a:buClr>
              <a:buSzPts val="845"/>
              <a:buFont typeface="Calibri"/>
              <a:buNone/>
            </a:pPr>
            <a:r>
              <a:rPr b="0" i="0" lang="en-GB" sz="845" u="none" cap="none" strike="noStrike">
                <a:solidFill>
                  <a:srgbClr val="5A4A3C"/>
                </a:solidFill>
                <a:latin typeface="Calibri"/>
                <a:ea typeface="Calibri"/>
                <a:cs typeface="Calibri"/>
                <a:sym typeface="Calibri"/>
              </a:rPr>
              <a:t>Converts Shopee/Lazada browsing into predictable monthly revenue</a:t>
            </a:r>
            <a:endParaRPr b="0" i="0" sz="845" u="none" cap="none" strike="noStrike">
              <a:solidFill>
                <a:srgbClr val="000000"/>
              </a:solidFill>
              <a:latin typeface="Calibri"/>
              <a:ea typeface="Calibri"/>
              <a:cs typeface="Calibri"/>
              <a:sym typeface="Calibri"/>
            </a:endParaRPr>
          </a:p>
        </p:txBody>
      </p:sp>
      <p:sp>
        <p:nvSpPr>
          <p:cNvPr id="316" name="Google Shape;316;p21"/>
          <p:cNvSpPr/>
          <p:nvPr/>
        </p:nvSpPr>
        <p:spPr>
          <a:xfrm>
            <a:off x="3341731" y="2493201"/>
            <a:ext cx="4381200" cy="20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2417"/>
              </a:buClr>
              <a:buSzPts val="992"/>
              <a:buFont typeface="Calibri"/>
              <a:buNone/>
            </a:pPr>
            <a:r>
              <a:rPr b="1" i="0" lang="en-GB" sz="992" u="none" cap="none" strike="noStrike">
                <a:solidFill>
                  <a:srgbClr val="3B2417"/>
                </a:solidFill>
                <a:latin typeface="Calibri"/>
                <a:ea typeface="Calibri"/>
                <a:cs typeface="Calibri"/>
                <a:sym typeface="Calibri"/>
              </a:rPr>
              <a:t>Bypasses marketplace fees</a:t>
            </a:r>
            <a:endParaRPr b="0" i="0" sz="992" u="none" cap="none" strike="noStrike">
              <a:solidFill>
                <a:srgbClr val="000000"/>
              </a:solidFill>
              <a:latin typeface="Calibri"/>
              <a:ea typeface="Calibri"/>
              <a:cs typeface="Calibri"/>
              <a:sym typeface="Calibri"/>
            </a:endParaRPr>
          </a:p>
        </p:txBody>
      </p:sp>
      <p:sp>
        <p:nvSpPr>
          <p:cNvPr id="317" name="Google Shape;317;p21"/>
          <p:cNvSpPr/>
          <p:nvPr/>
        </p:nvSpPr>
        <p:spPr>
          <a:xfrm>
            <a:off x="3341731" y="2688069"/>
            <a:ext cx="4381200" cy="26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4A3C"/>
              </a:buClr>
              <a:buSzPts val="845"/>
              <a:buFont typeface="Calibri"/>
              <a:buNone/>
            </a:pPr>
            <a:r>
              <a:rPr b="0" i="0" lang="en-GB" sz="845" u="none" cap="none" strike="noStrike">
                <a:solidFill>
                  <a:srgbClr val="5A4A3C"/>
                </a:solidFill>
                <a:latin typeface="Calibri"/>
                <a:ea typeface="Calibri"/>
                <a:cs typeface="Calibri"/>
                <a:sym typeface="Calibri"/>
              </a:rPr>
              <a:t>Direct-to-consumer delivery skips Shopee/Lazada commissions</a:t>
            </a:r>
            <a:endParaRPr b="0" i="0" sz="845" u="none" cap="none" strike="noStrike">
              <a:solidFill>
                <a:srgbClr val="000000"/>
              </a:solidFill>
              <a:latin typeface="Calibri"/>
              <a:ea typeface="Calibri"/>
              <a:cs typeface="Calibri"/>
              <a:sym typeface="Calibri"/>
            </a:endParaRPr>
          </a:p>
        </p:txBody>
      </p:sp>
      <p:sp>
        <p:nvSpPr>
          <p:cNvPr id="318" name="Google Shape;318;p21"/>
          <p:cNvSpPr/>
          <p:nvPr/>
        </p:nvSpPr>
        <p:spPr>
          <a:xfrm>
            <a:off x="3341731" y="3030774"/>
            <a:ext cx="4381200" cy="20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2417"/>
              </a:buClr>
              <a:buSzPts val="992"/>
              <a:buFont typeface="Calibri"/>
              <a:buNone/>
            </a:pPr>
            <a:r>
              <a:rPr b="1" i="0" lang="en-GB" sz="992" u="none" cap="none" strike="noStrike">
                <a:solidFill>
                  <a:srgbClr val="3B2417"/>
                </a:solidFill>
                <a:latin typeface="Calibri"/>
                <a:ea typeface="Calibri"/>
                <a:cs typeface="Calibri"/>
                <a:sym typeface="Calibri"/>
              </a:rPr>
              <a:t>Value over lock-in</a:t>
            </a:r>
            <a:endParaRPr b="0" i="0" sz="992" u="none" cap="none" strike="noStrike">
              <a:solidFill>
                <a:srgbClr val="000000"/>
              </a:solidFill>
              <a:latin typeface="Calibri"/>
              <a:ea typeface="Calibri"/>
              <a:cs typeface="Calibri"/>
              <a:sym typeface="Calibri"/>
            </a:endParaRPr>
          </a:p>
        </p:txBody>
      </p:sp>
      <p:sp>
        <p:nvSpPr>
          <p:cNvPr id="319" name="Google Shape;319;p21"/>
          <p:cNvSpPr/>
          <p:nvPr/>
        </p:nvSpPr>
        <p:spPr>
          <a:xfrm>
            <a:off x="3341731" y="3225643"/>
            <a:ext cx="4381200" cy="26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4A3C"/>
              </a:buClr>
              <a:buSzPts val="845"/>
              <a:buFont typeface="Calibri"/>
              <a:buNone/>
            </a:pPr>
            <a:r>
              <a:rPr lang="en-GB" sz="845">
                <a:solidFill>
                  <a:srgbClr val="5A4A3C"/>
                </a:solidFill>
                <a:latin typeface="Calibri"/>
                <a:ea typeface="Calibri"/>
                <a:cs typeface="Calibri"/>
                <a:sym typeface="Calibri"/>
              </a:rPr>
              <a:t>5</a:t>
            </a:r>
            <a:r>
              <a:rPr b="0" i="0" lang="en-GB" sz="845" u="none" cap="none" strike="noStrike">
                <a:solidFill>
                  <a:srgbClr val="5A4A3C"/>
                </a:solidFill>
                <a:latin typeface="Calibri"/>
                <a:ea typeface="Calibri"/>
                <a:cs typeface="Calibri"/>
                <a:sym typeface="Calibri"/>
              </a:rPr>
              <a:t>% subscriber discount on FMCG </a:t>
            </a:r>
            <a:r>
              <a:rPr lang="en-GB" sz="845">
                <a:solidFill>
                  <a:srgbClr val="5A4A3C"/>
                </a:solidFill>
                <a:latin typeface="Calibri"/>
                <a:ea typeface="Calibri"/>
                <a:cs typeface="Calibri"/>
                <a:sym typeface="Calibri"/>
              </a:rPr>
              <a:t>coffee sachets purchases</a:t>
            </a:r>
            <a:r>
              <a:rPr b="0" i="0" lang="en-GB" sz="845" u="none" cap="none" strike="noStrike">
                <a:solidFill>
                  <a:srgbClr val="5A4A3C"/>
                </a:solidFill>
                <a:latin typeface="Calibri"/>
                <a:ea typeface="Calibri"/>
                <a:cs typeface="Calibri"/>
                <a:sym typeface="Calibri"/>
              </a:rPr>
              <a:t> </a:t>
            </a:r>
            <a:endParaRPr b="0" i="0" sz="845" u="none" cap="none" strike="noStrike">
              <a:solidFill>
                <a:srgbClr val="000000"/>
              </a:solidFill>
              <a:latin typeface="Calibri"/>
              <a:ea typeface="Calibri"/>
              <a:cs typeface="Calibri"/>
              <a:sym typeface="Calibri"/>
            </a:endParaRPr>
          </a:p>
        </p:txBody>
      </p:sp>
      <p:sp>
        <p:nvSpPr>
          <p:cNvPr id="320" name="Google Shape;320;p21"/>
          <p:cNvSpPr/>
          <p:nvPr/>
        </p:nvSpPr>
        <p:spPr>
          <a:xfrm>
            <a:off x="3341722" y="3615286"/>
            <a:ext cx="4838100" cy="369600"/>
          </a:xfrm>
          <a:prstGeom prst="roundRect">
            <a:avLst>
              <a:gd fmla="val 10909" name="adj"/>
            </a:avLst>
          </a:prstGeom>
          <a:solidFill>
            <a:srgbClr val="F3E4DA"/>
          </a:solidFill>
          <a:ln>
            <a:noFill/>
          </a:ln>
        </p:spPr>
        <p:txBody>
          <a:bodyPr anchorCtr="0" anchor="ctr" bIns="67175" lIns="67175" spcFirstLastPara="1" rIns="67175" wrap="square" tIns="67175">
            <a:noAutofit/>
          </a:bodyPr>
          <a:lstStyle/>
          <a:p>
            <a:pPr indent="0" lvl="0" marL="0" rtl="0" algn="l">
              <a:spcBef>
                <a:spcPts val="0"/>
              </a:spcBef>
              <a:spcAft>
                <a:spcPts val="0"/>
              </a:spcAft>
              <a:buNone/>
            </a:pPr>
            <a:r>
              <a:t/>
            </a:r>
            <a:endParaRPr/>
          </a:p>
        </p:txBody>
      </p:sp>
      <p:sp>
        <p:nvSpPr>
          <p:cNvPr id="321" name="Google Shape;321;p21"/>
          <p:cNvSpPr/>
          <p:nvPr/>
        </p:nvSpPr>
        <p:spPr>
          <a:xfrm>
            <a:off x="3476115" y="3615286"/>
            <a:ext cx="4569300" cy="369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52F"/>
              </a:buClr>
              <a:buSzPts val="808"/>
              <a:buFont typeface="Calibri"/>
              <a:buNone/>
            </a:pPr>
            <a:r>
              <a:rPr b="0" i="1" lang="en-GB" sz="808" u="none" cap="none" strike="noStrike">
                <a:solidFill>
                  <a:srgbClr val="B4552F"/>
                </a:solidFill>
                <a:latin typeface="Calibri"/>
                <a:ea typeface="Calibri"/>
                <a:cs typeface="Calibri"/>
                <a:sym typeface="Calibri"/>
              </a:rPr>
              <a:t>Inspired by: Nespresso's subscribe-and-save model, adapted for OTWC's sachet range</a:t>
            </a:r>
            <a:endParaRPr b="0" i="0" sz="808" u="none" cap="none" strike="noStrik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2"/>
          <p:cNvSpPr/>
          <p:nvPr/>
        </p:nvSpPr>
        <p:spPr>
          <a:xfrm>
            <a:off x="429430" y="177475"/>
            <a:ext cx="9144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66B"/>
              </a:buClr>
              <a:buSzPts val="1200"/>
              <a:buFont typeface="Calibri"/>
              <a:buNone/>
            </a:pPr>
            <a:r>
              <a:rPr b="1" lang="en-GB" sz="1200">
                <a:solidFill>
                  <a:srgbClr val="C9A66B"/>
                </a:solidFill>
                <a:latin typeface="Calibri"/>
                <a:ea typeface="Calibri"/>
                <a:cs typeface="Calibri"/>
                <a:sym typeface="Calibri"/>
              </a:rPr>
              <a:t>FEATURE </a:t>
            </a:r>
            <a:r>
              <a:rPr b="1" lang="en-GB" sz="1200">
                <a:solidFill>
                  <a:srgbClr val="C9A66B"/>
                </a:solidFill>
                <a:latin typeface="Calibri"/>
                <a:ea typeface="Calibri"/>
                <a:cs typeface="Calibri"/>
                <a:sym typeface="Calibri"/>
              </a:rPr>
              <a:t>4</a:t>
            </a:r>
            <a:r>
              <a:rPr b="1" i="0" lang="en-GB" sz="1200" u="none" cap="none" strike="noStrike">
                <a:solidFill>
                  <a:srgbClr val="C9A66B"/>
                </a:solidFill>
                <a:latin typeface="Calibri"/>
                <a:ea typeface="Calibri"/>
                <a:cs typeface="Calibri"/>
                <a:sym typeface="Calibri"/>
              </a:rPr>
              <a:t>  ·  </a:t>
            </a:r>
            <a:r>
              <a:rPr b="1" lang="en-GB" sz="1200">
                <a:solidFill>
                  <a:srgbClr val="C9A66B"/>
                </a:solidFill>
                <a:latin typeface="Calibri"/>
                <a:ea typeface="Calibri"/>
                <a:cs typeface="Calibri"/>
                <a:sym typeface="Calibri"/>
              </a:rPr>
              <a:t>LOYALTY</a:t>
            </a:r>
            <a:endParaRPr b="1" i="0" sz="1200" u="none" cap="none" strike="noStrike">
              <a:solidFill>
                <a:srgbClr val="000000"/>
              </a:solidFill>
              <a:latin typeface="Calibri"/>
              <a:ea typeface="Calibri"/>
              <a:cs typeface="Calibri"/>
              <a:sym typeface="Calibri"/>
            </a:endParaRPr>
          </a:p>
        </p:txBody>
      </p:sp>
      <p:pic>
        <p:nvPicPr>
          <p:cNvPr id="327" name="Google Shape;327;p22" title="logo.png"/>
          <p:cNvPicPr preferRelativeResize="0"/>
          <p:nvPr/>
        </p:nvPicPr>
        <p:blipFill>
          <a:blip r:embed="rId3">
            <a:alphaModFix/>
          </a:blip>
          <a:stretch>
            <a:fillRect/>
          </a:stretch>
        </p:blipFill>
        <p:spPr>
          <a:xfrm>
            <a:off x="7743638" y="59725"/>
            <a:ext cx="1304024" cy="1165525"/>
          </a:xfrm>
          <a:prstGeom prst="rect">
            <a:avLst/>
          </a:prstGeom>
          <a:noFill/>
          <a:ln>
            <a:noFill/>
          </a:ln>
        </p:spPr>
      </p:pic>
      <p:sp>
        <p:nvSpPr>
          <p:cNvPr id="328" name="Google Shape;328;p22"/>
          <p:cNvSpPr/>
          <p:nvPr/>
        </p:nvSpPr>
        <p:spPr>
          <a:xfrm>
            <a:off x="3094523" y="1272426"/>
            <a:ext cx="5430600" cy="45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4A3C"/>
              </a:buClr>
              <a:buSzPts val="1155"/>
              <a:buFont typeface="Calibri"/>
              <a:buNone/>
            </a:pPr>
            <a:r>
              <a:rPr b="0" i="1" lang="en-GB" sz="1155" u="none" cap="none" strike="noStrike">
                <a:solidFill>
                  <a:srgbClr val="5A4A3C"/>
                </a:solidFill>
                <a:latin typeface="Calibri"/>
                <a:ea typeface="Calibri"/>
                <a:cs typeface="Calibri"/>
                <a:sym typeface="Calibri"/>
              </a:rPr>
              <a:t>Closes the loyalty loop</a:t>
            </a:r>
            <a:r>
              <a:rPr i="1" lang="en-GB" sz="1155">
                <a:solidFill>
                  <a:srgbClr val="5A4A3C"/>
                </a:solidFill>
                <a:latin typeface="Calibri"/>
                <a:ea typeface="Calibri"/>
                <a:cs typeface="Calibri"/>
                <a:sym typeface="Calibri"/>
              </a:rPr>
              <a:t>: </a:t>
            </a:r>
            <a:r>
              <a:rPr b="0" i="1" lang="en-GB" sz="1155" u="none" cap="none" strike="noStrike">
                <a:solidFill>
                  <a:srgbClr val="5A4A3C"/>
                </a:solidFill>
                <a:latin typeface="Calibri"/>
                <a:ea typeface="Calibri"/>
                <a:cs typeface="Calibri"/>
                <a:sym typeface="Calibri"/>
              </a:rPr>
              <a:t>every visit, not just app orders, now counts.</a:t>
            </a:r>
            <a:endParaRPr b="0" i="0" sz="1155" u="none" cap="none" strike="noStrike">
              <a:solidFill>
                <a:srgbClr val="000000"/>
              </a:solidFill>
              <a:latin typeface="Calibri"/>
              <a:ea typeface="Calibri"/>
              <a:cs typeface="Calibri"/>
              <a:sym typeface="Calibri"/>
            </a:endParaRPr>
          </a:p>
        </p:txBody>
      </p:sp>
      <p:sp>
        <p:nvSpPr>
          <p:cNvPr id="329" name="Google Shape;329;p22"/>
          <p:cNvSpPr/>
          <p:nvPr/>
        </p:nvSpPr>
        <p:spPr>
          <a:xfrm>
            <a:off x="3096742" y="1869392"/>
            <a:ext cx="4917600" cy="226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2417"/>
              </a:buClr>
              <a:buSzPts val="1114"/>
              <a:buFont typeface="Calibri"/>
              <a:buNone/>
            </a:pPr>
            <a:r>
              <a:rPr b="1" i="0" lang="en-GB" sz="1114" u="none" cap="none" strike="noStrike">
                <a:solidFill>
                  <a:srgbClr val="3B2417"/>
                </a:solidFill>
                <a:latin typeface="Calibri"/>
                <a:ea typeface="Calibri"/>
                <a:cs typeface="Calibri"/>
                <a:sym typeface="Calibri"/>
              </a:rPr>
              <a:t>Tiered membership</a:t>
            </a:r>
            <a:endParaRPr b="0" i="0" sz="1114" u="none" cap="none" strike="noStrike">
              <a:solidFill>
                <a:srgbClr val="000000"/>
              </a:solidFill>
              <a:latin typeface="Calibri"/>
              <a:ea typeface="Calibri"/>
              <a:cs typeface="Calibri"/>
              <a:sym typeface="Calibri"/>
            </a:endParaRPr>
          </a:p>
        </p:txBody>
      </p:sp>
      <p:sp>
        <p:nvSpPr>
          <p:cNvPr id="330" name="Google Shape;330;p22"/>
          <p:cNvSpPr/>
          <p:nvPr/>
        </p:nvSpPr>
        <p:spPr>
          <a:xfrm>
            <a:off x="3096742" y="2088116"/>
            <a:ext cx="4917600" cy="30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4A3C"/>
              </a:buClr>
              <a:buSzPts val="949"/>
              <a:buFont typeface="Calibri"/>
              <a:buNone/>
            </a:pPr>
            <a:r>
              <a:rPr b="0" i="0" lang="en-GB" sz="949" u="none" cap="none" strike="noStrike">
                <a:solidFill>
                  <a:srgbClr val="5A4A3C"/>
                </a:solidFill>
                <a:latin typeface="Calibri"/>
                <a:ea typeface="Calibri"/>
                <a:cs typeface="Calibri"/>
                <a:sym typeface="Calibri"/>
              </a:rPr>
              <a:t>Classic → Gold → Platinum, unlocked by spending (driving up </a:t>
            </a:r>
            <a:r>
              <a:rPr lang="en-GB" sz="949">
                <a:solidFill>
                  <a:srgbClr val="5A4A3C"/>
                </a:solidFill>
                <a:latin typeface="Calibri"/>
                <a:ea typeface="Calibri"/>
                <a:cs typeface="Calibri"/>
                <a:sym typeface="Calibri"/>
              </a:rPr>
              <a:t>higher spend per customer)</a:t>
            </a:r>
            <a:endParaRPr b="0" i="0" sz="949" u="none" cap="none" strike="noStrike">
              <a:solidFill>
                <a:srgbClr val="000000"/>
              </a:solidFill>
              <a:latin typeface="Calibri"/>
              <a:ea typeface="Calibri"/>
              <a:cs typeface="Calibri"/>
              <a:sym typeface="Calibri"/>
            </a:endParaRPr>
          </a:p>
        </p:txBody>
      </p:sp>
      <p:sp>
        <p:nvSpPr>
          <p:cNvPr id="331" name="Google Shape;331;p22"/>
          <p:cNvSpPr/>
          <p:nvPr/>
        </p:nvSpPr>
        <p:spPr>
          <a:xfrm>
            <a:off x="3096742" y="2472769"/>
            <a:ext cx="4917600" cy="226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2417"/>
              </a:buClr>
              <a:buSzPts val="1114"/>
              <a:buFont typeface="Calibri"/>
              <a:buNone/>
            </a:pPr>
            <a:r>
              <a:rPr b="1" i="0" lang="en-GB" sz="1114" u="none" cap="none" strike="noStrike">
                <a:solidFill>
                  <a:srgbClr val="3B2417"/>
                </a:solidFill>
                <a:latin typeface="Calibri"/>
                <a:ea typeface="Calibri"/>
                <a:cs typeface="Calibri"/>
                <a:sym typeface="Calibri"/>
              </a:rPr>
              <a:t>Visit streaks</a:t>
            </a:r>
            <a:endParaRPr b="0" i="0" sz="1114" u="none" cap="none" strike="noStrike">
              <a:solidFill>
                <a:srgbClr val="000000"/>
              </a:solidFill>
              <a:latin typeface="Calibri"/>
              <a:ea typeface="Calibri"/>
              <a:cs typeface="Calibri"/>
              <a:sym typeface="Calibri"/>
            </a:endParaRPr>
          </a:p>
        </p:txBody>
      </p:sp>
      <p:sp>
        <p:nvSpPr>
          <p:cNvPr id="332" name="Google Shape;332;p22"/>
          <p:cNvSpPr/>
          <p:nvPr/>
        </p:nvSpPr>
        <p:spPr>
          <a:xfrm>
            <a:off x="3096742" y="2691493"/>
            <a:ext cx="4917600" cy="30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4A3C"/>
              </a:buClr>
              <a:buSzPts val="949"/>
              <a:buFont typeface="Calibri"/>
              <a:buNone/>
            </a:pPr>
            <a:r>
              <a:rPr b="0" i="0" lang="en-GB" sz="949" u="none" cap="none" strike="noStrike">
                <a:solidFill>
                  <a:srgbClr val="5A4A3C"/>
                </a:solidFill>
                <a:latin typeface="Calibri"/>
                <a:ea typeface="Calibri"/>
                <a:cs typeface="Calibri"/>
                <a:sym typeface="Calibri"/>
              </a:rPr>
              <a:t>Rewards consecutive visits</a:t>
            </a:r>
            <a:r>
              <a:rPr lang="en-GB" sz="949">
                <a:solidFill>
                  <a:srgbClr val="5A4A3C"/>
                </a:solidFill>
                <a:latin typeface="Calibri"/>
                <a:ea typeface="Calibri"/>
                <a:cs typeface="Calibri"/>
                <a:sym typeface="Calibri"/>
              </a:rPr>
              <a:t> e.g.</a:t>
            </a:r>
            <a:r>
              <a:rPr b="0" i="0" lang="en-GB" sz="949" u="none" cap="none" strike="noStrike">
                <a:solidFill>
                  <a:srgbClr val="5A4A3C"/>
                </a:solidFill>
                <a:latin typeface="Calibri"/>
                <a:ea typeface="Calibri"/>
                <a:cs typeface="Calibri"/>
                <a:sym typeface="Calibri"/>
              </a:rPr>
              <a:t> habitual morning customers (increasing re</a:t>
            </a:r>
            <a:r>
              <a:rPr lang="en-GB" sz="949">
                <a:solidFill>
                  <a:srgbClr val="5A4A3C"/>
                </a:solidFill>
                <a:latin typeface="Calibri"/>
                <a:ea typeface="Calibri"/>
                <a:cs typeface="Calibri"/>
                <a:sym typeface="Calibri"/>
              </a:rPr>
              <a:t>peat purchase)</a:t>
            </a:r>
            <a:endParaRPr b="0" i="0" sz="949" u="none" cap="none" strike="noStrike">
              <a:solidFill>
                <a:srgbClr val="000000"/>
              </a:solidFill>
              <a:latin typeface="Calibri"/>
              <a:ea typeface="Calibri"/>
              <a:cs typeface="Calibri"/>
              <a:sym typeface="Calibri"/>
            </a:endParaRPr>
          </a:p>
        </p:txBody>
      </p:sp>
      <p:sp>
        <p:nvSpPr>
          <p:cNvPr id="333" name="Google Shape;333;p22"/>
          <p:cNvSpPr/>
          <p:nvPr/>
        </p:nvSpPr>
        <p:spPr>
          <a:xfrm>
            <a:off x="3096742" y="3076146"/>
            <a:ext cx="4917600" cy="226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2417"/>
              </a:buClr>
              <a:buSzPts val="1114"/>
              <a:buFont typeface="Calibri"/>
              <a:buNone/>
            </a:pPr>
            <a:r>
              <a:rPr b="1" i="0" lang="en-GB" sz="1114" u="none" cap="none" strike="noStrike">
                <a:solidFill>
                  <a:srgbClr val="3B2417"/>
                </a:solidFill>
                <a:latin typeface="Calibri"/>
                <a:ea typeface="Calibri"/>
                <a:cs typeface="Calibri"/>
                <a:sym typeface="Calibri"/>
              </a:rPr>
              <a:t>Birthday &amp; milestone rewards</a:t>
            </a:r>
            <a:endParaRPr b="0" i="0" sz="1114" u="none" cap="none" strike="noStrike">
              <a:solidFill>
                <a:srgbClr val="000000"/>
              </a:solidFill>
              <a:latin typeface="Calibri"/>
              <a:ea typeface="Calibri"/>
              <a:cs typeface="Calibri"/>
              <a:sym typeface="Calibri"/>
            </a:endParaRPr>
          </a:p>
        </p:txBody>
      </p:sp>
      <p:sp>
        <p:nvSpPr>
          <p:cNvPr id="334" name="Google Shape;334;p22"/>
          <p:cNvSpPr/>
          <p:nvPr/>
        </p:nvSpPr>
        <p:spPr>
          <a:xfrm>
            <a:off x="3096742" y="3294870"/>
            <a:ext cx="4917600" cy="30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4A3C"/>
              </a:buClr>
              <a:buSzPts val="949"/>
              <a:buFont typeface="Calibri"/>
              <a:buNone/>
            </a:pPr>
            <a:r>
              <a:rPr b="0" i="0" lang="en-GB" sz="949" u="none" cap="none" strike="noStrike">
                <a:solidFill>
                  <a:srgbClr val="5A4A3C"/>
                </a:solidFill>
                <a:latin typeface="Calibri"/>
                <a:ea typeface="Calibri"/>
                <a:cs typeface="Calibri"/>
                <a:sym typeface="Calibri"/>
              </a:rPr>
              <a:t>Personalised offers triggered automatically by account data (</a:t>
            </a:r>
            <a:r>
              <a:rPr lang="en-GB" sz="949">
                <a:solidFill>
                  <a:srgbClr val="5A4A3C"/>
                </a:solidFill>
                <a:latin typeface="Calibri"/>
                <a:ea typeface="Calibri"/>
                <a:cs typeface="Calibri"/>
                <a:sym typeface="Calibri"/>
              </a:rPr>
              <a:t>building brand loyalty &amp; stickiness)</a:t>
            </a:r>
            <a:endParaRPr b="0" i="0" sz="949" u="none" cap="none" strike="noStrike">
              <a:solidFill>
                <a:srgbClr val="000000"/>
              </a:solidFill>
              <a:latin typeface="Calibri"/>
              <a:ea typeface="Calibri"/>
              <a:cs typeface="Calibri"/>
              <a:sym typeface="Calibri"/>
            </a:endParaRPr>
          </a:p>
        </p:txBody>
      </p:sp>
      <p:sp>
        <p:nvSpPr>
          <p:cNvPr id="335" name="Google Shape;335;p22"/>
          <p:cNvSpPr/>
          <p:nvPr/>
        </p:nvSpPr>
        <p:spPr>
          <a:xfrm>
            <a:off x="3027898" y="3760053"/>
            <a:ext cx="5430600" cy="414600"/>
          </a:xfrm>
          <a:prstGeom prst="roundRect">
            <a:avLst>
              <a:gd fmla="val 10909" name="adj"/>
            </a:avLst>
          </a:prstGeom>
          <a:solidFill>
            <a:srgbClr val="F3E4DA"/>
          </a:solidFill>
          <a:ln>
            <a:noFill/>
          </a:ln>
        </p:spPr>
        <p:txBody>
          <a:bodyPr anchorCtr="0" anchor="ctr" bIns="75400" lIns="75400" spcFirstLastPara="1" rIns="75400" wrap="square" tIns="75400">
            <a:noAutofit/>
          </a:bodyPr>
          <a:lstStyle/>
          <a:p>
            <a:pPr indent="0" lvl="0" marL="0" rtl="0" algn="l">
              <a:spcBef>
                <a:spcPts val="0"/>
              </a:spcBef>
              <a:spcAft>
                <a:spcPts val="0"/>
              </a:spcAft>
              <a:buNone/>
            </a:pPr>
            <a:r>
              <a:t/>
            </a:r>
            <a:endParaRPr/>
          </a:p>
        </p:txBody>
      </p:sp>
      <p:sp>
        <p:nvSpPr>
          <p:cNvPr id="336" name="Google Shape;336;p22"/>
          <p:cNvSpPr/>
          <p:nvPr/>
        </p:nvSpPr>
        <p:spPr>
          <a:xfrm>
            <a:off x="3178742" y="3760053"/>
            <a:ext cx="5128500" cy="414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52F"/>
              </a:buClr>
              <a:buSzPts val="907"/>
              <a:buFont typeface="Calibri"/>
              <a:buNone/>
            </a:pPr>
            <a:r>
              <a:rPr b="0" i="1" lang="en-GB" sz="907" u="none" cap="none" strike="noStrike">
                <a:solidFill>
                  <a:srgbClr val="B4552F"/>
                </a:solidFill>
                <a:latin typeface="Calibri"/>
                <a:ea typeface="Calibri"/>
                <a:cs typeface="Calibri"/>
                <a:sym typeface="Calibri"/>
              </a:rPr>
              <a:t>Replaces: </a:t>
            </a:r>
            <a:r>
              <a:rPr i="1" lang="en-GB" sz="907">
                <a:solidFill>
                  <a:srgbClr val="B4552F"/>
                </a:solidFill>
                <a:latin typeface="Calibri"/>
                <a:ea typeface="Calibri"/>
                <a:cs typeface="Calibri"/>
                <a:sym typeface="Calibri"/>
              </a:rPr>
              <a:t>F</a:t>
            </a:r>
            <a:r>
              <a:rPr b="0" i="1" lang="en-GB" sz="907" u="none" cap="none" strike="noStrike">
                <a:solidFill>
                  <a:srgbClr val="B4552F"/>
                </a:solidFill>
                <a:latin typeface="Calibri"/>
                <a:ea typeface="Calibri"/>
                <a:cs typeface="Calibri"/>
                <a:sym typeface="Calibri"/>
              </a:rPr>
              <a:t>ragmented stamp card </a:t>
            </a:r>
            <a:endParaRPr b="0" i="1" sz="907" u="none" cap="none" strike="noStrike">
              <a:solidFill>
                <a:srgbClr val="B4552F"/>
              </a:solidFill>
              <a:latin typeface="Calibri"/>
              <a:ea typeface="Calibri"/>
              <a:cs typeface="Calibri"/>
              <a:sym typeface="Calibri"/>
            </a:endParaRPr>
          </a:p>
          <a:p>
            <a:pPr indent="0" lvl="0" marL="0" marR="0" rtl="0" algn="l">
              <a:spcBef>
                <a:spcPts val="0"/>
              </a:spcBef>
              <a:spcAft>
                <a:spcPts val="0"/>
              </a:spcAft>
              <a:buClr>
                <a:srgbClr val="B4552F"/>
              </a:buClr>
              <a:buSzPts val="907"/>
              <a:buFont typeface="Calibri"/>
              <a:buNone/>
            </a:pPr>
            <a:r>
              <a:rPr i="1" lang="en-GB" sz="907">
                <a:solidFill>
                  <a:srgbClr val="B4552F"/>
                </a:solidFill>
                <a:latin typeface="Calibri"/>
                <a:ea typeface="Calibri"/>
                <a:cs typeface="Calibri"/>
                <a:sym typeface="Calibri"/>
              </a:rPr>
              <a:t>Encourages: </a:t>
            </a:r>
            <a:r>
              <a:rPr i="1" lang="en-GB" sz="907">
                <a:solidFill>
                  <a:srgbClr val="B4552F"/>
                </a:solidFill>
                <a:latin typeface="Calibri"/>
                <a:ea typeface="Calibri"/>
                <a:cs typeface="Calibri"/>
                <a:sym typeface="Calibri"/>
              </a:rPr>
              <a:t>Brand Loyalty and repeated purchases with points system</a:t>
            </a:r>
            <a:endParaRPr i="1" sz="907">
              <a:solidFill>
                <a:srgbClr val="B4552F"/>
              </a:solidFill>
              <a:latin typeface="Calibri"/>
              <a:ea typeface="Calibri"/>
              <a:cs typeface="Calibri"/>
              <a:sym typeface="Calibri"/>
            </a:endParaRPr>
          </a:p>
        </p:txBody>
      </p:sp>
      <p:grpSp>
        <p:nvGrpSpPr>
          <p:cNvPr id="337" name="Google Shape;337;p22"/>
          <p:cNvGrpSpPr/>
          <p:nvPr/>
        </p:nvGrpSpPr>
        <p:grpSpPr>
          <a:xfrm>
            <a:off x="657179" y="1225250"/>
            <a:ext cx="1821512" cy="3548100"/>
            <a:chOff x="657175" y="1225250"/>
            <a:chExt cx="1766400" cy="3548100"/>
          </a:xfrm>
        </p:grpSpPr>
        <p:sp>
          <p:nvSpPr>
            <p:cNvPr id="338" name="Google Shape;338;p22"/>
            <p:cNvSpPr/>
            <p:nvPr/>
          </p:nvSpPr>
          <p:spPr>
            <a:xfrm>
              <a:off x="657175" y="1225250"/>
              <a:ext cx="1766400" cy="3548100"/>
            </a:xfrm>
            <a:prstGeom prst="roundRect">
              <a:avLst>
                <a:gd fmla="val 9333" name="adj"/>
              </a:avLst>
            </a:prstGeom>
            <a:solidFill>
              <a:srgbClr val="3B2417"/>
            </a:solidFill>
            <a:ln cap="flat" cmpd="sng" w="16500">
              <a:solidFill>
                <a:srgbClr val="C9A66B"/>
              </a:solidFill>
              <a:prstDash val="solid"/>
              <a:round/>
              <a:headEnd len="sm" w="sm" type="none"/>
              <a:tailEnd len="sm" w="sm" type="none"/>
            </a:ln>
            <a:effectLst>
              <a:outerShdw blurRad="98968" rotWithShape="0" algn="bl" dir="5400000" dist="41237">
                <a:srgbClr val="3B2417">
                  <a:alpha val="34900"/>
                </a:srgbClr>
              </a:outerShdw>
            </a:effectLst>
          </p:spPr>
          <p:txBody>
            <a:bodyPr anchorCtr="0" anchor="ctr" bIns="59375" lIns="59375" spcFirstLastPara="1" rIns="59375" wrap="square" tIns="59375">
              <a:noAutofit/>
            </a:bodyPr>
            <a:lstStyle/>
            <a:p>
              <a:pPr indent="0" lvl="0" marL="0" rtl="0" algn="l">
                <a:spcBef>
                  <a:spcPts val="0"/>
                </a:spcBef>
                <a:spcAft>
                  <a:spcPts val="0"/>
                </a:spcAft>
                <a:buNone/>
              </a:pPr>
              <a:r>
                <a:t/>
              </a:r>
              <a:endParaRPr/>
            </a:p>
          </p:txBody>
        </p:sp>
        <p:sp>
          <p:nvSpPr>
            <p:cNvPr id="339" name="Google Shape;339;p22"/>
            <p:cNvSpPr/>
            <p:nvPr/>
          </p:nvSpPr>
          <p:spPr>
            <a:xfrm>
              <a:off x="740300" y="1449593"/>
              <a:ext cx="1615500" cy="3143263"/>
            </a:xfrm>
            <a:prstGeom prst="roundRect">
              <a:avLst>
                <a:gd fmla="val 4412" name="adj"/>
              </a:avLst>
            </a:prstGeom>
            <a:solidFill>
              <a:srgbClr val="FBF7F0"/>
            </a:solidFill>
            <a:ln>
              <a:noFill/>
            </a:ln>
          </p:spPr>
          <p:txBody>
            <a:bodyPr anchorCtr="0" anchor="ctr" bIns="59375" lIns="59375" spcFirstLastPara="1" rIns="59375" wrap="square" tIns="59375">
              <a:noAutofit/>
            </a:bodyPr>
            <a:lstStyle/>
            <a:p>
              <a:pPr indent="0" lvl="0" marL="0" rtl="0" algn="l">
                <a:spcBef>
                  <a:spcPts val="0"/>
                </a:spcBef>
                <a:spcAft>
                  <a:spcPts val="0"/>
                </a:spcAft>
                <a:buNone/>
              </a:pPr>
              <a:r>
                <a:t/>
              </a:r>
              <a:endParaRPr/>
            </a:p>
          </p:txBody>
        </p:sp>
        <p:sp>
          <p:nvSpPr>
            <p:cNvPr id="340" name="Google Shape;340;p22"/>
            <p:cNvSpPr/>
            <p:nvPr/>
          </p:nvSpPr>
          <p:spPr>
            <a:xfrm>
              <a:off x="1280673" y="1288446"/>
              <a:ext cx="534300" cy="68372"/>
            </a:xfrm>
            <a:prstGeom prst="roundRect">
              <a:avLst>
                <a:gd fmla="val 46154" name="adj"/>
              </a:avLst>
            </a:prstGeom>
            <a:solidFill>
              <a:srgbClr val="3B2417"/>
            </a:solidFill>
            <a:ln cap="flat" cmpd="sng" w="6200">
              <a:solidFill>
                <a:srgbClr val="5A4632"/>
              </a:solidFill>
              <a:prstDash val="solid"/>
              <a:round/>
              <a:headEnd len="sm" w="sm" type="none"/>
              <a:tailEnd len="sm" w="sm" type="none"/>
            </a:ln>
          </p:spPr>
          <p:txBody>
            <a:bodyPr anchorCtr="0" anchor="ctr" bIns="59375" lIns="59375" spcFirstLastPara="1" rIns="59375" wrap="square" tIns="59375">
              <a:noAutofit/>
            </a:bodyPr>
            <a:lstStyle/>
            <a:p>
              <a:pPr indent="0" lvl="0" marL="0" rtl="0" algn="l">
                <a:spcBef>
                  <a:spcPts val="0"/>
                </a:spcBef>
                <a:spcAft>
                  <a:spcPts val="0"/>
                </a:spcAft>
                <a:buNone/>
              </a:pPr>
              <a:r>
                <a:t/>
              </a:r>
              <a:endParaRPr/>
            </a:p>
          </p:txBody>
        </p:sp>
        <p:sp>
          <p:nvSpPr>
            <p:cNvPr id="341" name="Google Shape;341;p22"/>
            <p:cNvSpPr/>
            <p:nvPr/>
          </p:nvSpPr>
          <p:spPr>
            <a:xfrm>
              <a:off x="1340053" y="3723194"/>
              <a:ext cx="415800" cy="31659"/>
            </a:xfrm>
            <a:prstGeom prst="roundRect">
              <a:avLst>
                <a:gd fmla="val 50000" name="adj"/>
              </a:avLst>
            </a:prstGeom>
            <a:solidFill>
              <a:srgbClr val="5A4632"/>
            </a:solidFill>
            <a:ln>
              <a:noFill/>
            </a:ln>
          </p:spPr>
          <p:txBody>
            <a:bodyPr anchorCtr="0" anchor="ctr" bIns="59375" lIns="59375" spcFirstLastPara="1" rIns="59375" wrap="square" tIns="59375">
              <a:noAutofit/>
            </a:bodyPr>
            <a:lstStyle/>
            <a:p>
              <a:pPr indent="0" lvl="0" marL="0" rtl="0" algn="l">
                <a:spcBef>
                  <a:spcPts val="0"/>
                </a:spcBef>
                <a:spcAft>
                  <a:spcPts val="0"/>
                </a:spcAft>
                <a:buNone/>
              </a:pPr>
              <a:r>
                <a:t/>
              </a:r>
              <a:endParaRPr/>
            </a:p>
          </p:txBody>
        </p:sp>
        <p:sp>
          <p:nvSpPr>
            <p:cNvPr id="342" name="Google Shape;342;p22"/>
            <p:cNvSpPr/>
            <p:nvPr/>
          </p:nvSpPr>
          <p:spPr>
            <a:xfrm>
              <a:off x="811565" y="1467485"/>
              <a:ext cx="474900" cy="11599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09"/>
                </a:buClr>
                <a:buSzPts val="584"/>
                <a:buFont typeface="Calibri"/>
                <a:buNone/>
              </a:pPr>
              <a:r>
                <a:rPr b="1" i="0" lang="en-GB" sz="584" u="none" cap="none" strike="noStrike">
                  <a:solidFill>
                    <a:srgbClr val="241509"/>
                  </a:solidFill>
                  <a:latin typeface="Calibri"/>
                  <a:ea typeface="Calibri"/>
                  <a:cs typeface="Calibri"/>
                  <a:sym typeface="Calibri"/>
                </a:rPr>
                <a:t>9:41</a:t>
              </a:r>
              <a:endParaRPr b="0" i="0" sz="584" u="none" cap="none" strike="noStrike">
                <a:solidFill>
                  <a:srgbClr val="000000"/>
                </a:solidFill>
                <a:latin typeface="Calibri"/>
                <a:ea typeface="Calibri"/>
                <a:cs typeface="Calibri"/>
                <a:sym typeface="Calibri"/>
              </a:endParaRPr>
            </a:p>
          </p:txBody>
        </p:sp>
        <p:sp>
          <p:nvSpPr>
            <p:cNvPr id="343" name="Google Shape;343;p22"/>
            <p:cNvSpPr/>
            <p:nvPr/>
          </p:nvSpPr>
          <p:spPr>
            <a:xfrm>
              <a:off x="1939799" y="1467485"/>
              <a:ext cx="356400" cy="115993"/>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41509"/>
                </a:buClr>
                <a:buSzPts val="584"/>
                <a:buFont typeface="Calibri"/>
                <a:buNone/>
              </a:pPr>
              <a:r>
                <a:rPr b="1" i="0" lang="en-GB" sz="584" u="none" cap="none" strike="noStrike">
                  <a:solidFill>
                    <a:srgbClr val="241509"/>
                  </a:solidFill>
                  <a:latin typeface="Calibri"/>
                  <a:ea typeface="Calibri"/>
                  <a:cs typeface="Calibri"/>
                  <a:sym typeface="Calibri"/>
                </a:rPr>
                <a:t>100%</a:t>
              </a:r>
              <a:endParaRPr b="0" i="0" sz="584" u="none" cap="none" strike="noStrike">
                <a:solidFill>
                  <a:srgbClr val="000000"/>
                </a:solidFill>
                <a:latin typeface="Calibri"/>
                <a:ea typeface="Calibri"/>
                <a:cs typeface="Calibri"/>
                <a:sym typeface="Calibri"/>
              </a:endParaRPr>
            </a:p>
          </p:txBody>
        </p:sp>
        <p:sp>
          <p:nvSpPr>
            <p:cNvPr id="344" name="Google Shape;344;p22"/>
            <p:cNvSpPr/>
            <p:nvPr/>
          </p:nvSpPr>
          <p:spPr>
            <a:xfrm>
              <a:off x="740308" y="1614930"/>
              <a:ext cx="1615500" cy="816211"/>
            </a:xfrm>
            <a:prstGeom prst="rect">
              <a:avLst/>
            </a:prstGeom>
            <a:solidFill>
              <a:srgbClr val="3B2417"/>
            </a:solidFill>
            <a:ln>
              <a:noFill/>
            </a:ln>
          </p:spPr>
          <p:txBody>
            <a:bodyPr anchorCtr="0" anchor="ctr" bIns="59375" lIns="59375" spcFirstLastPara="1" rIns="59375" wrap="square" tIns="59375">
              <a:noAutofit/>
            </a:bodyPr>
            <a:lstStyle/>
            <a:p>
              <a:pPr indent="0" lvl="0" marL="0" rtl="0" algn="l">
                <a:spcBef>
                  <a:spcPts val="0"/>
                </a:spcBef>
                <a:spcAft>
                  <a:spcPts val="0"/>
                </a:spcAft>
                <a:buNone/>
              </a:pPr>
              <a:r>
                <a:t/>
              </a:r>
              <a:endParaRPr/>
            </a:p>
          </p:txBody>
        </p:sp>
        <p:sp>
          <p:nvSpPr>
            <p:cNvPr id="345" name="Google Shape;345;p22"/>
            <p:cNvSpPr/>
            <p:nvPr/>
          </p:nvSpPr>
          <p:spPr>
            <a:xfrm>
              <a:off x="1340053" y="1688652"/>
              <a:ext cx="415800" cy="368731"/>
            </a:xfrm>
            <a:prstGeom prst="ellipse">
              <a:avLst/>
            </a:prstGeom>
            <a:solidFill>
              <a:srgbClr val="C9A66B"/>
            </a:solidFill>
            <a:ln>
              <a:noFill/>
            </a:ln>
          </p:spPr>
          <p:txBody>
            <a:bodyPr anchorCtr="0" anchor="ctr" bIns="59375" lIns="59375" spcFirstLastPara="1" rIns="59375" wrap="square" tIns="59375">
              <a:noAutofit/>
            </a:bodyPr>
            <a:lstStyle/>
            <a:p>
              <a:pPr indent="0" lvl="0" marL="0" rtl="0" algn="l">
                <a:spcBef>
                  <a:spcPts val="0"/>
                </a:spcBef>
                <a:spcAft>
                  <a:spcPts val="0"/>
                </a:spcAft>
                <a:buNone/>
              </a:pPr>
              <a:r>
                <a:t/>
              </a:r>
              <a:endParaRPr/>
            </a:p>
          </p:txBody>
        </p:sp>
        <p:sp>
          <p:nvSpPr>
            <p:cNvPr id="346" name="Google Shape;346;p22"/>
            <p:cNvSpPr/>
            <p:nvPr/>
          </p:nvSpPr>
          <p:spPr>
            <a:xfrm>
              <a:off x="740308" y="2067794"/>
              <a:ext cx="1615500" cy="12663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14"/>
                <a:buFont typeface="Calibri"/>
                <a:buNone/>
              </a:pPr>
              <a:r>
                <a:rPr b="1" i="0" lang="en-GB" sz="714" u="none" cap="none" strike="noStrike">
                  <a:solidFill>
                    <a:srgbClr val="FFFFFF"/>
                  </a:solidFill>
                  <a:latin typeface="Calibri"/>
                  <a:ea typeface="Calibri"/>
                  <a:cs typeface="Calibri"/>
                  <a:sym typeface="Calibri"/>
                </a:rPr>
                <a:t>Dion L.</a:t>
              </a:r>
              <a:endParaRPr b="0" i="0" sz="714" u="none" cap="none" strike="noStrike">
                <a:solidFill>
                  <a:srgbClr val="000000"/>
                </a:solidFill>
                <a:latin typeface="Calibri"/>
                <a:ea typeface="Calibri"/>
                <a:cs typeface="Calibri"/>
                <a:sym typeface="Calibri"/>
              </a:endParaRPr>
            </a:p>
          </p:txBody>
        </p:sp>
        <p:sp>
          <p:nvSpPr>
            <p:cNvPr id="347" name="Google Shape;347;p22"/>
            <p:cNvSpPr/>
            <p:nvPr/>
          </p:nvSpPr>
          <p:spPr>
            <a:xfrm>
              <a:off x="1287904" y="2194173"/>
              <a:ext cx="504900" cy="137011"/>
            </a:xfrm>
            <a:prstGeom prst="roundRect">
              <a:avLst>
                <a:gd fmla="val 50000" name="adj"/>
              </a:avLst>
            </a:prstGeom>
            <a:solidFill>
              <a:srgbClr val="C9A66B"/>
            </a:solidFill>
            <a:ln>
              <a:noFill/>
            </a:ln>
          </p:spPr>
          <p:txBody>
            <a:bodyPr anchorCtr="0" anchor="ctr" bIns="59375" lIns="59375" spcFirstLastPara="1" rIns="59375" wrap="square" tIns="59375">
              <a:noAutofit/>
            </a:bodyPr>
            <a:lstStyle/>
            <a:p>
              <a:pPr indent="0" lvl="0" marL="0" rtl="0" algn="l">
                <a:spcBef>
                  <a:spcPts val="0"/>
                </a:spcBef>
                <a:spcAft>
                  <a:spcPts val="0"/>
                </a:spcAft>
                <a:buNone/>
              </a:pPr>
              <a:r>
                <a:t/>
              </a:r>
              <a:endParaRPr/>
            </a:p>
          </p:txBody>
        </p:sp>
        <p:sp>
          <p:nvSpPr>
            <p:cNvPr id="348" name="Google Shape;348;p22"/>
            <p:cNvSpPr/>
            <p:nvPr/>
          </p:nvSpPr>
          <p:spPr>
            <a:xfrm>
              <a:off x="1429124" y="2194175"/>
              <a:ext cx="474900" cy="13674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2417"/>
                </a:buClr>
                <a:buSzPts val="520"/>
                <a:buFont typeface="Calibri"/>
                <a:buNone/>
              </a:pPr>
              <a:r>
                <a:rPr b="1" i="0" lang="en-GB" sz="520" u="none" cap="none" strike="noStrike">
                  <a:solidFill>
                    <a:srgbClr val="3B2417"/>
                  </a:solidFill>
                  <a:latin typeface="Calibri"/>
                  <a:ea typeface="Calibri"/>
                  <a:cs typeface="Calibri"/>
                  <a:sym typeface="Calibri"/>
                </a:rPr>
                <a:t>Gold Tier</a:t>
              </a:r>
              <a:endParaRPr b="0" i="0" sz="520" u="none" cap="none" strike="noStrike">
                <a:solidFill>
                  <a:srgbClr val="000000"/>
                </a:solidFill>
                <a:latin typeface="Calibri"/>
                <a:ea typeface="Calibri"/>
                <a:cs typeface="Calibri"/>
                <a:sym typeface="Calibri"/>
              </a:endParaRPr>
            </a:p>
          </p:txBody>
        </p:sp>
        <p:sp>
          <p:nvSpPr>
            <p:cNvPr id="349" name="Google Shape;349;p22"/>
            <p:cNvSpPr/>
            <p:nvPr/>
          </p:nvSpPr>
          <p:spPr>
            <a:xfrm>
              <a:off x="829379" y="2510127"/>
              <a:ext cx="1437000" cy="447745"/>
            </a:xfrm>
            <a:prstGeom prst="roundRect">
              <a:avLst>
                <a:gd fmla="val 9412" name="adj"/>
              </a:avLst>
            </a:prstGeom>
            <a:solidFill>
              <a:srgbClr val="F0E8DA"/>
            </a:solidFill>
            <a:ln>
              <a:noFill/>
            </a:ln>
          </p:spPr>
          <p:txBody>
            <a:bodyPr anchorCtr="0" anchor="ctr" bIns="59375" lIns="59375" spcFirstLastPara="1" rIns="59375" wrap="square" tIns="59375">
              <a:noAutofit/>
            </a:bodyPr>
            <a:lstStyle/>
            <a:p>
              <a:pPr indent="0" lvl="0" marL="0" rtl="0" algn="l">
                <a:spcBef>
                  <a:spcPts val="0"/>
                </a:spcBef>
                <a:spcAft>
                  <a:spcPts val="0"/>
                </a:spcAft>
                <a:buNone/>
              </a:pPr>
              <a:r>
                <a:t/>
              </a:r>
              <a:endParaRPr/>
            </a:p>
          </p:txBody>
        </p:sp>
        <p:sp>
          <p:nvSpPr>
            <p:cNvPr id="350" name="Google Shape;350;p22"/>
            <p:cNvSpPr/>
            <p:nvPr/>
          </p:nvSpPr>
          <p:spPr>
            <a:xfrm>
              <a:off x="888760" y="2552254"/>
              <a:ext cx="831300" cy="2107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52F"/>
                </a:buClr>
                <a:buSzPts val="1299"/>
                <a:buFont typeface="Cambria"/>
                <a:buNone/>
              </a:pPr>
              <a:r>
                <a:rPr b="1" i="0" lang="en-GB" sz="1299" u="none" cap="none" strike="noStrike">
                  <a:solidFill>
                    <a:srgbClr val="B4552F"/>
                  </a:solidFill>
                  <a:latin typeface="Cambria"/>
                  <a:ea typeface="Cambria"/>
                  <a:cs typeface="Cambria"/>
                  <a:sym typeface="Cambria"/>
                </a:rPr>
                <a:t>1,240</a:t>
              </a:r>
              <a:endParaRPr b="0" i="0" sz="1299" u="none" cap="none" strike="noStrike">
                <a:solidFill>
                  <a:srgbClr val="000000"/>
                </a:solidFill>
                <a:latin typeface="Calibri"/>
                <a:ea typeface="Calibri"/>
                <a:cs typeface="Calibri"/>
                <a:sym typeface="Calibri"/>
              </a:endParaRPr>
            </a:p>
          </p:txBody>
        </p:sp>
        <p:sp>
          <p:nvSpPr>
            <p:cNvPr id="351" name="Google Shape;351;p22"/>
            <p:cNvSpPr/>
            <p:nvPr/>
          </p:nvSpPr>
          <p:spPr>
            <a:xfrm>
              <a:off x="888760" y="2762889"/>
              <a:ext cx="950100" cy="12663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4A3C"/>
                </a:buClr>
                <a:buSzPts val="520"/>
                <a:buFont typeface="Calibri"/>
                <a:buNone/>
              </a:pPr>
              <a:r>
                <a:rPr b="0" i="0" lang="en-GB" sz="520" u="none" cap="none" strike="noStrike">
                  <a:solidFill>
                    <a:srgbClr val="5A4A3C"/>
                  </a:solidFill>
                  <a:latin typeface="Calibri"/>
                  <a:ea typeface="Calibri"/>
                  <a:cs typeface="Calibri"/>
                  <a:sym typeface="Calibri"/>
                </a:rPr>
                <a:t>points balance</a:t>
              </a:r>
              <a:endParaRPr b="0" i="0" sz="520" u="none" cap="none" strike="noStrike">
                <a:solidFill>
                  <a:srgbClr val="000000"/>
                </a:solidFill>
                <a:latin typeface="Calibri"/>
                <a:ea typeface="Calibri"/>
                <a:cs typeface="Calibri"/>
                <a:sym typeface="Calibri"/>
              </a:endParaRPr>
            </a:p>
          </p:txBody>
        </p:sp>
        <p:sp>
          <p:nvSpPr>
            <p:cNvPr id="352" name="Google Shape;352;p22"/>
            <p:cNvSpPr/>
            <p:nvPr/>
          </p:nvSpPr>
          <p:spPr>
            <a:xfrm>
              <a:off x="1731966" y="2615445"/>
              <a:ext cx="504900" cy="237042"/>
            </a:xfrm>
            <a:prstGeom prst="roundRect">
              <a:avLst>
                <a:gd fmla="val 17778" name="adj"/>
              </a:avLst>
            </a:prstGeom>
            <a:solidFill>
              <a:srgbClr val="B4552F"/>
            </a:solidFill>
            <a:ln>
              <a:noFill/>
            </a:ln>
          </p:spPr>
          <p:txBody>
            <a:bodyPr anchorCtr="0" anchor="ctr" bIns="59375" lIns="59375" spcFirstLastPara="1" rIns="59375" wrap="square" tIns="59375">
              <a:noAutofit/>
            </a:bodyPr>
            <a:lstStyle/>
            <a:p>
              <a:pPr indent="0" lvl="0" marL="0" rtl="0" algn="l">
                <a:spcBef>
                  <a:spcPts val="0"/>
                </a:spcBef>
                <a:spcAft>
                  <a:spcPts val="0"/>
                </a:spcAft>
                <a:buNone/>
              </a:pPr>
              <a:r>
                <a:t/>
              </a:r>
              <a:endParaRPr/>
            </a:p>
          </p:txBody>
        </p:sp>
        <p:sp>
          <p:nvSpPr>
            <p:cNvPr id="353" name="Google Shape;353;p22"/>
            <p:cNvSpPr/>
            <p:nvPr/>
          </p:nvSpPr>
          <p:spPr>
            <a:xfrm>
              <a:off x="1731966" y="2615445"/>
              <a:ext cx="504900" cy="23704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552"/>
                <a:buFont typeface="Calibri"/>
                <a:buNone/>
              </a:pPr>
              <a:r>
                <a:rPr b="1" i="0" lang="en-GB" sz="552" u="none" cap="none" strike="noStrike">
                  <a:solidFill>
                    <a:srgbClr val="FFFFFF"/>
                  </a:solidFill>
                  <a:latin typeface="Calibri"/>
                  <a:ea typeface="Calibri"/>
                  <a:cs typeface="Calibri"/>
                  <a:sym typeface="Calibri"/>
                </a:rPr>
                <a:t>Redeem</a:t>
              </a:r>
              <a:endParaRPr b="0" i="0" sz="552" u="none" cap="none" strike="noStrike">
                <a:solidFill>
                  <a:srgbClr val="000000"/>
                </a:solidFill>
                <a:latin typeface="Calibri"/>
                <a:ea typeface="Calibri"/>
                <a:cs typeface="Calibri"/>
                <a:sym typeface="Calibri"/>
              </a:endParaRPr>
            </a:p>
          </p:txBody>
        </p:sp>
        <p:sp>
          <p:nvSpPr>
            <p:cNvPr id="354" name="Google Shape;354;p22"/>
            <p:cNvSpPr/>
            <p:nvPr/>
          </p:nvSpPr>
          <p:spPr>
            <a:xfrm>
              <a:off x="829379" y="3036714"/>
              <a:ext cx="1437000" cy="11599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4A3C"/>
                </a:buClr>
                <a:buSzPts val="520"/>
                <a:buFont typeface="Calibri"/>
                <a:buNone/>
              </a:pPr>
              <a:r>
                <a:rPr b="0" i="0" lang="en-GB" sz="520" u="none" cap="none" strike="noStrike">
                  <a:solidFill>
                    <a:srgbClr val="5A4A3C"/>
                  </a:solidFill>
                  <a:latin typeface="Calibri"/>
                  <a:ea typeface="Calibri"/>
                  <a:cs typeface="Calibri"/>
                  <a:sym typeface="Calibri"/>
                </a:rPr>
                <a:t>260 pts to Platinum</a:t>
              </a:r>
              <a:endParaRPr b="0" i="0" sz="520" u="none" cap="none" strike="noStrike">
                <a:solidFill>
                  <a:srgbClr val="000000"/>
                </a:solidFill>
                <a:latin typeface="Calibri"/>
                <a:ea typeface="Calibri"/>
                <a:cs typeface="Calibri"/>
                <a:sym typeface="Calibri"/>
              </a:endParaRPr>
            </a:p>
          </p:txBody>
        </p:sp>
        <p:sp>
          <p:nvSpPr>
            <p:cNvPr id="355" name="Google Shape;355;p22"/>
            <p:cNvSpPr/>
            <p:nvPr/>
          </p:nvSpPr>
          <p:spPr>
            <a:xfrm>
              <a:off x="829379" y="3163095"/>
              <a:ext cx="1437000" cy="94710"/>
            </a:xfrm>
            <a:prstGeom prst="roundRect">
              <a:avLst>
                <a:gd fmla="val 16667" name="adj"/>
              </a:avLst>
            </a:prstGeom>
            <a:solidFill>
              <a:srgbClr val="E4D8C4"/>
            </a:solidFill>
            <a:ln>
              <a:noFill/>
            </a:ln>
          </p:spPr>
          <p:txBody>
            <a:bodyPr anchorCtr="0" anchor="ctr" bIns="59375" lIns="59375" spcFirstLastPara="1" rIns="59375" wrap="square" tIns="59375">
              <a:noAutofit/>
            </a:bodyPr>
            <a:lstStyle/>
            <a:p>
              <a:pPr indent="0" lvl="0" marL="0" rtl="0" algn="l">
                <a:spcBef>
                  <a:spcPts val="0"/>
                </a:spcBef>
                <a:spcAft>
                  <a:spcPts val="0"/>
                </a:spcAft>
                <a:buNone/>
              </a:pPr>
              <a:r>
                <a:t/>
              </a:r>
              <a:endParaRPr/>
            </a:p>
          </p:txBody>
        </p:sp>
        <p:sp>
          <p:nvSpPr>
            <p:cNvPr id="356" name="Google Shape;356;p22"/>
            <p:cNvSpPr/>
            <p:nvPr/>
          </p:nvSpPr>
          <p:spPr>
            <a:xfrm>
              <a:off x="829379" y="3163095"/>
              <a:ext cx="1005600" cy="94710"/>
            </a:xfrm>
            <a:prstGeom prst="roundRect">
              <a:avLst>
                <a:gd fmla="val 16667" name="adj"/>
              </a:avLst>
            </a:prstGeom>
            <a:solidFill>
              <a:srgbClr val="C9A66B"/>
            </a:solidFill>
            <a:ln>
              <a:noFill/>
            </a:ln>
          </p:spPr>
          <p:txBody>
            <a:bodyPr anchorCtr="0" anchor="ctr" bIns="59375" lIns="59375" spcFirstLastPara="1" rIns="59375" wrap="square" tIns="59375">
              <a:noAutofit/>
            </a:bodyPr>
            <a:lstStyle/>
            <a:p>
              <a:pPr indent="0" lvl="0" marL="0" rtl="0" algn="l">
                <a:spcBef>
                  <a:spcPts val="0"/>
                </a:spcBef>
                <a:spcAft>
                  <a:spcPts val="0"/>
                </a:spcAft>
                <a:buNone/>
              </a:pPr>
              <a:r>
                <a:t/>
              </a:r>
              <a:endParaRPr/>
            </a:p>
          </p:txBody>
        </p:sp>
        <p:sp>
          <p:nvSpPr>
            <p:cNvPr id="357" name="Google Shape;357;p22"/>
            <p:cNvSpPr/>
            <p:nvPr/>
          </p:nvSpPr>
          <p:spPr>
            <a:xfrm>
              <a:off x="829379" y="3352666"/>
              <a:ext cx="1437000" cy="263380"/>
            </a:xfrm>
            <a:prstGeom prst="roundRect">
              <a:avLst>
                <a:gd fmla="val 12000" name="adj"/>
              </a:avLst>
            </a:prstGeom>
            <a:solidFill>
              <a:srgbClr val="FFFFFF"/>
            </a:solidFill>
            <a:ln cap="flat" cmpd="sng" w="6200">
              <a:solidFill>
                <a:srgbClr val="E4D8C4"/>
              </a:solidFill>
              <a:prstDash val="solid"/>
              <a:round/>
              <a:headEnd len="sm" w="sm" type="none"/>
              <a:tailEnd len="sm" w="sm" type="none"/>
            </a:ln>
          </p:spPr>
          <p:txBody>
            <a:bodyPr anchorCtr="0" anchor="ctr" bIns="59375" lIns="59375" spcFirstLastPara="1" rIns="59375" wrap="square" tIns="59375">
              <a:noAutofit/>
            </a:bodyPr>
            <a:lstStyle/>
            <a:p>
              <a:pPr indent="0" lvl="0" marL="0" rtl="0" algn="l">
                <a:spcBef>
                  <a:spcPts val="0"/>
                </a:spcBef>
                <a:spcAft>
                  <a:spcPts val="0"/>
                </a:spcAft>
                <a:buNone/>
              </a:pPr>
              <a:r>
                <a:t/>
              </a:r>
              <a:endParaRPr/>
            </a:p>
          </p:txBody>
        </p:sp>
        <p:sp>
          <p:nvSpPr>
            <p:cNvPr descr="/home/claude/otwc_deck/icons/star.png" id="358" name="Google Shape;358;p22"/>
            <p:cNvSpPr/>
            <p:nvPr/>
          </p:nvSpPr>
          <p:spPr>
            <a:xfrm>
              <a:off x="906574" y="3421123"/>
              <a:ext cx="142514" cy="126381"/>
            </a:xfrm>
            <a:prstGeom prst="rect">
              <a:avLst/>
            </a:prstGeom>
            <a:noFill/>
            <a:ln>
              <a:noFill/>
            </a:ln>
          </p:spPr>
        </p:sp>
        <p:sp>
          <p:nvSpPr>
            <p:cNvPr id="359" name="Google Shape;359;p22"/>
            <p:cNvSpPr/>
            <p:nvPr/>
          </p:nvSpPr>
          <p:spPr>
            <a:xfrm>
              <a:off x="1096592" y="3352666"/>
              <a:ext cx="1169700" cy="2633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2417"/>
                </a:buClr>
                <a:buSzPts val="584"/>
                <a:buFont typeface="Calibri"/>
                <a:buNone/>
              </a:pPr>
              <a:r>
                <a:rPr b="1" i="0" lang="en-GB" sz="584" u="none" cap="none" strike="noStrike">
                  <a:solidFill>
                    <a:srgbClr val="3B2417"/>
                  </a:solidFill>
                  <a:latin typeface="Calibri"/>
                  <a:ea typeface="Calibri"/>
                  <a:cs typeface="Calibri"/>
                  <a:sym typeface="Calibri"/>
                </a:rPr>
                <a:t>7-day visit streak</a:t>
              </a:r>
              <a:endParaRPr b="0" i="0" sz="584" u="none" cap="none" strike="noStrike">
                <a:solidFill>
                  <a:srgbClr val="000000"/>
                </a:solidFill>
                <a:latin typeface="Calibri"/>
                <a:ea typeface="Calibri"/>
                <a:cs typeface="Calibri"/>
                <a:sym typeface="Calibri"/>
              </a:endParaRPr>
            </a:p>
          </p:txBody>
        </p:sp>
        <p:sp>
          <p:nvSpPr>
            <p:cNvPr id="360" name="Google Shape;360;p22"/>
            <p:cNvSpPr/>
            <p:nvPr/>
          </p:nvSpPr>
          <p:spPr>
            <a:xfrm>
              <a:off x="829379" y="3638941"/>
              <a:ext cx="1437000" cy="210704"/>
            </a:xfrm>
            <a:prstGeom prst="roundRect">
              <a:avLst>
                <a:gd fmla="val 15000" name="adj"/>
              </a:avLst>
            </a:prstGeom>
            <a:solidFill>
              <a:srgbClr val="F0E8DA"/>
            </a:solidFill>
            <a:ln>
              <a:noFill/>
            </a:ln>
          </p:spPr>
          <p:txBody>
            <a:bodyPr anchorCtr="0" anchor="ctr" bIns="59375" lIns="59375" spcFirstLastPara="1" rIns="59375" wrap="square" tIns="59375">
              <a:noAutofit/>
            </a:bodyPr>
            <a:lstStyle/>
            <a:p>
              <a:pPr indent="0" lvl="0" marL="0" rtl="0" algn="l">
                <a:spcBef>
                  <a:spcPts val="0"/>
                </a:spcBef>
                <a:spcAft>
                  <a:spcPts val="0"/>
                </a:spcAft>
                <a:buNone/>
              </a:pPr>
              <a:r>
                <a:t/>
              </a:r>
              <a:endParaRPr/>
            </a:p>
          </p:txBody>
        </p:sp>
        <p:sp>
          <p:nvSpPr>
            <p:cNvPr descr="/home/claude/otwc_deck/icons/gift.png" id="361" name="Google Shape;361;p22"/>
            <p:cNvSpPr/>
            <p:nvPr/>
          </p:nvSpPr>
          <p:spPr>
            <a:xfrm>
              <a:off x="888760" y="3686333"/>
              <a:ext cx="130637" cy="115849"/>
            </a:xfrm>
            <a:prstGeom prst="rect">
              <a:avLst/>
            </a:prstGeom>
            <a:noFill/>
            <a:ln>
              <a:noFill/>
            </a:ln>
          </p:spPr>
        </p:sp>
        <p:sp>
          <p:nvSpPr>
            <p:cNvPr id="362" name="Google Shape;362;p22"/>
            <p:cNvSpPr/>
            <p:nvPr/>
          </p:nvSpPr>
          <p:spPr>
            <a:xfrm>
              <a:off x="1066902" y="3638941"/>
              <a:ext cx="1199400" cy="2107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09"/>
                </a:buClr>
                <a:buSzPts val="520"/>
                <a:buFont typeface="Calibri"/>
                <a:buNone/>
              </a:pPr>
              <a:r>
                <a:rPr b="0" i="0" lang="en-GB" sz="520" u="none" cap="none" strike="noStrike">
                  <a:solidFill>
                    <a:srgbClr val="241509"/>
                  </a:solidFill>
                  <a:latin typeface="Calibri"/>
                  <a:ea typeface="Calibri"/>
                  <a:cs typeface="Calibri"/>
                  <a:sym typeface="Calibri"/>
                </a:rPr>
                <a:t>Free Kaya Toast</a:t>
              </a:r>
              <a:endParaRPr b="0" i="0" sz="520" u="none" cap="none" strike="noStrike">
                <a:solidFill>
                  <a:srgbClr val="000000"/>
                </a:solidFill>
                <a:latin typeface="Calibri"/>
                <a:ea typeface="Calibri"/>
                <a:cs typeface="Calibri"/>
                <a:sym typeface="Calibri"/>
              </a:endParaRPr>
            </a:p>
          </p:txBody>
        </p:sp>
        <p:sp>
          <p:nvSpPr>
            <p:cNvPr id="363" name="Google Shape;363;p22"/>
            <p:cNvSpPr/>
            <p:nvPr/>
          </p:nvSpPr>
          <p:spPr>
            <a:xfrm>
              <a:off x="829379" y="3881171"/>
              <a:ext cx="1437000" cy="210704"/>
            </a:xfrm>
            <a:prstGeom prst="roundRect">
              <a:avLst>
                <a:gd fmla="val 15000" name="adj"/>
              </a:avLst>
            </a:prstGeom>
            <a:solidFill>
              <a:srgbClr val="F0E8DA"/>
            </a:solidFill>
            <a:ln>
              <a:noFill/>
            </a:ln>
          </p:spPr>
          <p:txBody>
            <a:bodyPr anchorCtr="0" anchor="ctr" bIns="59375" lIns="59375" spcFirstLastPara="1" rIns="59375" wrap="square" tIns="59375">
              <a:noAutofit/>
            </a:bodyPr>
            <a:lstStyle/>
            <a:p>
              <a:pPr indent="0" lvl="0" marL="0" rtl="0" algn="l">
                <a:spcBef>
                  <a:spcPts val="0"/>
                </a:spcBef>
                <a:spcAft>
                  <a:spcPts val="0"/>
                </a:spcAft>
                <a:buNone/>
              </a:pPr>
              <a:r>
                <a:t/>
              </a:r>
              <a:endParaRPr/>
            </a:p>
          </p:txBody>
        </p:sp>
        <p:sp>
          <p:nvSpPr>
            <p:cNvPr descr="/home/claude/otwc_deck/icons/gift.png" id="364" name="Google Shape;364;p22"/>
            <p:cNvSpPr/>
            <p:nvPr/>
          </p:nvSpPr>
          <p:spPr>
            <a:xfrm>
              <a:off x="888760" y="3928563"/>
              <a:ext cx="130637" cy="115849"/>
            </a:xfrm>
            <a:prstGeom prst="rect">
              <a:avLst/>
            </a:prstGeom>
            <a:noFill/>
            <a:ln>
              <a:noFill/>
            </a:ln>
          </p:spPr>
        </p:sp>
        <p:sp>
          <p:nvSpPr>
            <p:cNvPr id="365" name="Google Shape;365;p22"/>
            <p:cNvSpPr/>
            <p:nvPr/>
          </p:nvSpPr>
          <p:spPr>
            <a:xfrm>
              <a:off x="1066902" y="3881171"/>
              <a:ext cx="1199400" cy="2107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09"/>
                </a:buClr>
                <a:buSzPts val="520"/>
                <a:buFont typeface="Calibri"/>
                <a:buNone/>
              </a:pPr>
              <a:r>
                <a:rPr lang="en-GB" sz="520">
                  <a:solidFill>
                    <a:srgbClr val="241509"/>
                  </a:solidFill>
                  <a:latin typeface="Calibri"/>
                  <a:ea typeface="Calibri"/>
                  <a:cs typeface="Calibri"/>
                  <a:sym typeface="Calibri"/>
                </a:rPr>
                <a:t>SGD2 </a:t>
              </a:r>
              <a:r>
                <a:rPr b="0" i="0" lang="en-GB" sz="520" u="none" cap="none" strike="noStrike">
                  <a:solidFill>
                    <a:srgbClr val="241509"/>
                  </a:solidFill>
                  <a:latin typeface="Calibri"/>
                  <a:ea typeface="Calibri"/>
                  <a:cs typeface="Calibri"/>
                  <a:sym typeface="Calibri"/>
                </a:rPr>
                <a:t>Off Birthday Treat</a:t>
              </a:r>
              <a:endParaRPr b="0" i="0" sz="520" u="none" cap="none" strike="noStrike">
                <a:solidFill>
                  <a:srgbClr val="000000"/>
                </a:solidFill>
                <a:latin typeface="Calibri"/>
                <a:ea typeface="Calibri"/>
                <a:cs typeface="Calibri"/>
                <a:sym typeface="Calibri"/>
              </a:endParaRPr>
            </a:p>
          </p:txBody>
        </p:sp>
        <p:grpSp>
          <p:nvGrpSpPr>
            <p:cNvPr id="366" name="Google Shape;366;p22"/>
            <p:cNvGrpSpPr/>
            <p:nvPr/>
          </p:nvGrpSpPr>
          <p:grpSpPr>
            <a:xfrm>
              <a:off x="740308" y="4230798"/>
              <a:ext cx="1615500" cy="289452"/>
              <a:chOff x="729483" y="3801625"/>
              <a:chExt cx="1615500" cy="326400"/>
            </a:xfrm>
          </p:grpSpPr>
          <p:sp>
            <p:nvSpPr>
              <p:cNvPr id="367" name="Google Shape;367;p22"/>
              <p:cNvSpPr/>
              <p:nvPr/>
            </p:nvSpPr>
            <p:spPr>
              <a:xfrm>
                <a:off x="818554" y="3926324"/>
                <a:ext cx="1437000" cy="13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8B78"/>
                  </a:buClr>
                  <a:buSzPts val="520"/>
                  <a:buFont typeface="Calibri"/>
                  <a:buNone/>
                </a:pPr>
                <a:r>
                  <a:rPr b="1" i="0" lang="en-GB" sz="520" u="none" cap="none" strike="noStrike">
                    <a:solidFill>
                      <a:srgbClr val="9A8B78"/>
                    </a:solidFill>
                    <a:latin typeface="Calibri"/>
                    <a:ea typeface="Calibri"/>
                    <a:cs typeface="Calibri"/>
                    <a:sym typeface="Calibri"/>
                  </a:rPr>
                  <a:t>MY REWARDS</a:t>
                </a:r>
                <a:endParaRPr b="0" i="0" sz="520" u="none" cap="none" strike="noStrike">
                  <a:solidFill>
                    <a:srgbClr val="000000"/>
                  </a:solidFill>
                  <a:latin typeface="Calibri"/>
                  <a:ea typeface="Calibri"/>
                  <a:cs typeface="Calibri"/>
                  <a:sym typeface="Calibri"/>
                </a:endParaRPr>
              </a:p>
            </p:txBody>
          </p:sp>
          <p:sp>
            <p:nvSpPr>
              <p:cNvPr id="368" name="Google Shape;368;p22"/>
              <p:cNvSpPr/>
              <p:nvPr/>
            </p:nvSpPr>
            <p:spPr>
              <a:xfrm>
                <a:off x="729483" y="3801625"/>
                <a:ext cx="1615500" cy="326400"/>
              </a:xfrm>
              <a:prstGeom prst="rect">
                <a:avLst/>
              </a:prstGeom>
              <a:solidFill>
                <a:srgbClr val="FFFFFF"/>
              </a:solidFill>
              <a:ln cap="flat" cmpd="sng" w="6200">
                <a:solidFill>
                  <a:srgbClr val="E4D8C4"/>
                </a:solidFill>
                <a:prstDash val="solid"/>
                <a:round/>
                <a:headEnd len="sm" w="sm" type="none"/>
                <a:tailEnd len="sm" w="sm" type="none"/>
              </a:ln>
            </p:spPr>
            <p:txBody>
              <a:bodyPr anchorCtr="0" anchor="ctr" bIns="59375" lIns="59375" spcFirstLastPara="1" rIns="59375" wrap="square" tIns="59375">
                <a:noAutofit/>
              </a:bodyPr>
              <a:lstStyle/>
              <a:p>
                <a:pPr indent="0" lvl="0" marL="0" rtl="0" algn="l">
                  <a:spcBef>
                    <a:spcPts val="0"/>
                  </a:spcBef>
                  <a:spcAft>
                    <a:spcPts val="0"/>
                  </a:spcAft>
                  <a:buNone/>
                </a:pPr>
                <a:r>
                  <a:t/>
                </a:r>
                <a:endParaRPr/>
              </a:p>
            </p:txBody>
          </p:sp>
          <p:sp>
            <p:nvSpPr>
              <p:cNvPr descr="/home/claude/otwc_deck/icons/home.png" id="369" name="Google Shape;369;p22"/>
              <p:cNvSpPr/>
              <p:nvPr/>
            </p:nvSpPr>
            <p:spPr>
              <a:xfrm>
                <a:off x="854183" y="3837253"/>
                <a:ext cx="154390" cy="154390"/>
              </a:xfrm>
              <a:prstGeom prst="rect">
                <a:avLst/>
              </a:prstGeom>
              <a:noFill/>
              <a:ln>
                <a:noFill/>
              </a:ln>
            </p:spPr>
          </p:sp>
          <p:sp>
            <p:nvSpPr>
              <p:cNvPr id="370" name="Google Shape;370;p22"/>
              <p:cNvSpPr/>
              <p:nvPr/>
            </p:nvSpPr>
            <p:spPr>
              <a:xfrm>
                <a:off x="729483" y="3997581"/>
                <a:ext cx="403800" cy="118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B78"/>
                  </a:buClr>
                  <a:buSzPts val="487"/>
                  <a:buFont typeface="Calibri"/>
                  <a:buNone/>
                </a:pPr>
                <a:r>
                  <a:rPr b="0" i="0" lang="en-GB" sz="487" u="none" cap="none" strike="noStrike">
                    <a:solidFill>
                      <a:srgbClr val="9A8B78"/>
                    </a:solidFill>
                    <a:latin typeface="Calibri"/>
                    <a:ea typeface="Calibri"/>
                    <a:cs typeface="Calibri"/>
                    <a:sym typeface="Calibri"/>
                  </a:rPr>
                  <a:t>Home</a:t>
                </a:r>
                <a:endParaRPr b="0" i="0" sz="487" u="none" cap="none" strike="noStrike">
                  <a:solidFill>
                    <a:srgbClr val="000000"/>
                  </a:solidFill>
                  <a:latin typeface="Calibri"/>
                  <a:ea typeface="Calibri"/>
                  <a:cs typeface="Calibri"/>
                  <a:sym typeface="Calibri"/>
                </a:endParaRPr>
              </a:p>
            </p:txBody>
          </p:sp>
          <p:sp>
            <p:nvSpPr>
              <p:cNvPr descr="/home/claude/otwc_deck/icons/search.png" id="371" name="Google Shape;371;p22"/>
              <p:cNvSpPr/>
              <p:nvPr/>
            </p:nvSpPr>
            <p:spPr>
              <a:xfrm>
                <a:off x="1257971" y="3837253"/>
                <a:ext cx="154390" cy="154390"/>
              </a:xfrm>
              <a:prstGeom prst="rect">
                <a:avLst/>
              </a:prstGeom>
              <a:noFill/>
              <a:ln>
                <a:noFill/>
              </a:ln>
            </p:spPr>
          </p:sp>
          <p:sp>
            <p:nvSpPr>
              <p:cNvPr id="372" name="Google Shape;372;p22"/>
              <p:cNvSpPr/>
              <p:nvPr/>
            </p:nvSpPr>
            <p:spPr>
              <a:xfrm>
                <a:off x="1133272" y="3997581"/>
                <a:ext cx="403800" cy="118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B78"/>
                  </a:buClr>
                  <a:buSzPts val="487"/>
                  <a:buFont typeface="Calibri"/>
                  <a:buNone/>
                </a:pPr>
                <a:r>
                  <a:rPr lang="en-GB" sz="487">
                    <a:solidFill>
                      <a:srgbClr val="9A8B78"/>
                    </a:solidFill>
                    <a:latin typeface="Calibri"/>
                    <a:ea typeface="Calibri"/>
                    <a:cs typeface="Calibri"/>
                    <a:sym typeface="Calibri"/>
                  </a:rPr>
                  <a:t>Pulse</a:t>
                </a:r>
                <a:endParaRPr b="0" i="0" sz="487" u="none" cap="none" strike="noStrike">
                  <a:solidFill>
                    <a:srgbClr val="000000"/>
                  </a:solidFill>
                  <a:latin typeface="Calibri"/>
                  <a:ea typeface="Calibri"/>
                  <a:cs typeface="Calibri"/>
                  <a:sym typeface="Calibri"/>
                </a:endParaRPr>
              </a:p>
            </p:txBody>
          </p:sp>
          <p:sp>
            <p:nvSpPr>
              <p:cNvPr descr="/home/claude/otwc_deck/icons/pin.png" id="373" name="Google Shape;373;p22"/>
              <p:cNvSpPr/>
              <p:nvPr/>
            </p:nvSpPr>
            <p:spPr>
              <a:xfrm>
                <a:off x="1661760" y="3837253"/>
                <a:ext cx="154390" cy="154390"/>
              </a:xfrm>
              <a:prstGeom prst="rect">
                <a:avLst/>
              </a:prstGeom>
              <a:noFill/>
              <a:ln>
                <a:noFill/>
              </a:ln>
            </p:spPr>
          </p:sp>
          <p:sp>
            <p:nvSpPr>
              <p:cNvPr id="374" name="Google Shape;374;p22"/>
              <p:cNvSpPr/>
              <p:nvPr/>
            </p:nvSpPr>
            <p:spPr>
              <a:xfrm>
                <a:off x="1537061" y="3997581"/>
                <a:ext cx="403800" cy="118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B78"/>
                  </a:buClr>
                  <a:buSzPts val="487"/>
                  <a:buFont typeface="Calibri"/>
                  <a:buNone/>
                </a:pPr>
                <a:r>
                  <a:rPr b="0" i="0" lang="en-GB" sz="487" u="none" cap="none" strike="noStrike">
                    <a:solidFill>
                      <a:srgbClr val="9A8B78"/>
                    </a:solidFill>
                    <a:latin typeface="Calibri"/>
                    <a:ea typeface="Calibri"/>
                    <a:cs typeface="Calibri"/>
                    <a:sym typeface="Calibri"/>
                  </a:rPr>
                  <a:t>Outlets</a:t>
                </a:r>
                <a:endParaRPr b="0" i="0" sz="487" u="none" cap="none" strike="noStrike">
                  <a:solidFill>
                    <a:srgbClr val="000000"/>
                  </a:solidFill>
                  <a:latin typeface="Calibri"/>
                  <a:ea typeface="Calibri"/>
                  <a:cs typeface="Calibri"/>
                  <a:sym typeface="Calibri"/>
                </a:endParaRPr>
              </a:p>
            </p:txBody>
          </p:sp>
          <p:sp>
            <p:nvSpPr>
              <p:cNvPr descr="/home/claude/otwc_deck/icons/crown.png" id="375" name="Google Shape;375;p22"/>
              <p:cNvSpPr/>
              <p:nvPr/>
            </p:nvSpPr>
            <p:spPr>
              <a:xfrm>
                <a:off x="2065549" y="3837253"/>
                <a:ext cx="154390" cy="154390"/>
              </a:xfrm>
              <a:prstGeom prst="rect">
                <a:avLst/>
              </a:prstGeom>
              <a:noFill/>
              <a:ln>
                <a:noFill/>
              </a:ln>
            </p:spPr>
          </p:sp>
          <p:sp>
            <p:nvSpPr>
              <p:cNvPr id="376" name="Google Shape;376;p22"/>
              <p:cNvSpPr/>
              <p:nvPr/>
            </p:nvSpPr>
            <p:spPr>
              <a:xfrm>
                <a:off x="1940850" y="3997581"/>
                <a:ext cx="403800" cy="118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4552F"/>
                  </a:buClr>
                  <a:buSzPts val="487"/>
                  <a:buFont typeface="Calibri"/>
                  <a:buNone/>
                </a:pPr>
                <a:r>
                  <a:rPr b="1" i="0" lang="en-GB" sz="487" u="none" cap="none" strike="noStrike">
                    <a:solidFill>
                      <a:srgbClr val="B4552F"/>
                    </a:solidFill>
                    <a:latin typeface="Calibri"/>
                    <a:ea typeface="Calibri"/>
                    <a:cs typeface="Calibri"/>
                    <a:sym typeface="Calibri"/>
                  </a:rPr>
                  <a:t>Account</a:t>
                </a:r>
                <a:endParaRPr b="0" i="0" sz="487" u="none" cap="none" strike="noStrike">
                  <a:solidFill>
                    <a:srgbClr val="000000"/>
                  </a:solidFill>
                  <a:latin typeface="Calibri"/>
                  <a:ea typeface="Calibri"/>
                  <a:cs typeface="Calibri"/>
                  <a:sym typeface="Calibri"/>
                </a:endParaRPr>
              </a:p>
            </p:txBody>
          </p:sp>
        </p:grpSp>
        <p:sp>
          <p:nvSpPr>
            <p:cNvPr id="377" name="Google Shape;377;p22"/>
            <p:cNvSpPr/>
            <p:nvPr/>
          </p:nvSpPr>
          <p:spPr>
            <a:xfrm>
              <a:off x="1403750" y="1753259"/>
              <a:ext cx="288600" cy="237042"/>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swald"/>
                <a:ea typeface="Oswald"/>
                <a:cs typeface="Oswald"/>
                <a:sym typeface="Oswald"/>
              </a:endParaRPr>
            </a:p>
          </p:txBody>
        </p:sp>
      </p:grpSp>
      <p:sp>
        <p:nvSpPr>
          <p:cNvPr id="378" name="Google Shape;378;p22"/>
          <p:cNvSpPr txBox="1"/>
          <p:nvPr>
            <p:ph type="title"/>
          </p:nvPr>
        </p:nvSpPr>
        <p:spPr>
          <a:xfrm>
            <a:off x="348725" y="4517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latin typeface="Cambria"/>
                <a:ea typeface="Cambria"/>
                <a:cs typeface="Cambria"/>
                <a:sym typeface="Cambria"/>
              </a:rPr>
              <a:t>Member Account</a:t>
            </a:r>
            <a:endParaRPr b="1">
              <a:latin typeface="Cambria"/>
              <a:ea typeface="Cambria"/>
              <a:cs typeface="Cambria"/>
              <a:sym typeface="Cambri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23"/>
          <p:cNvSpPr/>
          <p:nvPr/>
        </p:nvSpPr>
        <p:spPr>
          <a:xfrm>
            <a:off x="429430" y="177475"/>
            <a:ext cx="9144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66B"/>
              </a:buClr>
              <a:buSzPts val="1200"/>
              <a:buFont typeface="Calibri"/>
              <a:buNone/>
            </a:pPr>
            <a:r>
              <a:rPr b="1" lang="en-GB" sz="1200">
                <a:solidFill>
                  <a:srgbClr val="C9A66B"/>
                </a:solidFill>
                <a:latin typeface="Calibri"/>
                <a:ea typeface="Calibri"/>
                <a:cs typeface="Calibri"/>
                <a:sym typeface="Calibri"/>
              </a:rPr>
              <a:t>FEATURE </a:t>
            </a:r>
            <a:r>
              <a:rPr b="1" i="0" lang="en-GB" sz="1200" u="none" cap="none" strike="noStrike">
                <a:solidFill>
                  <a:srgbClr val="C9A66B"/>
                </a:solidFill>
                <a:latin typeface="Calibri"/>
                <a:ea typeface="Calibri"/>
                <a:cs typeface="Calibri"/>
                <a:sym typeface="Calibri"/>
              </a:rPr>
              <a:t>5 ·  </a:t>
            </a:r>
            <a:r>
              <a:rPr b="1" lang="en-GB" sz="1200">
                <a:solidFill>
                  <a:srgbClr val="C9A66B"/>
                </a:solidFill>
                <a:latin typeface="Calibri"/>
                <a:ea typeface="Calibri"/>
                <a:cs typeface="Calibri"/>
                <a:sym typeface="Calibri"/>
              </a:rPr>
              <a:t>PRODUCT TESTING</a:t>
            </a:r>
            <a:endParaRPr b="1" i="0" sz="1200" u="none" cap="none" strike="noStrike">
              <a:solidFill>
                <a:srgbClr val="000000"/>
              </a:solidFill>
              <a:latin typeface="Calibri"/>
              <a:ea typeface="Calibri"/>
              <a:cs typeface="Calibri"/>
              <a:sym typeface="Calibri"/>
            </a:endParaRPr>
          </a:p>
        </p:txBody>
      </p:sp>
      <p:pic>
        <p:nvPicPr>
          <p:cNvPr id="384" name="Google Shape;384;p23" title="logo.png"/>
          <p:cNvPicPr preferRelativeResize="0"/>
          <p:nvPr/>
        </p:nvPicPr>
        <p:blipFill>
          <a:blip r:embed="rId3">
            <a:alphaModFix/>
          </a:blip>
          <a:stretch>
            <a:fillRect/>
          </a:stretch>
        </p:blipFill>
        <p:spPr>
          <a:xfrm>
            <a:off x="7743638" y="59725"/>
            <a:ext cx="1304024" cy="1165525"/>
          </a:xfrm>
          <a:prstGeom prst="rect">
            <a:avLst/>
          </a:prstGeom>
          <a:noFill/>
          <a:ln>
            <a:noFill/>
          </a:ln>
        </p:spPr>
      </p:pic>
      <p:sp>
        <p:nvSpPr>
          <p:cNvPr id="385" name="Google Shape;385;p23"/>
          <p:cNvSpPr txBox="1"/>
          <p:nvPr>
            <p:ph type="title"/>
          </p:nvPr>
        </p:nvSpPr>
        <p:spPr>
          <a:xfrm>
            <a:off x="363525" y="5392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latin typeface="Cambria"/>
                <a:ea typeface="Cambria"/>
                <a:cs typeface="Cambria"/>
                <a:sym typeface="Cambria"/>
              </a:rPr>
              <a:t>Kopi Pulse (New products)</a:t>
            </a:r>
            <a:endParaRPr b="1">
              <a:latin typeface="Cambria"/>
              <a:ea typeface="Cambria"/>
              <a:cs typeface="Cambria"/>
              <a:sym typeface="Cambria"/>
            </a:endParaRPr>
          </a:p>
        </p:txBody>
      </p:sp>
      <p:sp>
        <p:nvSpPr>
          <p:cNvPr id="386" name="Google Shape;386;p23"/>
          <p:cNvSpPr/>
          <p:nvPr/>
        </p:nvSpPr>
        <p:spPr>
          <a:xfrm>
            <a:off x="3314223" y="1307852"/>
            <a:ext cx="5218800" cy="435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4A3C"/>
              </a:buClr>
              <a:buSzPts val="1110"/>
              <a:buFont typeface="Calibri"/>
              <a:buNone/>
            </a:pPr>
            <a:r>
              <a:rPr b="0" i="1" lang="en-GB" sz="1110" u="none" cap="none" strike="noStrike">
                <a:solidFill>
                  <a:srgbClr val="5A4A3C"/>
                </a:solidFill>
                <a:latin typeface="Calibri"/>
                <a:ea typeface="Calibri"/>
                <a:cs typeface="Calibri"/>
                <a:sym typeface="Calibri"/>
              </a:rPr>
              <a:t>Turns product testing into a live, shareable customer experience.</a:t>
            </a:r>
            <a:endParaRPr b="0" i="0" sz="1110" u="none" cap="none" strike="noStrike">
              <a:solidFill>
                <a:srgbClr val="000000"/>
              </a:solidFill>
              <a:latin typeface="Calibri"/>
              <a:ea typeface="Calibri"/>
              <a:cs typeface="Calibri"/>
              <a:sym typeface="Calibri"/>
            </a:endParaRPr>
          </a:p>
        </p:txBody>
      </p:sp>
      <p:sp>
        <p:nvSpPr>
          <p:cNvPr id="387" name="Google Shape;387;p23"/>
          <p:cNvSpPr/>
          <p:nvPr/>
        </p:nvSpPr>
        <p:spPr>
          <a:xfrm>
            <a:off x="3314233" y="1825445"/>
            <a:ext cx="4725900" cy="217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2417"/>
              </a:buClr>
              <a:buSzPts val="1070"/>
              <a:buFont typeface="Calibri"/>
              <a:buNone/>
            </a:pPr>
            <a:r>
              <a:rPr b="1" i="0" lang="en-GB" sz="1070" u="none" cap="none" strike="noStrike">
                <a:solidFill>
                  <a:srgbClr val="3B2417"/>
                </a:solidFill>
                <a:latin typeface="Calibri"/>
                <a:ea typeface="Calibri"/>
                <a:cs typeface="Calibri"/>
                <a:sym typeface="Calibri"/>
              </a:rPr>
              <a:t>Live leaderboard voting</a:t>
            </a:r>
            <a:endParaRPr b="0" i="0" sz="1070" u="none" cap="none" strike="noStrike">
              <a:solidFill>
                <a:srgbClr val="000000"/>
              </a:solidFill>
              <a:latin typeface="Calibri"/>
              <a:ea typeface="Calibri"/>
              <a:cs typeface="Calibri"/>
              <a:sym typeface="Calibri"/>
            </a:endParaRPr>
          </a:p>
        </p:txBody>
      </p:sp>
      <p:sp>
        <p:nvSpPr>
          <p:cNvPr id="388" name="Google Shape;388;p23"/>
          <p:cNvSpPr/>
          <p:nvPr/>
        </p:nvSpPr>
        <p:spPr>
          <a:xfrm>
            <a:off x="3314233" y="2035643"/>
            <a:ext cx="4725900" cy="28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4A3C"/>
              </a:buClr>
              <a:buSzPts val="912"/>
              <a:buFont typeface="Calibri"/>
              <a:buNone/>
            </a:pPr>
            <a:r>
              <a:rPr b="0" i="0" lang="en-GB" sz="912" u="none" cap="none" strike="noStrike">
                <a:solidFill>
                  <a:srgbClr val="5A4A3C"/>
                </a:solidFill>
                <a:latin typeface="Calibri"/>
                <a:ea typeface="Calibri"/>
                <a:cs typeface="Calibri"/>
                <a:sym typeface="Calibri"/>
              </a:rPr>
              <a:t>Customers pre-order experimental items; sales data ranks them</a:t>
            </a:r>
            <a:endParaRPr b="0" i="0" sz="912" u="none" cap="none" strike="noStrike">
              <a:solidFill>
                <a:srgbClr val="000000"/>
              </a:solidFill>
              <a:latin typeface="Calibri"/>
              <a:ea typeface="Calibri"/>
              <a:cs typeface="Calibri"/>
              <a:sym typeface="Calibri"/>
            </a:endParaRPr>
          </a:p>
        </p:txBody>
      </p:sp>
      <p:sp>
        <p:nvSpPr>
          <p:cNvPr id="389" name="Google Shape;389;p23"/>
          <p:cNvSpPr/>
          <p:nvPr/>
        </p:nvSpPr>
        <p:spPr>
          <a:xfrm>
            <a:off x="3314233" y="2405302"/>
            <a:ext cx="4725900" cy="217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2417"/>
              </a:buClr>
              <a:buSzPts val="1070"/>
              <a:buFont typeface="Calibri"/>
              <a:buNone/>
            </a:pPr>
            <a:r>
              <a:rPr b="1" lang="en-GB" sz="1070">
                <a:solidFill>
                  <a:srgbClr val="3B2417"/>
                </a:solidFill>
                <a:latin typeface="Calibri"/>
                <a:ea typeface="Calibri"/>
                <a:cs typeface="Calibri"/>
                <a:sym typeface="Calibri"/>
              </a:rPr>
              <a:t>Generate virality and demand for new products</a:t>
            </a:r>
            <a:endParaRPr b="0" i="0" sz="1070" u="none" cap="none" strike="noStrike">
              <a:solidFill>
                <a:srgbClr val="000000"/>
              </a:solidFill>
              <a:latin typeface="Calibri"/>
              <a:ea typeface="Calibri"/>
              <a:cs typeface="Calibri"/>
              <a:sym typeface="Calibri"/>
            </a:endParaRPr>
          </a:p>
        </p:txBody>
      </p:sp>
      <p:sp>
        <p:nvSpPr>
          <p:cNvPr id="390" name="Google Shape;390;p23"/>
          <p:cNvSpPr/>
          <p:nvPr/>
        </p:nvSpPr>
        <p:spPr>
          <a:xfrm>
            <a:off x="3314233" y="2615499"/>
            <a:ext cx="4725900" cy="28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4A3C"/>
              </a:buClr>
              <a:buSzPts val="912"/>
              <a:buFont typeface="Calibri"/>
              <a:buNone/>
            </a:pPr>
            <a:r>
              <a:rPr lang="en-GB" sz="912">
                <a:solidFill>
                  <a:srgbClr val="5A4A3C"/>
                </a:solidFill>
                <a:latin typeface="Calibri"/>
                <a:ea typeface="Calibri"/>
                <a:cs typeface="Calibri"/>
                <a:sym typeface="Calibri"/>
              </a:rPr>
              <a:t>Create social engagement with customers and generate hype for upcoming products </a:t>
            </a:r>
            <a:endParaRPr b="0" i="0" sz="912" u="none" cap="none" strike="noStrike">
              <a:solidFill>
                <a:srgbClr val="000000"/>
              </a:solidFill>
              <a:latin typeface="Calibri"/>
              <a:ea typeface="Calibri"/>
              <a:cs typeface="Calibri"/>
              <a:sym typeface="Calibri"/>
            </a:endParaRPr>
          </a:p>
        </p:txBody>
      </p:sp>
      <p:sp>
        <p:nvSpPr>
          <p:cNvPr id="391" name="Google Shape;391;p23"/>
          <p:cNvSpPr/>
          <p:nvPr/>
        </p:nvSpPr>
        <p:spPr>
          <a:xfrm>
            <a:off x="3314233" y="2985158"/>
            <a:ext cx="4725900" cy="217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2417"/>
              </a:buClr>
              <a:buSzPts val="1070"/>
              <a:buFont typeface="Calibri"/>
              <a:buNone/>
            </a:pPr>
            <a:r>
              <a:rPr b="1" lang="en-GB" sz="1070">
                <a:solidFill>
                  <a:srgbClr val="3B2417"/>
                </a:solidFill>
                <a:latin typeface="Calibri"/>
                <a:ea typeface="Calibri"/>
                <a:cs typeface="Calibri"/>
                <a:sym typeface="Calibri"/>
              </a:rPr>
              <a:t>Insights for menu changes</a:t>
            </a:r>
            <a:endParaRPr b="0" i="0" sz="1070" u="none" cap="none" strike="noStrike">
              <a:solidFill>
                <a:srgbClr val="000000"/>
              </a:solidFill>
              <a:latin typeface="Calibri"/>
              <a:ea typeface="Calibri"/>
              <a:cs typeface="Calibri"/>
              <a:sym typeface="Calibri"/>
            </a:endParaRPr>
          </a:p>
        </p:txBody>
      </p:sp>
      <p:sp>
        <p:nvSpPr>
          <p:cNvPr id="392" name="Google Shape;392;p23"/>
          <p:cNvSpPr/>
          <p:nvPr/>
        </p:nvSpPr>
        <p:spPr>
          <a:xfrm>
            <a:off x="3314233" y="3195355"/>
            <a:ext cx="4725900" cy="28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4A3C"/>
              </a:buClr>
              <a:buSzPts val="912"/>
              <a:buFont typeface="Calibri"/>
              <a:buNone/>
            </a:pPr>
            <a:r>
              <a:rPr b="0" i="0" lang="en-GB" sz="912" u="none" cap="none" strike="noStrike">
                <a:solidFill>
                  <a:srgbClr val="5A4A3C"/>
                </a:solidFill>
                <a:latin typeface="Calibri"/>
                <a:ea typeface="Calibri"/>
                <a:cs typeface="Calibri"/>
                <a:sym typeface="Calibri"/>
              </a:rPr>
              <a:t>T</a:t>
            </a:r>
            <a:r>
              <a:rPr lang="en-GB" sz="912">
                <a:solidFill>
                  <a:srgbClr val="5A4A3C"/>
                </a:solidFill>
                <a:latin typeface="Calibri"/>
                <a:ea typeface="Calibri"/>
                <a:cs typeface="Calibri"/>
                <a:sym typeface="Calibri"/>
              </a:rPr>
              <a:t>op favourites may be in</a:t>
            </a:r>
            <a:r>
              <a:rPr b="0" i="0" lang="en-GB" sz="912" u="none" cap="none" strike="noStrike">
                <a:solidFill>
                  <a:srgbClr val="5A4A3C"/>
                </a:solidFill>
                <a:latin typeface="Calibri"/>
                <a:ea typeface="Calibri"/>
                <a:cs typeface="Calibri"/>
                <a:sym typeface="Calibri"/>
              </a:rPr>
              <a:t> the full</a:t>
            </a:r>
            <a:r>
              <a:rPr lang="en-GB" sz="912">
                <a:solidFill>
                  <a:srgbClr val="5A4A3C"/>
                </a:solidFill>
                <a:latin typeface="Calibri"/>
                <a:ea typeface="Calibri"/>
                <a:cs typeface="Calibri"/>
                <a:sym typeface="Calibri"/>
              </a:rPr>
              <a:t>/seasonal menu</a:t>
            </a:r>
            <a:endParaRPr b="0" i="0" sz="912" u="none" cap="none" strike="noStrike">
              <a:solidFill>
                <a:srgbClr val="000000"/>
              </a:solidFill>
              <a:latin typeface="Calibri"/>
              <a:ea typeface="Calibri"/>
              <a:cs typeface="Calibri"/>
              <a:sym typeface="Calibri"/>
            </a:endParaRPr>
          </a:p>
        </p:txBody>
      </p:sp>
      <p:sp>
        <p:nvSpPr>
          <p:cNvPr id="393" name="Google Shape;393;p23"/>
          <p:cNvSpPr/>
          <p:nvPr/>
        </p:nvSpPr>
        <p:spPr>
          <a:xfrm>
            <a:off x="3314223" y="3612546"/>
            <a:ext cx="5218800" cy="398700"/>
          </a:xfrm>
          <a:prstGeom prst="roundRect">
            <a:avLst>
              <a:gd fmla="val 10909" name="adj"/>
            </a:avLst>
          </a:prstGeom>
          <a:solidFill>
            <a:srgbClr val="F3E4DA"/>
          </a:solidFill>
          <a:ln>
            <a:noFill/>
          </a:ln>
        </p:spPr>
        <p:txBody>
          <a:bodyPr anchorCtr="0" anchor="ctr" bIns="72475" lIns="72475" spcFirstLastPara="1" rIns="72475" wrap="square" tIns="72475">
            <a:noAutofit/>
          </a:bodyPr>
          <a:lstStyle/>
          <a:p>
            <a:pPr indent="0" lvl="0" marL="0" rtl="0" algn="l">
              <a:spcBef>
                <a:spcPts val="0"/>
              </a:spcBef>
              <a:spcAft>
                <a:spcPts val="0"/>
              </a:spcAft>
              <a:buNone/>
            </a:pPr>
            <a:r>
              <a:t/>
            </a:r>
            <a:endParaRPr/>
          </a:p>
        </p:txBody>
      </p:sp>
      <p:sp>
        <p:nvSpPr>
          <p:cNvPr id="394" name="Google Shape;394;p23"/>
          <p:cNvSpPr/>
          <p:nvPr/>
        </p:nvSpPr>
        <p:spPr>
          <a:xfrm>
            <a:off x="3459187" y="3612546"/>
            <a:ext cx="4928700" cy="39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52F"/>
              </a:buClr>
              <a:buSzPts val="872"/>
              <a:buFont typeface="Calibri"/>
              <a:buNone/>
            </a:pPr>
            <a:r>
              <a:rPr b="0" i="1" lang="en-GB" sz="872" u="none" cap="none" strike="noStrike">
                <a:solidFill>
                  <a:srgbClr val="B4552F"/>
                </a:solidFill>
                <a:latin typeface="Calibri"/>
                <a:ea typeface="Calibri"/>
                <a:cs typeface="Calibri"/>
                <a:sym typeface="Calibri"/>
              </a:rPr>
              <a:t>Replaces: </a:t>
            </a:r>
            <a:r>
              <a:rPr i="1" lang="en-GB" sz="872">
                <a:solidFill>
                  <a:srgbClr val="B4552F"/>
                </a:solidFill>
                <a:latin typeface="Calibri"/>
                <a:ea typeface="Calibri"/>
                <a:cs typeface="Calibri"/>
                <a:sym typeface="Calibri"/>
              </a:rPr>
              <a:t>N</a:t>
            </a:r>
            <a:r>
              <a:rPr b="0" i="1" lang="en-GB" sz="872" u="none" cap="none" strike="noStrike">
                <a:solidFill>
                  <a:srgbClr val="B4552F"/>
                </a:solidFill>
                <a:latin typeface="Calibri"/>
                <a:ea typeface="Calibri"/>
                <a:cs typeface="Calibri"/>
                <a:sym typeface="Calibri"/>
              </a:rPr>
              <a:t>o product-testing capability </a:t>
            </a:r>
            <a:endParaRPr i="1" sz="872">
              <a:solidFill>
                <a:srgbClr val="B4552F"/>
              </a:solidFill>
              <a:latin typeface="Calibri"/>
              <a:ea typeface="Calibri"/>
              <a:cs typeface="Calibri"/>
              <a:sym typeface="Calibri"/>
            </a:endParaRPr>
          </a:p>
          <a:p>
            <a:pPr indent="0" lvl="0" marL="0" marR="0" rtl="0" algn="l">
              <a:spcBef>
                <a:spcPts val="0"/>
              </a:spcBef>
              <a:spcAft>
                <a:spcPts val="0"/>
              </a:spcAft>
              <a:buClr>
                <a:srgbClr val="B4552F"/>
              </a:buClr>
              <a:buSzPts val="872"/>
              <a:buFont typeface="Calibri"/>
              <a:buNone/>
            </a:pPr>
            <a:r>
              <a:rPr i="1" lang="en-GB" sz="872">
                <a:solidFill>
                  <a:srgbClr val="B4552F"/>
                </a:solidFill>
                <a:latin typeface="Calibri"/>
                <a:ea typeface="Calibri"/>
                <a:cs typeface="Calibri"/>
                <a:sym typeface="Calibri"/>
              </a:rPr>
              <a:t>Introduces: New products and revenue stream</a:t>
            </a:r>
            <a:endParaRPr i="1" sz="872">
              <a:solidFill>
                <a:srgbClr val="B4552F"/>
              </a:solidFill>
              <a:latin typeface="Calibri"/>
              <a:ea typeface="Calibri"/>
              <a:cs typeface="Calibri"/>
              <a:sym typeface="Calibri"/>
            </a:endParaRPr>
          </a:p>
        </p:txBody>
      </p:sp>
      <p:sp>
        <p:nvSpPr>
          <p:cNvPr id="395" name="Google Shape;395;p23"/>
          <p:cNvSpPr/>
          <p:nvPr/>
        </p:nvSpPr>
        <p:spPr>
          <a:xfrm>
            <a:off x="668525" y="1496575"/>
            <a:ext cx="1683900" cy="3003000"/>
          </a:xfrm>
          <a:prstGeom prst="roundRect">
            <a:avLst>
              <a:gd fmla="val 9333" name="adj"/>
            </a:avLst>
          </a:prstGeom>
          <a:solidFill>
            <a:srgbClr val="3B2417"/>
          </a:solidFill>
          <a:ln cap="flat" cmpd="sng" w="15600">
            <a:solidFill>
              <a:srgbClr val="C9A66B"/>
            </a:solidFill>
            <a:prstDash val="solid"/>
            <a:round/>
            <a:headEnd len="sm" w="sm" type="none"/>
            <a:tailEnd len="sm" w="sm" type="none"/>
          </a:ln>
          <a:effectLst>
            <a:outerShdw blurRad="93552" rotWithShape="0" algn="bl" dir="5400000" dist="38980">
              <a:srgbClr val="3B2417">
                <a:alpha val="34900"/>
              </a:srgbClr>
            </a:outerShdw>
          </a:effectLst>
        </p:spPr>
        <p:txBody>
          <a:bodyPr anchorCtr="0" anchor="ctr" bIns="56125" lIns="56125" spcFirstLastPara="1" rIns="56125" wrap="square" tIns="56125">
            <a:noAutofit/>
          </a:bodyPr>
          <a:lstStyle/>
          <a:p>
            <a:pPr indent="0" lvl="0" marL="0" rtl="0" algn="l">
              <a:spcBef>
                <a:spcPts val="0"/>
              </a:spcBef>
              <a:spcAft>
                <a:spcPts val="0"/>
              </a:spcAft>
              <a:buNone/>
            </a:pPr>
            <a:r>
              <a:t/>
            </a:r>
            <a:endParaRPr/>
          </a:p>
        </p:txBody>
      </p:sp>
      <p:sp>
        <p:nvSpPr>
          <p:cNvPr id="396" name="Google Shape;396;p23"/>
          <p:cNvSpPr/>
          <p:nvPr/>
        </p:nvSpPr>
        <p:spPr>
          <a:xfrm>
            <a:off x="747108" y="1721099"/>
            <a:ext cx="1526700" cy="2598900"/>
          </a:xfrm>
          <a:prstGeom prst="roundRect">
            <a:avLst>
              <a:gd fmla="val 4412" name="adj"/>
            </a:avLst>
          </a:prstGeom>
          <a:solidFill>
            <a:srgbClr val="FBF7F0"/>
          </a:solidFill>
          <a:ln>
            <a:noFill/>
          </a:ln>
        </p:spPr>
        <p:txBody>
          <a:bodyPr anchorCtr="0" anchor="ctr" bIns="56125" lIns="56125" spcFirstLastPara="1" rIns="56125" wrap="square" tIns="56125">
            <a:noAutofit/>
          </a:bodyPr>
          <a:lstStyle/>
          <a:p>
            <a:pPr indent="0" lvl="0" marL="0" rtl="0" algn="l">
              <a:spcBef>
                <a:spcPts val="0"/>
              </a:spcBef>
              <a:spcAft>
                <a:spcPts val="0"/>
              </a:spcAft>
              <a:buNone/>
            </a:pPr>
            <a:r>
              <a:t/>
            </a:r>
            <a:endParaRPr/>
          </a:p>
        </p:txBody>
      </p:sp>
      <p:sp>
        <p:nvSpPr>
          <p:cNvPr id="397" name="Google Shape;397;p23"/>
          <p:cNvSpPr/>
          <p:nvPr/>
        </p:nvSpPr>
        <p:spPr>
          <a:xfrm>
            <a:off x="1257899" y="1563932"/>
            <a:ext cx="505200" cy="72900"/>
          </a:xfrm>
          <a:prstGeom prst="roundRect">
            <a:avLst>
              <a:gd fmla="val 46154" name="adj"/>
            </a:avLst>
          </a:prstGeom>
          <a:solidFill>
            <a:srgbClr val="3B2417"/>
          </a:solidFill>
          <a:ln cap="flat" cmpd="sng" w="5850">
            <a:solidFill>
              <a:srgbClr val="5A4632"/>
            </a:solidFill>
            <a:prstDash val="solid"/>
            <a:round/>
            <a:headEnd len="sm" w="sm" type="none"/>
            <a:tailEnd len="sm" w="sm" type="none"/>
          </a:ln>
        </p:spPr>
        <p:txBody>
          <a:bodyPr anchorCtr="0" anchor="ctr" bIns="56125" lIns="56125" spcFirstLastPara="1" rIns="56125" wrap="square" tIns="56125">
            <a:noAutofit/>
          </a:bodyPr>
          <a:lstStyle/>
          <a:p>
            <a:pPr indent="0" lvl="0" marL="0" rtl="0" algn="l">
              <a:spcBef>
                <a:spcPts val="0"/>
              </a:spcBef>
              <a:spcAft>
                <a:spcPts val="0"/>
              </a:spcAft>
              <a:buNone/>
            </a:pPr>
            <a:r>
              <a:t/>
            </a:r>
            <a:endParaRPr/>
          </a:p>
        </p:txBody>
      </p:sp>
      <p:sp>
        <p:nvSpPr>
          <p:cNvPr id="398" name="Google Shape;398;p23"/>
          <p:cNvSpPr/>
          <p:nvPr/>
        </p:nvSpPr>
        <p:spPr>
          <a:xfrm>
            <a:off x="1314030" y="4376100"/>
            <a:ext cx="393000" cy="33600"/>
          </a:xfrm>
          <a:prstGeom prst="roundRect">
            <a:avLst>
              <a:gd fmla="val 50000" name="adj"/>
            </a:avLst>
          </a:prstGeom>
          <a:solidFill>
            <a:srgbClr val="5A4632"/>
          </a:solidFill>
          <a:ln>
            <a:noFill/>
          </a:ln>
        </p:spPr>
        <p:txBody>
          <a:bodyPr anchorCtr="0" anchor="ctr" bIns="56125" lIns="56125" spcFirstLastPara="1" rIns="56125" wrap="square" tIns="56125">
            <a:noAutofit/>
          </a:bodyPr>
          <a:lstStyle/>
          <a:p>
            <a:pPr indent="0" lvl="0" marL="0" rtl="0" algn="l">
              <a:spcBef>
                <a:spcPts val="0"/>
              </a:spcBef>
              <a:spcAft>
                <a:spcPts val="0"/>
              </a:spcAft>
              <a:buNone/>
            </a:pPr>
            <a:r>
              <a:t/>
            </a:r>
            <a:endParaRPr/>
          </a:p>
        </p:txBody>
      </p:sp>
      <p:sp>
        <p:nvSpPr>
          <p:cNvPr id="399" name="Google Shape;399;p23"/>
          <p:cNvSpPr/>
          <p:nvPr/>
        </p:nvSpPr>
        <p:spPr>
          <a:xfrm>
            <a:off x="814465" y="1754778"/>
            <a:ext cx="449100" cy="123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09"/>
              </a:buClr>
              <a:buSzPts val="552"/>
              <a:buFont typeface="Calibri"/>
              <a:buNone/>
            </a:pPr>
            <a:r>
              <a:rPr b="1" i="0" lang="en-GB" sz="552" u="none" cap="none" strike="noStrike">
                <a:solidFill>
                  <a:srgbClr val="241509"/>
                </a:solidFill>
                <a:latin typeface="Calibri"/>
                <a:ea typeface="Calibri"/>
                <a:cs typeface="Calibri"/>
                <a:sym typeface="Calibri"/>
              </a:rPr>
              <a:t>9:41</a:t>
            </a:r>
            <a:endParaRPr b="0" i="0" sz="552" u="none" cap="none" strike="noStrike">
              <a:solidFill>
                <a:srgbClr val="000000"/>
              </a:solidFill>
              <a:latin typeface="Calibri"/>
              <a:ea typeface="Calibri"/>
              <a:cs typeface="Calibri"/>
              <a:sym typeface="Calibri"/>
            </a:endParaRPr>
          </a:p>
        </p:txBody>
      </p:sp>
      <p:sp>
        <p:nvSpPr>
          <p:cNvPr id="400" name="Google Shape;400;p23"/>
          <p:cNvSpPr/>
          <p:nvPr/>
        </p:nvSpPr>
        <p:spPr>
          <a:xfrm>
            <a:off x="1880951" y="1754778"/>
            <a:ext cx="336900" cy="123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41509"/>
              </a:buClr>
              <a:buSzPts val="552"/>
              <a:buFont typeface="Calibri"/>
              <a:buNone/>
            </a:pPr>
            <a:r>
              <a:rPr b="1" i="0" lang="en-GB" sz="552" u="none" cap="none" strike="noStrike">
                <a:solidFill>
                  <a:srgbClr val="241509"/>
                </a:solidFill>
                <a:latin typeface="Calibri"/>
                <a:ea typeface="Calibri"/>
                <a:cs typeface="Calibri"/>
                <a:sym typeface="Calibri"/>
              </a:rPr>
              <a:t>100%</a:t>
            </a:r>
            <a:endParaRPr b="0" i="0" sz="552" u="none" cap="none" strike="noStrike">
              <a:solidFill>
                <a:srgbClr val="000000"/>
              </a:solidFill>
              <a:latin typeface="Calibri"/>
              <a:ea typeface="Calibri"/>
              <a:cs typeface="Calibri"/>
              <a:sym typeface="Calibri"/>
            </a:endParaRPr>
          </a:p>
        </p:txBody>
      </p:sp>
      <p:sp>
        <p:nvSpPr>
          <p:cNvPr id="401" name="Google Shape;401;p23"/>
          <p:cNvSpPr/>
          <p:nvPr/>
        </p:nvSpPr>
        <p:spPr>
          <a:xfrm>
            <a:off x="747108" y="1889493"/>
            <a:ext cx="1526700" cy="280800"/>
          </a:xfrm>
          <a:prstGeom prst="rect">
            <a:avLst/>
          </a:prstGeom>
          <a:solidFill>
            <a:srgbClr val="3B2417"/>
          </a:solidFill>
          <a:ln>
            <a:noFill/>
          </a:ln>
        </p:spPr>
        <p:txBody>
          <a:bodyPr anchorCtr="0" anchor="ctr" bIns="56125" lIns="56125" spcFirstLastPara="1" rIns="56125" wrap="square" tIns="56125">
            <a:noAutofit/>
          </a:bodyPr>
          <a:lstStyle/>
          <a:p>
            <a:pPr indent="0" lvl="0" marL="0" rtl="0" algn="l">
              <a:spcBef>
                <a:spcPts val="0"/>
              </a:spcBef>
              <a:spcAft>
                <a:spcPts val="0"/>
              </a:spcAft>
              <a:buNone/>
            </a:pPr>
            <a:r>
              <a:t/>
            </a:r>
            <a:endParaRPr/>
          </a:p>
        </p:txBody>
      </p:sp>
      <p:sp>
        <p:nvSpPr>
          <p:cNvPr id="402" name="Google Shape;402;p23"/>
          <p:cNvSpPr/>
          <p:nvPr/>
        </p:nvSpPr>
        <p:spPr>
          <a:xfrm>
            <a:off x="747183" y="1887927"/>
            <a:ext cx="1526700" cy="280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29"/>
              <a:buFont typeface="Cambria"/>
              <a:buNone/>
            </a:pPr>
            <a:r>
              <a:rPr b="1" i="0" lang="en-GB" sz="829" u="none" cap="none" strike="noStrike">
                <a:solidFill>
                  <a:srgbClr val="FFFFFF"/>
                </a:solidFill>
                <a:latin typeface="Cambria"/>
                <a:ea typeface="Cambria"/>
                <a:cs typeface="Cambria"/>
                <a:sym typeface="Cambria"/>
              </a:rPr>
              <a:t>Kopi Pulse</a:t>
            </a:r>
            <a:endParaRPr b="0" i="0" sz="829" u="none" cap="none" strike="noStrike">
              <a:solidFill>
                <a:srgbClr val="000000"/>
              </a:solidFill>
              <a:latin typeface="Calibri"/>
              <a:ea typeface="Calibri"/>
              <a:cs typeface="Calibri"/>
              <a:sym typeface="Calibri"/>
            </a:endParaRPr>
          </a:p>
        </p:txBody>
      </p:sp>
      <p:sp>
        <p:nvSpPr>
          <p:cNvPr id="403" name="Google Shape;403;p23"/>
          <p:cNvSpPr/>
          <p:nvPr/>
        </p:nvSpPr>
        <p:spPr>
          <a:xfrm>
            <a:off x="831304" y="2237505"/>
            <a:ext cx="1358400" cy="477300"/>
          </a:xfrm>
          <a:prstGeom prst="roundRect">
            <a:avLst>
              <a:gd fmla="val 9412" name="adj"/>
            </a:avLst>
          </a:prstGeom>
          <a:solidFill>
            <a:srgbClr val="B4552F"/>
          </a:solidFill>
          <a:ln>
            <a:noFill/>
          </a:ln>
        </p:spPr>
        <p:txBody>
          <a:bodyPr anchorCtr="0" anchor="ctr" bIns="56125" lIns="56125" spcFirstLastPara="1" rIns="56125" wrap="square" tIns="56125">
            <a:noAutofit/>
          </a:bodyPr>
          <a:lstStyle/>
          <a:p>
            <a:pPr indent="0" lvl="0" marL="0" rtl="0" algn="l">
              <a:spcBef>
                <a:spcPts val="0"/>
              </a:spcBef>
              <a:spcAft>
                <a:spcPts val="0"/>
              </a:spcAft>
              <a:buNone/>
            </a:pPr>
            <a:r>
              <a:t/>
            </a:r>
            <a:endParaRPr/>
          </a:p>
        </p:txBody>
      </p:sp>
      <p:sp>
        <p:nvSpPr>
          <p:cNvPr id="404" name="Google Shape;404;p23"/>
          <p:cNvSpPr/>
          <p:nvPr/>
        </p:nvSpPr>
        <p:spPr>
          <a:xfrm>
            <a:off x="1224220" y="2316089"/>
            <a:ext cx="909300" cy="1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614"/>
              <a:buFont typeface="Calibri"/>
              <a:buNone/>
            </a:pPr>
            <a:r>
              <a:rPr b="1" i="0" lang="en-GB" sz="614" u="none" cap="none" strike="noStrike">
                <a:solidFill>
                  <a:srgbClr val="FFFFFF"/>
                </a:solidFill>
                <a:latin typeface="Calibri"/>
                <a:ea typeface="Calibri"/>
                <a:cs typeface="Calibri"/>
                <a:sym typeface="Calibri"/>
              </a:rPr>
              <a:t>This Week's Pulse</a:t>
            </a:r>
            <a:endParaRPr b="0" i="0" sz="614" u="none" cap="none" strike="noStrike">
              <a:solidFill>
                <a:srgbClr val="000000"/>
              </a:solidFill>
              <a:latin typeface="Calibri"/>
              <a:ea typeface="Calibri"/>
              <a:cs typeface="Calibri"/>
              <a:sym typeface="Calibri"/>
            </a:endParaRPr>
          </a:p>
        </p:txBody>
      </p:sp>
      <p:sp>
        <p:nvSpPr>
          <p:cNvPr id="405" name="Google Shape;405;p23"/>
          <p:cNvSpPr/>
          <p:nvPr/>
        </p:nvSpPr>
        <p:spPr>
          <a:xfrm>
            <a:off x="1224220" y="2484482"/>
            <a:ext cx="909300" cy="1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3D9C8"/>
              </a:buClr>
              <a:buSzPts val="491"/>
              <a:buFont typeface="Calibri"/>
              <a:buNone/>
            </a:pPr>
            <a:r>
              <a:rPr b="0" i="0" lang="en-GB" sz="491" u="none" cap="none" strike="noStrike">
                <a:solidFill>
                  <a:srgbClr val="F3D9C8"/>
                </a:solidFill>
                <a:latin typeface="Calibri"/>
                <a:ea typeface="Calibri"/>
                <a:cs typeface="Calibri"/>
                <a:sym typeface="Calibri"/>
              </a:rPr>
              <a:t>Vote before Sunday 11:59pm</a:t>
            </a:r>
            <a:endParaRPr b="0" i="0" sz="491" u="none" cap="none" strike="noStrike">
              <a:solidFill>
                <a:srgbClr val="000000"/>
              </a:solidFill>
              <a:latin typeface="Calibri"/>
              <a:ea typeface="Calibri"/>
              <a:cs typeface="Calibri"/>
              <a:sym typeface="Calibri"/>
            </a:endParaRPr>
          </a:p>
        </p:txBody>
      </p:sp>
      <p:sp>
        <p:nvSpPr>
          <p:cNvPr id="406" name="Google Shape;406;p23"/>
          <p:cNvSpPr/>
          <p:nvPr/>
        </p:nvSpPr>
        <p:spPr>
          <a:xfrm>
            <a:off x="859370" y="2798816"/>
            <a:ext cx="1190100" cy="13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09"/>
              </a:buClr>
              <a:buSzPts val="522"/>
              <a:buFont typeface="Calibri"/>
              <a:buNone/>
            </a:pPr>
            <a:r>
              <a:rPr b="1" i="0" lang="en-GB" sz="522" u="none" cap="none" strike="noStrike">
                <a:solidFill>
                  <a:srgbClr val="241509"/>
                </a:solidFill>
                <a:latin typeface="Calibri"/>
                <a:ea typeface="Calibri"/>
                <a:cs typeface="Calibri"/>
                <a:sym typeface="Calibri"/>
              </a:rPr>
              <a:t>#1 Gula Melaka Cold Brew</a:t>
            </a:r>
            <a:endParaRPr b="0" i="0" sz="522" u="none" cap="none" strike="noStrike">
              <a:solidFill>
                <a:srgbClr val="000000"/>
              </a:solidFill>
              <a:latin typeface="Calibri"/>
              <a:ea typeface="Calibri"/>
              <a:cs typeface="Calibri"/>
              <a:sym typeface="Calibri"/>
            </a:endParaRPr>
          </a:p>
        </p:txBody>
      </p:sp>
      <p:sp>
        <p:nvSpPr>
          <p:cNvPr id="407" name="Google Shape;407;p23"/>
          <p:cNvSpPr/>
          <p:nvPr/>
        </p:nvSpPr>
        <p:spPr>
          <a:xfrm>
            <a:off x="859370" y="2944757"/>
            <a:ext cx="1302300" cy="101100"/>
          </a:xfrm>
          <a:prstGeom prst="roundRect">
            <a:avLst>
              <a:gd fmla="val 16667" name="adj"/>
            </a:avLst>
          </a:prstGeom>
          <a:solidFill>
            <a:srgbClr val="E4D8C4"/>
          </a:solidFill>
          <a:ln>
            <a:noFill/>
          </a:ln>
        </p:spPr>
        <p:txBody>
          <a:bodyPr anchorCtr="0" anchor="ctr" bIns="56125" lIns="56125" spcFirstLastPara="1" rIns="56125" wrap="square" tIns="56125">
            <a:noAutofit/>
          </a:bodyPr>
          <a:lstStyle/>
          <a:p>
            <a:pPr indent="0" lvl="0" marL="0" rtl="0" algn="l">
              <a:spcBef>
                <a:spcPts val="0"/>
              </a:spcBef>
              <a:spcAft>
                <a:spcPts val="0"/>
              </a:spcAft>
              <a:buNone/>
            </a:pPr>
            <a:r>
              <a:t/>
            </a:r>
            <a:endParaRPr/>
          </a:p>
        </p:txBody>
      </p:sp>
      <p:sp>
        <p:nvSpPr>
          <p:cNvPr id="408" name="Google Shape;408;p23"/>
          <p:cNvSpPr/>
          <p:nvPr/>
        </p:nvSpPr>
        <p:spPr>
          <a:xfrm>
            <a:off x="859370" y="2944757"/>
            <a:ext cx="1119900" cy="101100"/>
          </a:xfrm>
          <a:prstGeom prst="roundRect">
            <a:avLst>
              <a:gd fmla="val 16667" name="adj"/>
            </a:avLst>
          </a:prstGeom>
          <a:solidFill>
            <a:srgbClr val="B4552F"/>
          </a:solidFill>
          <a:ln>
            <a:noFill/>
          </a:ln>
        </p:spPr>
        <p:txBody>
          <a:bodyPr anchorCtr="0" anchor="ctr" bIns="56125" lIns="56125" spcFirstLastPara="1" rIns="56125" wrap="square" tIns="56125">
            <a:noAutofit/>
          </a:bodyPr>
          <a:lstStyle/>
          <a:p>
            <a:pPr indent="0" lvl="0" marL="0" rtl="0" algn="l">
              <a:spcBef>
                <a:spcPts val="0"/>
              </a:spcBef>
              <a:spcAft>
                <a:spcPts val="0"/>
              </a:spcAft>
              <a:buNone/>
            </a:pPr>
            <a:r>
              <a:t/>
            </a:r>
            <a:endParaRPr/>
          </a:p>
        </p:txBody>
      </p:sp>
      <p:sp>
        <p:nvSpPr>
          <p:cNvPr id="409" name="Google Shape;409;p23"/>
          <p:cNvSpPr/>
          <p:nvPr/>
        </p:nvSpPr>
        <p:spPr>
          <a:xfrm>
            <a:off x="1712559" y="3079472"/>
            <a:ext cx="477000" cy="168300"/>
          </a:xfrm>
          <a:prstGeom prst="roundRect">
            <a:avLst>
              <a:gd fmla="val 50000" name="adj"/>
            </a:avLst>
          </a:prstGeom>
          <a:solidFill>
            <a:srgbClr val="B4552F"/>
          </a:solidFill>
          <a:ln>
            <a:noFill/>
          </a:ln>
        </p:spPr>
        <p:txBody>
          <a:bodyPr anchorCtr="0" anchor="ctr" bIns="56125" lIns="56125" spcFirstLastPara="1" rIns="56125" wrap="square" tIns="56125">
            <a:noAutofit/>
          </a:bodyPr>
          <a:lstStyle/>
          <a:p>
            <a:pPr indent="0" lvl="0" marL="0" rtl="0" algn="l">
              <a:spcBef>
                <a:spcPts val="0"/>
              </a:spcBef>
              <a:spcAft>
                <a:spcPts val="0"/>
              </a:spcAft>
              <a:buNone/>
            </a:pPr>
            <a:r>
              <a:t/>
            </a:r>
            <a:endParaRPr/>
          </a:p>
        </p:txBody>
      </p:sp>
      <p:sp>
        <p:nvSpPr>
          <p:cNvPr id="410" name="Google Shape;410;p23"/>
          <p:cNvSpPr/>
          <p:nvPr/>
        </p:nvSpPr>
        <p:spPr>
          <a:xfrm>
            <a:off x="1712559" y="3079472"/>
            <a:ext cx="477000" cy="168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30"/>
              <a:buFont typeface="Calibri"/>
              <a:buNone/>
            </a:pPr>
            <a:r>
              <a:rPr b="1" i="0" lang="en-GB" sz="430" u="none" cap="none" strike="noStrike">
                <a:solidFill>
                  <a:srgbClr val="FFFFFF"/>
                </a:solidFill>
                <a:latin typeface="Calibri"/>
                <a:ea typeface="Calibri"/>
                <a:cs typeface="Calibri"/>
                <a:sym typeface="Calibri"/>
              </a:rPr>
              <a:t>Pre-order</a:t>
            </a:r>
            <a:endParaRPr b="0" i="0" sz="430" u="none" cap="none" strike="noStrike">
              <a:solidFill>
                <a:srgbClr val="000000"/>
              </a:solidFill>
              <a:latin typeface="Calibri"/>
              <a:ea typeface="Calibri"/>
              <a:cs typeface="Calibri"/>
              <a:sym typeface="Calibri"/>
            </a:endParaRPr>
          </a:p>
        </p:txBody>
      </p:sp>
      <p:sp>
        <p:nvSpPr>
          <p:cNvPr id="411" name="Google Shape;411;p23"/>
          <p:cNvSpPr/>
          <p:nvPr/>
        </p:nvSpPr>
        <p:spPr>
          <a:xfrm>
            <a:off x="859370" y="3303996"/>
            <a:ext cx="1190100" cy="13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09"/>
              </a:buClr>
              <a:buSzPts val="522"/>
              <a:buFont typeface="Calibri"/>
              <a:buNone/>
            </a:pPr>
            <a:r>
              <a:rPr b="1" i="0" lang="en-GB" sz="522" u="none" cap="none" strike="noStrike">
                <a:solidFill>
                  <a:srgbClr val="241509"/>
                </a:solidFill>
                <a:latin typeface="Calibri"/>
                <a:ea typeface="Calibri"/>
                <a:cs typeface="Calibri"/>
                <a:sym typeface="Calibri"/>
              </a:rPr>
              <a:t>#2 Salted Egg Kaya Toast</a:t>
            </a:r>
            <a:endParaRPr b="0" i="0" sz="522" u="none" cap="none" strike="noStrike">
              <a:solidFill>
                <a:srgbClr val="000000"/>
              </a:solidFill>
              <a:latin typeface="Calibri"/>
              <a:ea typeface="Calibri"/>
              <a:cs typeface="Calibri"/>
              <a:sym typeface="Calibri"/>
            </a:endParaRPr>
          </a:p>
        </p:txBody>
      </p:sp>
      <p:sp>
        <p:nvSpPr>
          <p:cNvPr id="412" name="Google Shape;412;p23"/>
          <p:cNvSpPr/>
          <p:nvPr/>
        </p:nvSpPr>
        <p:spPr>
          <a:xfrm>
            <a:off x="859370" y="3449937"/>
            <a:ext cx="1302300" cy="101100"/>
          </a:xfrm>
          <a:prstGeom prst="roundRect">
            <a:avLst>
              <a:gd fmla="val 16667" name="adj"/>
            </a:avLst>
          </a:prstGeom>
          <a:solidFill>
            <a:srgbClr val="E4D8C4"/>
          </a:solidFill>
          <a:ln>
            <a:noFill/>
          </a:ln>
        </p:spPr>
        <p:txBody>
          <a:bodyPr anchorCtr="0" anchor="ctr" bIns="56125" lIns="56125" spcFirstLastPara="1" rIns="56125" wrap="square" tIns="56125">
            <a:noAutofit/>
          </a:bodyPr>
          <a:lstStyle/>
          <a:p>
            <a:pPr indent="0" lvl="0" marL="0" rtl="0" algn="l">
              <a:spcBef>
                <a:spcPts val="0"/>
              </a:spcBef>
              <a:spcAft>
                <a:spcPts val="0"/>
              </a:spcAft>
              <a:buNone/>
            </a:pPr>
            <a:r>
              <a:t/>
            </a:r>
            <a:endParaRPr/>
          </a:p>
        </p:txBody>
      </p:sp>
      <p:sp>
        <p:nvSpPr>
          <p:cNvPr id="413" name="Google Shape;413;p23"/>
          <p:cNvSpPr/>
          <p:nvPr/>
        </p:nvSpPr>
        <p:spPr>
          <a:xfrm>
            <a:off x="859370" y="3449937"/>
            <a:ext cx="820500" cy="101100"/>
          </a:xfrm>
          <a:prstGeom prst="roundRect">
            <a:avLst>
              <a:gd fmla="val 16667" name="adj"/>
            </a:avLst>
          </a:prstGeom>
          <a:solidFill>
            <a:srgbClr val="C9A66B"/>
          </a:solidFill>
          <a:ln>
            <a:noFill/>
          </a:ln>
        </p:spPr>
        <p:txBody>
          <a:bodyPr anchorCtr="0" anchor="ctr" bIns="56125" lIns="56125" spcFirstLastPara="1" rIns="56125" wrap="square" tIns="56125">
            <a:noAutofit/>
          </a:bodyPr>
          <a:lstStyle/>
          <a:p>
            <a:pPr indent="0" lvl="0" marL="0" rtl="0" algn="l">
              <a:spcBef>
                <a:spcPts val="0"/>
              </a:spcBef>
              <a:spcAft>
                <a:spcPts val="0"/>
              </a:spcAft>
              <a:buNone/>
            </a:pPr>
            <a:r>
              <a:t/>
            </a:r>
            <a:endParaRPr/>
          </a:p>
        </p:txBody>
      </p:sp>
      <p:sp>
        <p:nvSpPr>
          <p:cNvPr id="414" name="Google Shape;414;p23"/>
          <p:cNvSpPr/>
          <p:nvPr/>
        </p:nvSpPr>
        <p:spPr>
          <a:xfrm>
            <a:off x="1712559" y="3584651"/>
            <a:ext cx="477000" cy="168300"/>
          </a:xfrm>
          <a:prstGeom prst="roundRect">
            <a:avLst>
              <a:gd fmla="val 50000" name="adj"/>
            </a:avLst>
          </a:prstGeom>
          <a:solidFill>
            <a:srgbClr val="F0E8DA"/>
          </a:solidFill>
          <a:ln>
            <a:noFill/>
          </a:ln>
        </p:spPr>
        <p:txBody>
          <a:bodyPr anchorCtr="0" anchor="ctr" bIns="56125" lIns="56125" spcFirstLastPara="1" rIns="56125" wrap="square" tIns="56125">
            <a:noAutofit/>
          </a:bodyPr>
          <a:lstStyle/>
          <a:p>
            <a:pPr indent="0" lvl="0" marL="0" rtl="0" algn="l">
              <a:spcBef>
                <a:spcPts val="0"/>
              </a:spcBef>
              <a:spcAft>
                <a:spcPts val="0"/>
              </a:spcAft>
              <a:buNone/>
            </a:pPr>
            <a:r>
              <a:t/>
            </a:r>
            <a:endParaRPr/>
          </a:p>
        </p:txBody>
      </p:sp>
      <p:sp>
        <p:nvSpPr>
          <p:cNvPr id="415" name="Google Shape;415;p23"/>
          <p:cNvSpPr/>
          <p:nvPr/>
        </p:nvSpPr>
        <p:spPr>
          <a:xfrm>
            <a:off x="1712559" y="3584651"/>
            <a:ext cx="477000" cy="168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4A3C"/>
              </a:buClr>
              <a:buSzPts val="430"/>
              <a:buFont typeface="Calibri"/>
              <a:buNone/>
            </a:pPr>
            <a:r>
              <a:rPr b="1" i="0" lang="en-GB" sz="430" u="none" cap="none" strike="noStrike">
                <a:solidFill>
                  <a:srgbClr val="5A4A3C"/>
                </a:solidFill>
                <a:latin typeface="Calibri"/>
                <a:ea typeface="Calibri"/>
                <a:cs typeface="Calibri"/>
                <a:sym typeface="Calibri"/>
              </a:rPr>
              <a:t>Pre-order</a:t>
            </a:r>
            <a:endParaRPr b="0" i="0" sz="430" u="none" cap="none" strike="noStrike">
              <a:solidFill>
                <a:srgbClr val="000000"/>
              </a:solidFill>
              <a:latin typeface="Calibri"/>
              <a:ea typeface="Calibri"/>
              <a:cs typeface="Calibri"/>
              <a:sym typeface="Calibri"/>
            </a:endParaRPr>
          </a:p>
        </p:txBody>
      </p:sp>
      <p:sp>
        <p:nvSpPr>
          <p:cNvPr id="416" name="Google Shape;416;p23"/>
          <p:cNvSpPr/>
          <p:nvPr/>
        </p:nvSpPr>
        <p:spPr>
          <a:xfrm>
            <a:off x="859370" y="3809176"/>
            <a:ext cx="1190100" cy="134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09"/>
              </a:buClr>
              <a:buSzPts val="522"/>
              <a:buFont typeface="Calibri"/>
              <a:buNone/>
            </a:pPr>
            <a:r>
              <a:rPr b="1" i="0" lang="en-GB" sz="522" u="none" cap="none" strike="noStrike">
                <a:solidFill>
                  <a:srgbClr val="241509"/>
                </a:solidFill>
                <a:latin typeface="Calibri"/>
                <a:ea typeface="Calibri"/>
                <a:cs typeface="Calibri"/>
                <a:sym typeface="Calibri"/>
              </a:rPr>
              <a:t>#3 Yuzu White Coffee</a:t>
            </a:r>
            <a:endParaRPr b="0" i="0" sz="522" u="none" cap="none" strike="noStrike">
              <a:solidFill>
                <a:srgbClr val="000000"/>
              </a:solidFill>
              <a:latin typeface="Calibri"/>
              <a:ea typeface="Calibri"/>
              <a:cs typeface="Calibri"/>
              <a:sym typeface="Calibri"/>
            </a:endParaRPr>
          </a:p>
        </p:txBody>
      </p:sp>
      <p:sp>
        <p:nvSpPr>
          <p:cNvPr id="417" name="Google Shape;417;p23"/>
          <p:cNvSpPr/>
          <p:nvPr/>
        </p:nvSpPr>
        <p:spPr>
          <a:xfrm>
            <a:off x="859370" y="3955117"/>
            <a:ext cx="1302300" cy="101100"/>
          </a:xfrm>
          <a:prstGeom prst="roundRect">
            <a:avLst>
              <a:gd fmla="val 16667" name="adj"/>
            </a:avLst>
          </a:prstGeom>
          <a:solidFill>
            <a:srgbClr val="E4D8C4"/>
          </a:solidFill>
          <a:ln>
            <a:noFill/>
          </a:ln>
        </p:spPr>
        <p:txBody>
          <a:bodyPr anchorCtr="0" anchor="ctr" bIns="56125" lIns="56125" spcFirstLastPara="1" rIns="56125" wrap="square" tIns="56125">
            <a:noAutofit/>
          </a:bodyPr>
          <a:lstStyle/>
          <a:p>
            <a:pPr indent="0" lvl="0" marL="0" rtl="0" algn="l">
              <a:spcBef>
                <a:spcPts val="0"/>
              </a:spcBef>
              <a:spcAft>
                <a:spcPts val="0"/>
              </a:spcAft>
              <a:buNone/>
            </a:pPr>
            <a:r>
              <a:t/>
            </a:r>
            <a:endParaRPr/>
          </a:p>
        </p:txBody>
      </p:sp>
      <p:sp>
        <p:nvSpPr>
          <p:cNvPr id="418" name="Google Shape;418;p23"/>
          <p:cNvSpPr/>
          <p:nvPr/>
        </p:nvSpPr>
        <p:spPr>
          <a:xfrm>
            <a:off x="859370" y="3955117"/>
            <a:ext cx="534000" cy="101100"/>
          </a:xfrm>
          <a:prstGeom prst="roundRect">
            <a:avLst>
              <a:gd fmla="val 16667" name="adj"/>
            </a:avLst>
          </a:prstGeom>
          <a:solidFill>
            <a:srgbClr val="C9A66B"/>
          </a:solidFill>
          <a:ln>
            <a:noFill/>
          </a:ln>
        </p:spPr>
        <p:txBody>
          <a:bodyPr anchorCtr="0" anchor="ctr" bIns="56125" lIns="56125" spcFirstLastPara="1" rIns="56125" wrap="square" tIns="56125">
            <a:noAutofit/>
          </a:bodyPr>
          <a:lstStyle/>
          <a:p>
            <a:pPr indent="0" lvl="0" marL="0" rtl="0" algn="l">
              <a:spcBef>
                <a:spcPts val="0"/>
              </a:spcBef>
              <a:spcAft>
                <a:spcPts val="0"/>
              </a:spcAft>
              <a:buNone/>
            </a:pPr>
            <a:r>
              <a:t/>
            </a:r>
            <a:endParaRPr/>
          </a:p>
        </p:txBody>
      </p:sp>
      <p:sp>
        <p:nvSpPr>
          <p:cNvPr id="419" name="Google Shape;419;p23"/>
          <p:cNvSpPr/>
          <p:nvPr/>
        </p:nvSpPr>
        <p:spPr>
          <a:xfrm>
            <a:off x="1712559" y="4089831"/>
            <a:ext cx="477000" cy="168300"/>
          </a:xfrm>
          <a:prstGeom prst="roundRect">
            <a:avLst>
              <a:gd fmla="val 50000" name="adj"/>
            </a:avLst>
          </a:prstGeom>
          <a:solidFill>
            <a:srgbClr val="F0E8DA"/>
          </a:solidFill>
          <a:ln>
            <a:noFill/>
          </a:ln>
        </p:spPr>
        <p:txBody>
          <a:bodyPr anchorCtr="0" anchor="ctr" bIns="56125" lIns="56125" spcFirstLastPara="1" rIns="56125" wrap="square" tIns="56125">
            <a:noAutofit/>
          </a:bodyPr>
          <a:lstStyle/>
          <a:p>
            <a:pPr indent="0" lvl="0" marL="0" rtl="0" algn="l">
              <a:spcBef>
                <a:spcPts val="0"/>
              </a:spcBef>
              <a:spcAft>
                <a:spcPts val="0"/>
              </a:spcAft>
              <a:buNone/>
            </a:pPr>
            <a:r>
              <a:t/>
            </a:r>
            <a:endParaRPr/>
          </a:p>
        </p:txBody>
      </p:sp>
      <p:sp>
        <p:nvSpPr>
          <p:cNvPr id="420" name="Google Shape;420;p23"/>
          <p:cNvSpPr/>
          <p:nvPr/>
        </p:nvSpPr>
        <p:spPr>
          <a:xfrm>
            <a:off x="1712559" y="4089831"/>
            <a:ext cx="477000" cy="168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A4A3C"/>
              </a:buClr>
              <a:buSzPts val="430"/>
              <a:buFont typeface="Calibri"/>
              <a:buNone/>
            </a:pPr>
            <a:r>
              <a:rPr b="1" i="0" lang="en-GB" sz="430" u="none" cap="none" strike="noStrike">
                <a:solidFill>
                  <a:srgbClr val="5A4A3C"/>
                </a:solidFill>
                <a:latin typeface="Calibri"/>
                <a:ea typeface="Calibri"/>
                <a:cs typeface="Calibri"/>
                <a:sym typeface="Calibri"/>
              </a:rPr>
              <a:t>Pre-order</a:t>
            </a:r>
            <a:endParaRPr b="0" i="0" sz="430" u="none" cap="none" strike="noStrike">
              <a:solidFill>
                <a:srgbClr val="000000"/>
              </a:solidFill>
              <a:latin typeface="Calibri"/>
              <a:ea typeface="Calibri"/>
              <a:cs typeface="Calibri"/>
              <a:sym typeface="Calibri"/>
            </a:endParaRPr>
          </a:p>
        </p:txBody>
      </p:sp>
      <p:sp>
        <p:nvSpPr>
          <p:cNvPr id="421" name="Google Shape;421;p23"/>
          <p:cNvSpPr/>
          <p:nvPr/>
        </p:nvSpPr>
        <p:spPr>
          <a:xfrm>
            <a:off x="747108" y="4011248"/>
            <a:ext cx="1526700" cy="308700"/>
          </a:xfrm>
          <a:prstGeom prst="rect">
            <a:avLst/>
          </a:prstGeom>
          <a:solidFill>
            <a:srgbClr val="FFFFFF"/>
          </a:solidFill>
          <a:ln cap="flat" cmpd="sng" w="5850">
            <a:solidFill>
              <a:srgbClr val="E4D8C4"/>
            </a:solidFill>
            <a:prstDash val="solid"/>
            <a:round/>
            <a:headEnd len="sm" w="sm" type="none"/>
            <a:tailEnd len="sm" w="sm" type="none"/>
          </a:ln>
        </p:spPr>
        <p:txBody>
          <a:bodyPr anchorCtr="0" anchor="ctr" bIns="56125" lIns="56125" spcFirstLastPara="1" rIns="56125" wrap="square" tIns="56125">
            <a:noAutofit/>
          </a:bodyPr>
          <a:lstStyle/>
          <a:p>
            <a:pPr indent="0" lvl="0" marL="0" rtl="0" algn="l">
              <a:spcBef>
                <a:spcPts val="0"/>
              </a:spcBef>
              <a:spcAft>
                <a:spcPts val="0"/>
              </a:spcAft>
              <a:buNone/>
            </a:pPr>
            <a:r>
              <a:t/>
            </a:r>
            <a:endParaRPr/>
          </a:p>
        </p:txBody>
      </p:sp>
      <p:sp>
        <p:nvSpPr>
          <p:cNvPr descr="/home/claude/otwc_deck/icons/home.png" id="422" name="Google Shape;422;p23"/>
          <p:cNvSpPr/>
          <p:nvPr/>
        </p:nvSpPr>
        <p:spPr>
          <a:xfrm>
            <a:off x="864983" y="4044926"/>
            <a:ext cx="145940" cy="145940"/>
          </a:xfrm>
          <a:prstGeom prst="rect">
            <a:avLst/>
          </a:prstGeom>
          <a:noFill/>
          <a:ln>
            <a:noFill/>
          </a:ln>
        </p:spPr>
      </p:sp>
      <p:sp>
        <p:nvSpPr>
          <p:cNvPr id="423" name="Google Shape;423;p23"/>
          <p:cNvSpPr/>
          <p:nvPr/>
        </p:nvSpPr>
        <p:spPr>
          <a:xfrm>
            <a:off x="747108" y="4196480"/>
            <a:ext cx="381900" cy="112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B78"/>
              </a:buClr>
              <a:buSzPts val="460"/>
              <a:buFont typeface="Calibri"/>
              <a:buNone/>
            </a:pPr>
            <a:r>
              <a:rPr b="0" i="0" lang="en-GB" sz="460" u="none" cap="none" strike="noStrike">
                <a:solidFill>
                  <a:srgbClr val="9A8B78"/>
                </a:solidFill>
                <a:latin typeface="Calibri"/>
                <a:ea typeface="Calibri"/>
                <a:cs typeface="Calibri"/>
                <a:sym typeface="Calibri"/>
              </a:rPr>
              <a:t>Home</a:t>
            </a:r>
            <a:endParaRPr b="0" i="0" sz="460" u="none" cap="none" strike="noStrike">
              <a:solidFill>
                <a:srgbClr val="000000"/>
              </a:solidFill>
              <a:latin typeface="Calibri"/>
              <a:ea typeface="Calibri"/>
              <a:cs typeface="Calibri"/>
              <a:sym typeface="Calibri"/>
            </a:endParaRPr>
          </a:p>
        </p:txBody>
      </p:sp>
      <p:sp>
        <p:nvSpPr>
          <p:cNvPr descr="/home/claude/otwc_deck/icons/search.png" id="424" name="Google Shape;424;p23"/>
          <p:cNvSpPr/>
          <p:nvPr/>
        </p:nvSpPr>
        <p:spPr>
          <a:xfrm>
            <a:off x="1246673" y="4044926"/>
            <a:ext cx="145940" cy="145940"/>
          </a:xfrm>
          <a:prstGeom prst="rect">
            <a:avLst/>
          </a:prstGeom>
          <a:noFill/>
          <a:ln>
            <a:noFill/>
          </a:ln>
        </p:spPr>
      </p:sp>
      <p:sp>
        <p:nvSpPr>
          <p:cNvPr id="425" name="Google Shape;425;p23"/>
          <p:cNvSpPr/>
          <p:nvPr/>
        </p:nvSpPr>
        <p:spPr>
          <a:xfrm>
            <a:off x="1128798" y="4196480"/>
            <a:ext cx="381900" cy="112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B4552F"/>
              </a:buClr>
              <a:buSzPts val="460"/>
              <a:buFont typeface="Calibri"/>
              <a:buNone/>
            </a:pPr>
            <a:r>
              <a:rPr b="1" i="0" lang="en-GB" sz="460" u="none" cap="none" strike="noStrike">
                <a:solidFill>
                  <a:srgbClr val="B4552F"/>
                </a:solidFill>
                <a:latin typeface="Calibri"/>
                <a:ea typeface="Calibri"/>
                <a:cs typeface="Calibri"/>
                <a:sym typeface="Calibri"/>
              </a:rPr>
              <a:t>Pulse</a:t>
            </a:r>
            <a:endParaRPr b="0" i="0" sz="460" u="none" cap="none" strike="noStrike">
              <a:solidFill>
                <a:srgbClr val="000000"/>
              </a:solidFill>
              <a:latin typeface="Calibri"/>
              <a:ea typeface="Calibri"/>
              <a:cs typeface="Calibri"/>
              <a:sym typeface="Calibri"/>
            </a:endParaRPr>
          </a:p>
        </p:txBody>
      </p:sp>
      <p:sp>
        <p:nvSpPr>
          <p:cNvPr descr="/home/claude/otwc_deck/icons/pin.png" id="426" name="Google Shape;426;p23"/>
          <p:cNvSpPr/>
          <p:nvPr/>
        </p:nvSpPr>
        <p:spPr>
          <a:xfrm>
            <a:off x="1628362" y="4044926"/>
            <a:ext cx="145940" cy="145940"/>
          </a:xfrm>
          <a:prstGeom prst="rect">
            <a:avLst/>
          </a:prstGeom>
          <a:noFill/>
          <a:ln>
            <a:noFill/>
          </a:ln>
        </p:spPr>
      </p:sp>
      <p:sp>
        <p:nvSpPr>
          <p:cNvPr id="427" name="Google Shape;427;p23"/>
          <p:cNvSpPr/>
          <p:nvPr/>
        </p:nvSpPr>
        <p:spPr>
          <a:xfrm>
            <a:off x="1510488" y="4196480"/>
            <a:ext cx="381900" cy="112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B78"/>
              </a:buClr>
              <a:buSzPts val="460"/>
              <a:buFont typeface="Calibri"/>
              <a:buNone/>
            </a:pPr>
            <a:r>
              <a:rPr b="0" i="0" lang="en-GB" sz="460" u="none" cap="none" strike="noStrike">
                <a:solidFill>
                  <a:srgbClr val="9A8B78"/>
                </a:solidFill>
                <a:latin typeface="Calibri"/>
                <a:ea typeface="Calibri"/>
                <a:cs typeface="Calibri"/>
                <a:sym typeface="Calibri"/>
              </a:rPr>
              <a:t>Outlets</a:t>
            </a:r>
            <a:endParaRPr b="0" i="0" sz="460" u="none" cap="none" strike="noStrike">
              <a:solidFill>
                <a:srgbClr val="000000"/>
              </a:solidFill>
              <a:latin typeface="Calibri"/>
              <a:ea typeface="Calibri"/>
              <a:cs typeface="Calibri"/>
              <a:sym typeface="Calibri"/>
            </a:endParaRPr>
          </a:p>
        </p:txBody>
      </p:sp>
      <p:sp>
        <p:nvSpPr>
          <p:cNvPr descr="/home/claude/otwc_deck/icons/crown.png" id="428" name="Google Shape;428;p23"/>
          <p:cNvSpPr/>
          <p:nvPr/>
        </p:nvSpPr>
        <p:spPr>
          <a:xfrm>
            <a:off x="2010052" y="4044926"/>
            <a:ext cx="145940" cy="145940"/>
          </a:xfrm>
          <a:prstGeom prst="rect">
            <a:avLst/>
          </a:prstGeom>
          <a:noFill/>
          <a:ln>
            <a:noFill/>
          </a:ln>
        </p:spPr>
      </p:sp>
      <p:sp>
        <p:nvSpPr>
          <p:cNvPr id="429" name="Google Shape;429;p23"/>
          <p:cNvSpPr/>
          <p:nvPr/>
        </p:nvSpPr>
        <p:spPr>
          <a:xfrm>
            <a:off x="1892177" y="4196480"/>
            <a:ext cx="381900" cy="112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8B78"/>
              </a:buClr>
              <a:buSzPts val="460"/>
              <a:buFont typeface="Calibri"/>
              <a:buNone/>
            </a:pPr>
            <a:r>
              <a:rPr b="0" i="0" lang="en-GB" sz="460" u="none" cap="none" strike="noStrike">
                <a:solidFill>
                  <a:srgbClr val="9A8B78"/>
                </a:solidFill>
                <a:latin typeface="Calibri"/>
                <a:ea typeface="Calibri"/>
                <a:cs typeface="Calibri"/>
                <a:sym typeface="Calibri"/>
              </a:rPr>
              <a:t>Account</a:t>
            </a:r>
            <a:endParaRPr b="0" i="0" sz="460" u="none" cap="none" strike="noStrike">
              <a:solidFill>
                <a:srgbClr val="000000"/>
              </a:solidFill>
              <a:latin typeface="Calibri"/>
              <a:ea typeface="Calibri"/>
              <a:cs typeface="Calibri"/>
              <a:sym typeface="Calibri"/>
            </a:endParaRPr>
          </a:p>
        </p:txBody>
      </p:sp>
      <p:pic>
        <p:nvPicPr>
          <p:cNvPr id="430" name="Google Shape;430;p23" title="Coffee-Cold--Streamline-Ultimate.png"/>
          <p:cNvPicPr preferRelativeResize="0"/>
          <p:nvPr/>
        </p:nvPicPr>
        <p:blipFill>
          <a:blip r:embed="rId4">
            <a:alphaModFix/>
          </a:blip>
          <a:stretch>
            <a:fillRect/>
          </a:stretch>
        </p:blipFill>
        <p:spPr>
          <a:xfrm>
            <a:off x="898625" y="2344163"/>
            <a:ext cx="280800" cy="280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24"/>
          <p:cNvSpPr txBox="1"/>
          <p:nvPr>
            <p:ph type="title"/>
          </p:nvPr>
        </p:nvSpPr>
        <p:spPr>
          <a:xfrm>
            <a:off x="1618025" y="1036563"/>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GB">
                <a:latin typeface="Cambria"/>
                <a:ea typeface="Cambria"/>
                <a:cs typeface="Cambria"/>
                <a:sym typeface="Cambria"/>
              </a:rPr>
              <a:t>Old Town White Coffee App</a:t>
            </a:r>
            <a:endParaRPr b="1">
              <a:latin typeface="Cambria"/>
              <a:ea typeface="Cambria"/>
              <a:cs typeface="Cambria"/>
              <a:sym typeface="Cambria"/>
            </a:endParaRPr>
          </a:p>
        </p:txBody>
      </p:sp>
      <p:sp>
        <p:nvSpPr>
          <p:cNvPr id="436" name="Google Shape;436;p24"/>
          <p:cNvSpPr/>
          <p:nvPr/>
        </p:nvSpPr>
        <p:spPr>
          <a:xfrm>
            <a:off x="429430" y="177475"/>
            <a:ext cx="9144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66B"/>
              </a:buClr>
              <a:buSzPts val="1200"/>
              <a:buFont typeface="Calibri"/>
              <a:buNone/>
            </a:pPr>
            <a:r>
              <a:rPr b="1" i="0" lang="en-GB" sz="1200" u="none" cap="none" strike="noStrike">
                <a:solidFill>
                  <a:srgbClr val="C9A66B"/>
                </a:solidFill>
                <a:latin typeface="Calibri"/>
                <a:ea typeface="Calibri"/>
                <a:cs typeface="Calibri"/>
                <a:sym typeface="Calibri"/>
              </a:rPr>
              <a:t>RECOMMENDATION </a:t>
            </a:r>
            <a:r>
              <a:rPr b="1" lang="en-GB" sz="1200">
                <a:solidFill>
                  <a:srgbClr val="C9A66B"/>
                </a:solidFill>
                <a:latin typeface="Calibri"/>
                <a:ea typeface="Calibri"/>
                <a:cs typeface="Calibri"/>
                <a:sym typeface="Calibri"/>
              </a:rPr>
              <a:t>1</a:t>
            </a:r>
            <a:r>
              <a:rPr b="1" i="0" lang="en-GB" sz="1200" u="none" cap="none" strike="noStrike">
                <a:solidFill>
                  <a:srgbClr val="C9A66B"/>
                </a:solidFill>
                <a:latin typeface="Calibri"/>
                <a:ea typeface="Calibri"/>
                <a:cs typeface="Calibri"/>
                <a:sym typeface="Calibri"/>
              </a:rPr>
              <a:t>  ·  INCREASE REVENUE &amp; I</a:t>
            </a:r>
            <a:r>
              <a:rPr b="1" lang="en-GB" sz="1200">
                <a:solidFill>
                  <a:srgbClr val="C9A66B"/>
                </a:solidFill>
                <a:latin typeface="Calibri"/>
                <a:ea typeface="Calibri"/>
                <a:cs typeface="Calibri"/>
                <a:sym typeface="Calibri"/>
              </a:rPr>
              <a:t>MPROVE CUSTOMER EXPERIENCE</a:t>
            </a:r>
            <a:endParaRPr b="1" i="0" sz="1200" u="none" cap="none" strike="noStrike">
              <a:solidFill>
                <a:srgbClr val="000000"/>
              </a:solidFill>
              <a:latin typeface="Calibri"/>
              <a:ea typeface="Calibri"/>
              <a:cs typeface="Calibri"/>
              <a:sym typeface="Calibri"/>
            </a:endParaRPr>
          </a:p>
        </p:txBody>
      </p:sp>
      <p:grpSp>
        <p:nvGrpSpPr>
          <p:cNvPr id="437" name="Google Shape;437;p24"/>
          <p:cNvGrpSpPr/>
          <p:nvPr/>
        </p:nvGrpSpPr>
        <p:grpSpPr>
          <a:xfrm>
            <a:off x="1084205" y="964447"/>
            <a:ext cx="2052667" cy="3343227"/>
            <a:chOff x="662653" y="1246525"/>
            <a:chExt cx="2259900" cy="3228300"/>
          </a:xfrm>
        </p:grpSpPr>
        <p:sp>
          <p:nvSpPr>
            <p:cNvPr id="438" name="Google Shape;438;p24"/>
            <p:cNvSpPr/>
            <p:nvPr/>
          </p:nvSpPr>
          <p:spPr>
            <a:xfrm>
              <a:off x="662653" y="1246525"/>
              <a:ext cx="2259900" cy="3228300"/>
            </a:xfrm>
            <a:prstGeom prst="roundRect">
              <a:avLst>
                <a:gd fmla="val 7143" name="adj"/>
              </a:avLst>
            </a:prstGeom>
            <a:solidFill>
              <a:srgbClr val="3B2417"/>
            </a:solidFill>
            <a:ln cap="flat" cmpd="sng" w="18550">
              <a:solidFill>
                <a:srgbClr val="D8C9B0"/>
              </a:solidFill>
              <a:prstDash val="solid"/>
              <a:round/>
              <a:headEnd len="sm" w="sm" type="none"/>
              <a:tailEnd len="sm" w="sm" type="none"/>
            </a:ln>
            <a:effectLst>
              <a:outerShdw blurRad="92863" rotWithShape="0" algn="bl" dir="5400000" dist="37145">
                <a:srgbClr val="3B2417">
                  <a:alpha val="30199"/>
                </a:srgbClr>
              </a:outerShdw>
            </a:effectLst>
          </p:spPr>
          <p:txBody>
            <a:bodyPr anchorCtr="0" anchor="ctr" bIns="66850" lIns="66850" spcFirstLastPara="1" rIns="66850" wrap="square" tIns="66850">
              <a:noAutofit/>
            </a:bodyPr>
            <a:lstStyle/>
            <a:p>
              <a:pPr indent="0" lvl="0" marL="0" rtl="0" algn="l">
                <a:spcBef>
                  <a:spcPts val="0"/>
                </a:spcBef>
                <a:spcAft>
                  <a:spcPts val="0"/>
                </a:spcAft>
                <a:buNone/>
              </a:pPr>
              <a:r>
                <a:t/>
              </a:r>
              <a:endParaRPr/>
            </a:p>
          </p:txBody>
        </p:sp>
        <p:sp>
          <p:nvSpPr>
            <p:cNvPr id="439" name="Google Shape;439;p24"/>
            <p:cNvSpPr/>
            <p:nvPr/>
          </p:nvSpPr>
          <p:spPr>
            <a:xfrm>
              <a:off x="759453" y="1472583"/>
              <a:ext cx="2066100" cy="2776200"/>
            </a:xfrm>
            <a:prstGeom prst="roundRect">
              <a:avLst>
                <a:gd fmla="val 3125" name="adj"/>
              </a:avLst>
            </a:prstGeom>
            <a:solidFill>
              <a:srgbClr val="FBF7F0"/>
            </a:solidFill>
            <a:ln>
              <a:noFill/>
            </a:ln>
          </p:spPr>
          <p:txBody>
            <a:bodyPr anchorCtr="0" anchor="ctr" bIns="66850" lIns="66850" spcFirstLastPara="1" rIns="66850" wrap="square" tIns="66850">
              <a:noAutofit/>
            </a:bodyPr>
            <a:lstStyle/>
            <a:p>
              <a:pPr indent="0" lvl="0" marL="0" rtl="0" algn="l">
                <a:spcBef>
                  <a:spcPts val="0"/>
                </a:spcBef>
                <a:spcAft>
                  <a:spcPts val="0"/>
                </a:spcAft>
                <a:buNone/>
              </a:pPr>
              <a:r>
                <a:t/>
              </a:r>
              <a:endParaRPr sz="1450"/>
            </a:p>
          </p:txBody>
        </p:sp>
        <p:sp>
          <p:nvSpPr>
            <p:cNvPr id="440" name="Google Shape;440;p24"/>
            <p:cNvSpPr/>
            <p:nvPr/>
          </p:nvSpPr>
          <p:spPr>
            <a:xfrm>
              <a:off x="856352" y="2619935"/>
              <a:ext cx="1872300" cy="193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41509"/>
                </a:buClr>
                <a:buSzPts val="768"/>
                <a:buFont typeface="Calibri"/>
                <a:buNone/>
              </a:pPr>
              <a:r>
                <a:rPr b="1" lang="en-GB" sz="1389">
                  <a:solidFill>
                    <a:srgbClr val="241509"/>
                  </a:solidFill>
                  <a:latin typeface="Caveat"/>
                  <a:ea typeface="Caveat"/>
                  <a:cs typeface="Caveat"/>
                  <a:sym typeface="Caveat"/>
                </a:rPr>
                <a:t>Welcome Back, </a:t>
              </a:r>
              <a:r>
                <a:rPr b="1" lang="en-GB" sz="1389">
                  <a:solidFill>
                    <a:srgbClr val="C9A66B"/>
                  </a:solidFill>
                  <a:latin typeface="Caveat"/>
                  <a:ea typeface="Caveat"/>
                  <a:cs typeface="Caveat"/>
                  <a:sym typeface="Caveat"/>
                </a:rPr>
                <a:t>Dion</a:t>
              </a:r>
              <a:r>
                <a:rPr b="1" lang="en-GB" sz="1389">
                  <a:solidFill>
                    <a:srgbClr val="241509"/>
                  </a:solidFill>
                  <a:latin typeface="Caveat"/>
                  <a:ea typeface="Caveat"/>
                  <a:cs typeface="Caveat"/>
                  <a:sym typeface="Caveat"/>
                </a:rPr>
                <a:t>!</a:t>
              </a:r>
              <a:endParaRPr i="0" sz="1389" u="none" cap="none" strike="noStrike">
                <a:solidFill>
                  <a:srgbClr val="000000"/>
                </a:solidFill>
                <a:latin typeface="Caveat"/>
                <a:ea typeface="Caveat"/>
                <a:cs typeface="Caveat"/>
                <a:sym typeface="Caveat"/>
              </a:endParaRPr>
            </a:p>
          </p:txBody>
        </p:sp>
        <p:sp>
          <p:nvSpPr>
            <p:cNvPr id="441" name="Google Shape;441;p24"/>
            <p:cNvSpPr/>
            <p:nvPr/>
          </p:nvSpPr>
          <p:spPr>
            <a:xfrm>
              <a:off x="856452" y="3117946"/>
              <a:ext cx="1872300" cy="142200"/>
            </a:xfrm>
            <a:prstGeom prst="roundRect">
              <a:avLst>
                <a:gd fmla="val 13636" name="adj"/>
              </a:avLst>
            </a:prstGeom>
            <a:solidFill>
              <a:srgbClr val="E4D8C4"/>
            </a:solidFill>
            <a:ln>
              <a:noFill/>
            </a:ln>
          </p:spPr>
          <p:txBody>
            <a:bodyPr anchorCtr="0" anchor="ctr" bIns="66850" lIns="66850" spcFirstLastPara="1" rIns="66850" wrap="square" tIns="66850">
              <a:noAutofit/>
            </a:bodyPr>
            <a:lstStyle/>
            <a:p>
              <a:pPr indent="0" lvl="0" marL="0" rtl="0" algn="l">
                <a:spcBef>
                  <a:spcPts val="0"/>
                </a:spcBef>
                <a:spcAft>
                  <a:spcPts val="0"/>
                </a:spcAft>
                <a:buNone/>
              </a:pPr>
              <a:r>
                <a:rPr lang="en-GB" sz="725">
                  <a:latin typeface="Proxima Nova"/>
                  <a:ea typeface="Proxima Nova"/>
                  <a:cs typeface="Proxima Nova"/>
                  <a:sym typeface="Proxima Nova"/>
                </a:rPr>
                <a:t>dionlong</a:t>
              </a:r>
              <a:endParaRPr sz="518">
                <a:latin typeface="Proxima Nova"/>
                <a:ea typeface="Proxima Nova"/>
                <a:cs typeface="Proxima Nova"/>
                <a:sym typeface="Proxima Nova"/>
              </a:endParaRPr>
            </a:p>
          </p:txBody>
        </p:sp>
        <p:sp>
          <p:nvSpPr>
            <p:cNvPr id="442" name="Google Shape;442;p24"/>
            <p:cNvSpPr/>
            <p:nvPr/>
          </p:nvSpPr>
          <p:spPr>
            <a:xfrm>
              <a:off x="856452" y="2917023"/>
              <a:ext cx="1872300" cy="19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09"/>
                </a:buClr>
                <a:buSzPts val="768"/>
                <a:buFont typeface="Calibri"/>
                <a:buNone/>
              </a:pPr>
              <a:r>
                <a:rPr b="1" lang="en-GB" sz="768">
                  <a:solidFill>
                    <a:srgbClr val="241509"/>
                  </a:solidFill>
                  <a:latin typeface="Calibri"/>
                  <a:ea typeface="Calibri"/>
                  <a:cs typeface="Calibri"/>
                  <a:sym typeface="Calibri"/>
                </a:rPr>
                <a:t>Member ID:</a:t>
              </a:r>
              <a:endParaRPr b="0" i="0" sz="768" u="none" cap="none" strike="noStrike">
                <a:solidFill>
                  <a:srgbClr val="000000"/>
                </a:solidFill>
                <a:latin typeface="Calibri"/>
                <a:ea typeface="Calibri"/>
                <a:cs typeface="Calibri"/>
                <a:sym typeface="Calibri"/>
              </a:endParaRPr>
            </a:p>
          </p:txBody>
        </p:sp>
        <p:pic>
          <p:nvPicPr>
            <p:cNvPr id="443" name="Google Shape;443;p24" title="logo.png"/>
            <p:cNvPicPr preferRelativeResize="0"/>
            <p:nvPr/>
          </p:nvPicPr>
          <p:blipFill>
            <a:blip r:embed="rId3">
              <a:alphaModFix/>
            </a:blip>
            <a:stretch>
              <a:fillRect/>
            </a:stretch>
          </p:blipFill>
          <p:spPr>
            <a:xfrm>
              <a:off x="1170450" y="1608125"/>
              <a:ext cx="1244321" cy="1112151"/>
            </a:xfrm>
            <a:prstGeom prst="rect">
              <a:avLst/>
            </a:prstGeom>
            <a:noFill/>
            <a:ln>
              <a:noFill/>
            </a:ln>
          </p:spPr>
        </p:pic>
        <p:sp>
          <p:nvSpPr>
            <p:cNvPr id="444" name="Google Shape;444;p24"/>
            <p:cNvSpPr/>
            <p:nvPr/>
          </p:nvSpPr>
          <p:spPr>
            <a:xfrm>
              <a:off x="856452" y="3284044"/>
              <a:ext cx="1872300" cy="19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509"/>
                </a:buClr>
                <a:buSzPts val="768"/>
                <a:buFont typeface="Calibri"/>
                <a:buNone/>
              </a:pPr>
              <a:r>
                <a:rPr b="1" lang="en-GB" sz="768">
                  <a:solidFill>
                    <a:srgbClr val="241509"/>
                  </a:solidFill>
                  <a:latin typeface="Calibri"/>
                  <a:ea typeface="Calibri"/>
                  <a:cs typeface="Calibri"/>
                  <a:sym typeface="Calibri"/>
                </a:rPr>
                <a:t>Password:</a:t>
              </a:r>
              <a:endParaRPr b="0" i="0" sz="768" u="none" cap="none" strike="noStrike">
                <a:solidFill>
                  <a:srgbClr val="000000"/>
                </a:solidFill>
                <a:latin typeface="Calibri"/>
                <a:ea typeface="Calibri"/>
                <a:cs typeface="Calibri"/>
                <a:sym typeface="Calibri"/>
              </a:endParaRPr>
            </a:p>
          </p:txBody>
        </p:sp>
        <p:sp>
          <p:nvSpPr>
            <p:cNvPr id="445" name="Google Shape;445;p24"/>
            <p:cNvSpPr/>
            <p:nvPr/>
          </p:nvSpPr>
          <p:spPr>
            <a:xfrm>
              <a:off x="856452" y="3479285"/>
              <a:ext cx="1872300" cy="142200"/>
            </a:xfrm>
            <a:prstGeom prst="roundRect">
              <a:avLst>
                <a:gd fmla="val 13636" name="adj"/>
              </a:avLst>
            </a:prstGeom>
            <a:solidFill>
              <a:srgbClr val="E4D8C4"/>
            </a:solidFill>
            <a:ln>
              <a:noFill/>
            </a:ln>
          </p:spPr>
          <p:txBody>
            <a:bodyPr anchorCtr="0" anchor="ctr" bIns="66850" lIns="66850" spcFirstLastPara="1" rIns="66850" wrap="square" tIns="66850">
              <a:noAutofit/>
            </a:bodyPr>
            <a:lstStyle/>
            <a:p>
              <a:pPr indent="0" lvl="0" marL="0" rtl="0" algn="l">
                <a:spcBef>
                  <a:spcPts val="0"/>
                </a:spcBef>
                <a:spcAft>
                  <a:spcPts val="0"/>
                </a:spcAft>
                <a:buNone/>
              </a:pPr>
              <a:r>
                <a:rPr lang="en-GB" sz="725"/>
                <a:t>**********</a:t>
              </a:r>
              <a:endParaRPr sz="725"/>
            </a:p>
          </p:txBody>
        </p:sp>
      </p:grpSp>
      <p:sp>
        <p:nvSpPr>
          <p:cNvPr id="446" name="Google Shape;446;p24"/>
          <p:cNvSpPr/>
          <p:nvPr/>
        </p:nvSpPr>
        <p:spPr>
          <a:xfrm>
            <a:off x="3825141" y="1875575"/>
            <a:ext cx="4589400" cy="211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2417"/>
              </a:buClr>
              <a:buSzPts val="1039"/>
              <a:buFont typeface="Calibri"/>
              <a:buNone/>
            </a:pPr>
            <a:r>
              <a:rPr b="1" lang="en-GB" sz="1039">
                <a:solidFill>
                  <a:srgbClr val="3B2417"/>
                </a:solidFill>
                <a:latin typeface="Calibri"/>
                <a:ea typeface="Calibri"/>
                <a:cs typeface="Calibri"/>
                <a:sym typeface="Calibri"/>
              </a:rPr>
              <a:t>Increases Revenue through..</a:t>
            </a:r>
            <a:endParaRPr b="0" i="0" sz="1039" u="none" cap="none" strike="noStrike">
              <a:solidFill>
                <a:srgbClr val="000000"/>
              </a:solidFill>
              <a:latin typeface="Calibri"/>
              <a:ea typeface="Calibri"/>
              <a:cs typeface="Calibri"/>
              <a:sym typeface="Calibri"/>
            </a:endParaRPr>
          </a:p>
        </p:txBody>
      </p:sp>
      <p:sp>
        <p:nvSpPr>
          <p:cNvPr id="447" name="Google Shape;447;p24"/>
          <p:cNvSpPr/>
          <p:nvPr/>
        </p:nvSpPr>
        <p:spPr>
          <a:xfrm>
            <a:off x="3825150" y="2148275"/>
            <a:ext cx="4589400" cy="807000"/>
          </a:xfrm>
          <a:prstGeom prst="rect">
            <a:avLst/>
          </a:prstGeom>
          <a:noFill/>
          <a:ln>
            <a:noFill/>
          </a:ln>
        </p:spPr>
        <p:txBody>
          <a:bodyPr anchorCtr="0" anchor="t" bIns="0" lIns="0" spcFirstLastPara="1" rIns="0" wrap="square" tIns="0">
            <a:noAutofit/>
          </a:bodyPr>
          <a:lstStyle/>
          <a:p>
            <a:pPr indent="-284813" lvl="0" marL="457200" marR="0" rtl="0" algn="l">
              <a:spcBef>
                <a:spcPts val="0"/>
              </a:spcBef>
              <a:spcAft>
                <a:spcPts val="0"/>
              </a:spcAft>
              <a:buSzPts val="885"/>
              <a:buFont typeface="Calibri"/>
              <a:buChar char="-"/>
            </a:pPr>
            <a:r>
              <a:rPr lang="en-GB" sz="885">
                <a:latin typeface="Calibri"/>
                <a:ea typeface="Calibri"/>
                <a:cs typeface="Calibri"/>
                <a:sym typeface="Calibri"/>
              </a:rPr>
              <a:t>Data informed upselling</a:t>
            </a:r>
            <a:endParaRPr sz="885">
              <a:latin typeface="Calibri"/>
              <a:ea typeface="Calibri"/>
              <a:cs typeface="Calibri"/>
              <a:sym typeface="Calibri"/>
            </a:endParaRPr>
          </a:p>
          <a:p>
            <a:pPr indent="-284813" lvl="0" marL="457200" marR="0" rtl="0" algn="l">
              <a:spcBef>
                <a:spcPts val="0"/>
              </a:spcBef>
              <a:spcAft>
                <a:spcPts val="0"/>
              </a:spcAft>
              <a:buSzPts val="885"/>
              <a:buFont typeface="Calibri"/>
              <a:buChar char="-"/>
            </a:pPr>
            <a:r>
              <a:rPr lang="en-GB" sz="885">
                <a:latin typeface="Calibri"/>
                <a:ea typeface="Calibri"/>
                <a:cs typeface="Calibri"/>
                <a:sym typeface="Calibri"/>
              </a:rPr>
              <a:t>Location prompts</a:t>
            </a:r>
            <a:endParaRPr sz="885">
              <a:latin typeface="Calibri"/>
              <a:ea typeface="Calibri"/>
              <a:cs typeface="Calibri"/>
              <a:sym typeface="Calibri"/>
            </a:endParaRPr>
          </a:p>
          <a:p>
            <a:pPr indent="-284813" lvl="0" marL="457200" marR="0" rtl="0" algn="l">
              <a:spcBef>
                <a:spcPts val="0"/>
              </a:spcBef>
              <a:spcAft>
                <a:spcPts val="0"/>
              </a:spcAft>
              <a:buSzPts val="885"/>
              <a:buFont typeface="Calibri"/>
              <a:buChar char="-"/>
            </a:pPr>
            <a:r>
              <a:rPr lang="en-GB" sz="885">
                <a:latin typeface="Calibri"/>
                <a:ea typeface="Calibri"/>
                <a:cs typeface="Calibri"/>
                <a:sym typeface="Calibri"/>
              </a:rPr>
              <a:t>Loyalty rewards</a:t>
            </a:r>
            <a:endParaRPr sz="885">
              <a:latin typeface="Calibri"/>
              <a:ea typeface="Calibri"/>
              <a:cs typeface="Calibri"/>
              <a:sym typeface="Calibri"/>
            </a:endParaRPr>
          </a:p>
          <a:p>
            <a:pPr indent="-284813" lvl="0" marL="457200" marR="0" rtl="0" algn="l">
              <a:spcBef>
                <a:spcPts val="0"/>
              </a:spcBef>
              <a:spcAft>
                <a:spcPts val="0"/>
              </a:spcAft>
              <a:buSzPts val="885"/>
              <a:buFont typeface="Calibri"/>
              <a:buChar char="-"/>
            </a:pPr>
            <a:r>
              <a:rPr lang="en-GB" sz="885">
                <a:latin typeface="Calibri"/>
                <a:ea typeface="Calibri"/>
                <a:cs typeface="Calibri"/>
                <a:sym typeface="Calibri"/>
              </a:rPr>
              <a:t>Subscription programme</a:t>
            </a:r>
            <a:endParaRPr sz="885">
              <a:latin typeface="Calibri"/>
              <a:ea typeface="Calibri"/>
              <a:cs typeface="Calibri"/>
              <a:sym typeface="Calibri"/>
            </a:endParaRPr>
          </a:p>
        </p:txBody>
      </p:sp>
      <p:sp>
        <p:nvSpPr>
          <p:cNvPr id="448" name="Google Shape;448;p24"/>
          <p:cNvSpPr/>
          <p:nvPr/>
        </p:nvSpPr>
        <p:spPr>
          <a:xfrm>
            <a:off x="3825141" y="3001785"/>
            <a:ext cx="4589400" cy="211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2417"/>
              </a:buClr>
              <a:buSzPts val="1039"/>
              <a:buFont typeface="Calibri"/>
              <a:buNone/>
            </a:pPr>
            <a:r>
              <a:rPr b="1" lang="en-GB" sz="1039">
                <a:solidFill>
                  <a:srgbClr val="3B2417"/>
                </a:solidFill>
                <a:latin typeface="Calibri"/>
                <a:ea typeface="Calibri"/>
                <a:cs typeface="Calibri"/>
                <a:sym typeface="Calibri"/>
              </a:rPr>
              <a:t>Improves Customer experience via..</a:t>
            </a:r>
            <a:endParaRPr b="0" i="0" sz="1039" u="none" cap="none" strike="noStrike">
              <a:solidFill>
                <a:srgbClr val="000000"/>
              </a:solidFill>
              <a:latin typeface="Calibri"/>
              <a:ea typeface="Calibri"/>
              <a:cs typeface="Calibri"/>
              <a:sym typeface="Calibri"/>
            </a:endParaRPr>
          </a:p>
        </p:txBody>
      </p:sp>
      <p:sp>
        <p:nvSpPr>
          <p:cNvPr id="449" name="Google Shape;449;p24"/>
          <p:cNvSpPr/>
          <p:nvPr/>
        </p:nvSpPr>
        <p:spPr>
          <a:xfrm>
            <a:off x="3825150" y="3299575"/>
            <a:ext cx="4589400" cy="807000"/>
          </a:xfrm>
          <a:prstGeom prst="rect">
            <a:avLst/>
          </a:prstGeom>
          <a:noFill/>
          <a:ln>
            <a:noFill/>
          </a:ln>
        </p:spPr>
        <p:txBody>
          <a:bodyPr anchorCtr="0" anchor="t" bIns="0" lIns="0" spcFirstLastPara="1" rIns="0" wrap="square" tIns="0">
            <a:noAutofit/>
          </a:bodyPr>
          <a:lstStyle/>
          <a:p>
            <a:pPr indent="-284813" lvl="0" marL="457200" marR="0" rtl="0" algn="l">
              <a:spcBef>
                <a:spcPts val="0"/>
              </a:spcBef>
              <a:spcAft>
                <a:spcPts val="0"/>
              </a:spcAft>
              <a:buSzPts val="885"/>
              <a:buFont typeface="Calibri"/>
              <a:buChar char="-"/>
            </a:pPr>
            <a:r>
              <a:rPr lang="en-GB" sz="885">
                <a:latin typeface="Calibri"/>
                <a:ea typeface="Calibri"/>
                <a:cs typeface="Calibri"/>
                <a:sym typeface="Calibri"/>
              </a:rPr>
              <a:t>Gamified engagement</a:t>
            </a:r>
            <a:endParaRPr sz="885">
              <a:latin typeface="Calibri"/>
              <a:ea typeface="Calibri"/>
              <a:cs typeface="Calibri"/>
              <a:sym typeface="Calibri"/>
            </a:endParaRPr>
          </a:p>
          <a:p>
            <a:pPr indent="-284813" lvl="0" marL="457200" marR="0" rtl="0" algn="l">
              <a:spcBef>
                <a:spcPts val="0"/>
              </a:spcBef>
              <a:spcAft>
                <a:spcPts val="0"/>
              </a:spcAft>
              <a:buSzPts val="885"/>
              <a:buFont typeface="Calibri"/>
              <a:buChar char="-"/>
            </a:pPr>
            <a:r>
              <a:rPr lang="en-GB" sz="885">
                <a:latin typeface="Calibri"/>
                <a:ea typeface="Calibri"/>
                <a:cs typeface="Calibri"/>
                <a:sym typeface="Calibri"/>
              </a:rPr>
              <a:t>Faster and easier ordering</a:t>
            </a:r>
            <a:endParaRPr sz="885">
              <a:latin typeface="Calibri"/>
              <a:ea typeface="Calibri"/>
              <a:cs typeface="Calibri"/>
              <a:sym typeface="Calibri"/>
            </a:endParaRPr>
          </a:p>
          <a:p>
            <a:pPr indent="-284813" lvl="0" marL="457200" marR="0" rtl="0" algn="l">
              <a:spcBef>
                <a:spcPts val="0"/>
              </a:spcBef>
              <a:spcAft>
                <a:spcPts val="0"/>
              </a:spcAft>
              <a:buSzPts val="885"/>
              <a:buFont typeface="Calibri"/>
              <a:buChar char="-"/>
            </a:pPr>
            <a:r>
              <a:rPr lang="en-GB" sz="885">
                <a:latin typeface="Calibri"/>
                <a:ea typeface="Calibri"/>
                <a:cs typeface="Calibri"/>
                <a:sym typeface="Calibri"/>
              </a:rPr>
              <a:t>Personalised and relevant discounts</a:t>
            </a:r>
            <a:endParaRPr sz="885">
              <a:latin typeface="Calibri"/>
              <a:ea typeface="Calibri"/>
              <a:cs typeface="Calibri"/>
              <a:sym typeface="Calibri"/>
            </a:endParaRPr>
          </a:p>
          <a:p>
            <a:pPr indent="-284813" lvl="0" marL="457200" marR="0" rtl="0" algn="l">
              <a:spcBef>
                <a:spcPts val="0"/>
              </a:spcBef>
              <a:spcAft>
                <a:spcPts val="0"/>
              </a:spcAft>
              <a:buSzPts val="885"/>
              <a:buFont typeface="Calibri"/>
              <a:buChar char="-"/>
            </a:pPr>
            <a:r>
              <a:rPr lang="en-GB" sz="885">
                <a:latin typeface="Calibri"/>
                <a:ea typeface="Calibri"/>
                <a:cs typeface="Calibri"/>
                <a:sym typeface="Calibri"/>
              </a:rPr>
              <a:t>Loyalty programme</a:t>
            </a:r>
            <a:endParaRPr sz="885">
              <a:latin typeface="Calibri"/>
              <a:ea typeface="Calibri"/>
              <a:cs typeface="Calibri"/>
              <a:sym typeface="Calibri"/>
            </a:endParaRPr>
          </a:p>
          <a:p>
            <a:pPr indent="-284813" lvl="0" marL="457200" marR="0" rtl="0" algn="l">
              <a:spcBef>
                <a:spcPts val="0"/>
              </a:spcBef>
              <a:spcAft>
                <a:spcPts val="0"/>
              </a:spcAft>
              <a:buSzPts val="885"/>
              <a:buFont typeface="Calibri"/>
              <a:buChar char="-"/>
            </a:pPr>
            <a:r>
              <a:rPr lang="en-GB" sz="885">
                <a:latin typeface="Calibri"/>
                <a:ea typeface="Calibri"/>
                <a:cs typeface="Calibri"/>
                <a:sym typeface="Calibri"/>
              </a:rPr>
              <a:t>Shareable social experience</a:t>
            </a:r>
            <a:endParaRPr sz="885">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25"/>
          <p:cNvSpPr txBox="1"/>
          <p:nvPr>
            <p:ph type="title"/>
          </p:nvPr>
        </p:nvSpPr>
        <p:spPr>
          <a:xfrm>
            <a:off x="2535475" y="1908450"/>
            <a:ext cx="4816500" cy="7455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GB"/>
              <a:t>Recommendation 2:</a:t>
            </a:r>
            <a:endParaRPr/>
          </a:p>
          <a:p>
            <a:pPr indent="0" lvl="0" marL="0" rtl="0" algn="l">
              <a:spcBef>
                <a:spcPts val="0"/>
              </a:spcBef>
              <a:spcAft>
                <a:spcPts val="0"/>
              </a:spcAft>
              <a:buNone/>
            </a:pPr>
            <a:r>
              <a:rPr lang="en-GB"/>
              <a:t>Express Kiosks</a:t>
            </a:r>
            <a:endParaRPr/>
          </a:p>
        </p:txBody>
      </p:sp>
      <p:sp>
        <p:nvSpPr>
          <p:cNvPr id="455" name="Google Shape;455;p25"/>
          <p:cNvSpPr txBox="1"/>
          <p:nvPr/>
        </p:nvSpPr>
        <p:spPr>
          <a:xfrm>
            <a:off x="334075" y="4377925"/>
            <a:ext cx="2201400" cy="53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Oswald"/>
                <a:ea typeface="Oswald"/>
                <a:cs typeface="Oswald"/>
                <a:sym typeface="Oswald"/>
              </a:rPr>
              <a:t>PRESENTER</a:t>
            </a:r>
            <a:endParaRPr sz="1800">
              <a:solidFill>
                <a:schemeClr val="lt1"/>
              </a:solidFill>
              <a:latin typeface="Oswald"/>
              <a:ea typeface="Oswald"/>
              <a:cs typeface="Oswald"/>
              <a:sym typeface="Oswald"/>
            </a:endParaRPr>
          </a:p>
          <a:p>
            <a:pPr indent="0" lvl="0" marL="0" rtl="0" algn="l">
              <a:spcBef>
                <a:spcPts val="0"/>
              </a:spcBef>
              <a:spcAft>
                <a:spcPts val="0"/>
              </a:spcAft>
              <a:buNone/>
            </a:pPr>
            <a:r>
              <a:rPr lang="en-GB" sz="1800">
                <a:solidFill>
                  <a:schemeClr val="lt1"/>
                </a:solidFill>
                <a:latin typeface="Oswald"/>
                <a:ea typeface="Oswald"/>
                <a:cs typeface="Oswald"/>
                <a:sym typeface="Oswald"/>
              </a:rPr>
              <a:t>JOSHUA</a:t>
            </a:r>
            <a:endParaRPr sz="1800">
              <a:solidFill>
                <a:schemeClr val="lt1"/>
              </a:solidFill>
              <a:latin typeface="Oswald"/>
              <a:ea typeface="Oswald"/>
              <a:cs typeface="Oswald"/>
              <a:sym typeface="Oswald"/>
            </a:endParaRPr>
          </a:p>
        </p:txBody>
      </p:sp>
      <p:sp>
        <p:nvSpPr>
          <p:cNvPr id="456" name="Google Shape;456;p25"/>
          <p:cNvSpPr txBox="1"/>
          <p:nvPr/>
        </p:nvSpPr>
        <p:spPr>
          <a:xfrm>
            <a:off x="622825" y="1820850"/>
            <a:ext cx="1047000" cy="92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3800">
                <a:solidFill>
                  <a:schemeClr val="lt1"/>
                </a:solidFill>
                <a:latin typeface="Alfa Slab One"/>
                <a:ea typeface="Alfa Slab One"/>
                <a:cs typeface="Alfa Slab One"/>
                <a:sym typeface="Alfa Slab One"/>
              </a:rPr>
              <a:t>3</a:t>
            </a:r>
            <a:endParaRPr sz="3800">
              <a:solidFill>
                <a:schemeClr val="lt1"/>
              </a:solidFill>
              <a:latin typeface="Alfa Slab One"/>
              <a:ea typeface="Alfa Slab One"/>
              <a:cs typeface="Alfa Slab One"/>
              <a:sym typeface="Alfa Slab One"/>
            </a:endParaRPr>
          </a:p>
        </p:txBody>
      </p:sp>
      <p:sp>
        <p:nvSpPr>
          <p:cNvPr id="457" name="Google Shape;457;p25"/>
          <p:cNvSpPr/>
          <p:nvPr/>
        </p:nvSpPr>
        <p:spPr>
          <a:xfrm>
            <a:off x="2494708" y="1767152"/>
            <a:ext cx="3234600" cy="1028100"/>
          </a:xfrm>
          <a:prstGeom prst="roundRect">
            <a:avLst>
              <a:gd fmla="val 16667" name="adj"/>
            </a:avLst>
          </a:prstGeom>
          <a:noFill/>
          <a:ln cap="flat" cmpd="sng" w="38100">
            <a:solidFill>
              <a:srgbClr val="533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swald"/>
              <a:ea typeface="Oswald"/>
              <a:cs typeface="Oswald"/>
              <a:sym typeface="Oswa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26"/>
          <p:cNvSpPr/>
          <p:nvPr/>
        </p:nvSpPr>
        <p:spPr>
          <a:xfrm>
            <a:off x="429430" y="177475"/>
            <a:ext cx="9144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66B"/>
              </a:buClr>
              <a:buSzPts val="1200"/>
              <a:buFont typeface="Calibri"/>
              <a:buNone/>
            </a:pPr>
            <a:r>
              <a:rPr b="1" lang="en-GB" sz="1200">
                <a:solidFill>
                  <a:srgbClr val="C9A66B"/>
                </a:solidFill>
                <a:latin typeface="Calibri"/>
                <a:ea typeface="Calibri"/>
                <a:cs typeface="Calibri"/>
                <a:sym typeface="Calibri"/>
              </a:rPr>
              <a:t>RECOMMENDATION 2</a:t>
            </a:r>
            <a:r>
              <a:rPr b="1" i="0" lang="en-GB" sz="1200" u="none" cap="none" strike="noStrike">
                <a:solidFill>
                  <a:srgbClr val="C9A66B"/>
                </a:solidFill>
                <a:latin typeface="Calibri"/>
                <a:ea typeface="Calibri"/>
                <a:cs typeface="Calibri"/>
                <a:sym typeface="Calibri"/>
              </a:rPr>
              <a:t>  ·  </a:t>
            </a:r>
            <a:r>
              <a:rPr b="1" lang="en-GB" sz="1200">
                <a:solidFill>
                  <a:srgbClr val="C9A66B"/>
                </a:solidFill>
                <a:latin typeface="Calibri"/>
                <a:ea typeface="Calibri"/>
                <a:cs typeface="Calibri"/>
                <a:sym typeface="Calibri"/>
              </a:rPr>
              <a:t>COST SAVINGS</a:t>
            </a:r>
            <a:endParaRPr b="1" i="0" sz="1200" u="none" cap="none" strike="noStrike">
              <a:solidFill>
                <a:srgbClr val="000000"/>
              </a:solidFill>
              <a:latin typeface="Calibri"/>
              <a:ea typeface="Calibri"/>
              <a:cs typeface="Calibri"/>
              <a:sym typeface="Calibri"/>
            </a:endParaRPr>
          </a:p>
        </p:txBody>
      </p:sp>
      <p:pic>
        <p:nvPicPr>
          <p:cNvPr id="463" name="Google Shape;463;p26" title="logo.png"/>
          <p:cNvPicPr preferRelativeResize="0"/>
          <p:nvPr/>
        </p:nvPicPr>
        <p:blipFill>
          <a:blip r:embed="rId3">
            <a:alphaModFix/>
          </a:blip>
          <a:stretch>
            <a:fillRect/>
          </a:stretch>
        </p:blipFill>
        <p:spPr>
          <a:xfrm>
            <a:off x="7743638" y="59725"/>
            <a:ext cx="1304024" cy="1165525"/>
          </a:xfrm>
          <a:prstGeom prst="rect">
            <a:avLst/>
          </a:prstGeom>
          <a:noFill/>
          <a:ln>
            <a:noFill/>
          </a:ln>
        </p:spPr>
      </p:pic>
      <p:sp>
        <p:nvSpPr>
          <p:cNvPr id="464" name="Google Shape;464;p26"/>
          <p:cNvSpPr txBox="1"/>
          <p:nvPr>
            <p:ph type="title"/>
          </p:nvPr>
        </p:nvSpPr>
        <p:spPr>
          <a:xfrm>
            <a:off x="363525" y="5392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latin typeface="Cambria"/>
                <a:ea typeface="Cambria"/>
                <a:cs typeface="Cambria"/>
                <a:sym typeface="Cambria"/>
              </a:rPr>
              <a:t>Kopi Express</a:t>
            </a:r>
            <a:endParaRPr b="1">
              <a:latin typeface="Cambria"/>
              <a:ea typeface="Cambria"/>
              <a:cs typeface="Cambria"/>
              <a:sym typeface="Cambria"/>
            </a:endParaRPr>
          </a:p>
        </p:txBody>
      </p:sp>
      <p:sp>
        <p:nvSpPr>
          <p:cNvPr id="465" name="Google Shape;465;p26"/>
          <p:cNvSpPr/>
          <p:nvPr/>
        </p:nvSpPr>
        <p:spPr>
          <a:xfrm>
            <a:off x="3910175" y="1306013"/>
            <a:ext cx="4070100" cy="48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4A3C"/>
              </a:buClr>
              <a:buSzPts val="989"/>
              <a:buFont typeface="Calibri"/>
              <a:buNone/>
            </a:pPr>
            <a:r>
              <a:rPr b="1" i="1" lang="en-GB" sz="989" u="none" cap="none" strike="noStrike">
                <a:solidFill>
                  <a:srgbClr val="5A4A3C"/>
                </a:solidFill>
                <a:latin typeface="Calibri"/>
                <a:ea typeface="Calibri"/>
                <a:cs typeface="Calibri"/>
                <a:sym typeface="Calibri"/>
              </a:rPr>
              <a:t>A heritage-styled micro-kiosk</a:t>
            </a:r>
            <a:r>
              <a:rPr b="1" i="1" lang="en-GB" sz="989">
                <a:solidFill>
                  <a:srgbClr val="5A4A3C"/>
                </a:solidFill>
                <a:latin typeface="Calibri"/>
                <a:ea typeface="Calibri"/>
                <a:cs typeface="Calibri"/>
                <a:sym typeface="Calibri"/>
              </a:rPr>
              <a:t>:</a:t>
            </a:r>
            <a:r>
              <a:rPr b="0" i="1" lang="en-GB" sz="989" u="none" cap="none" strike="noStrike">
                <a:solidFill>
                  <a:srgbClr val="5A4A3C"/>
                </a:solidFill>
                <a:latin typeface="Calibri"/>
                <a:ea typeface="Calibri"/>
                <a:cs typeface="Calibri"/>
                <a:sym typeface="Calibri"/>
              </a:rPr>
              <a:t> self-ordering, no cashier, linked to </a:t>
            </a:r>
            <a:r>
              <a:rPr i="1" lang="en-GB" sz="989">
                <a:solidFill>
                  <a:srgbClr val="5A4A3C"/>
                </a:solidFill>
                <a:latin typeface="Calibri"/>
                <a:ea typeface="Calibri"/>
                <a:cs typeface="Calibri"/>
                <a:sym typeface="Calibri"/>
              </a:rPr>
              <a:t>OTWC app</a:t>
            </a:r>
            <a:r>
              <a:rPr b="0" i="1" lang="en-GB" sz="989" u="none" cap="none" strike="noStrike">
                <a:solidFill>
                  <a:srgbClr val="5A4A3C"/>
                </a:solidFill>
                <a:latin typeface="Calibri"/>
                <a:ea typeface="Calibri"/>
                <a:cs typeface="Calibri"/>
                <a:sym typeface="Calibri"/>
              </a:rPr>
              <a:t> for demand data</a:t>
            </a:r>
            <a:endParaRPr b="0" i="0" sz="989" u="none" cap="none" strike="noStrike">
              <a:solidFill>
                <a:srgbClr val="000000"/>
              </a:solidFill>
              <a:latin typeface="Calibri"/>
              <a:ea typeface="Calibri"/>
              <a:cs typeface="Calibri"/>
              <a:sym typeface="Calibri"/>
            </a:endParaRPr>
          </a:p>
        </p:txBody>
      </p:sp>
      <p:sp>
        <p:nvSpPr>
          <p:cNvPr id="466" name="Google Shape;466;p26"/>
          <p:cNvSpPr/>
          <p:nvPr/>
        </p:nvSpPr>
        <p:spPr>
          <a:xfrm>
            <a:off x="3964975" y="2157690"/>
            <a:ext cx="3618000" cy="290700"/>
          </a:xfrm>
          <a:prstGeom prst="rect">
            <a:avLst/>
          </a:prstGeom>
          <a:solidFill>
            <a:srgbClr val="B4552F"/>
          </a:solidFill>
          <a:ln>
            <a:noFill/>
          </a:ln>
        </p:spPr>
        <p:txBody>
          <a:bodyPr anchorCtr="0" anchor="ctr" bIns="64600" lIns="64600" spcFirstLastPara="1" rIns="64600" wrap="square" tIns="64600">
            <a:noAutofit/>
          </a:bodyPr>
          <a:lstStyle/>
          <a:p>
            <a:pPr indent="0" lvl="0" marL="0" rtl="0" algn="l">
              <a:spcBef>
                <a:spcPts val="0"/>
              </a:spcBef>
              <a:spcAft>
                <a:spcPts val="0"/>
              </a:spcAft>
              <a:buNone/>
            </a:pPr>
            <a:r>
              <a:t/>
            </a:r>
            <a:endParaRPr/>
          </a:p>
        </p:txBody>
      </p:sp>
      <p:sp>
        <p:nvSpPr>
          <p:cNvPr id="467" name="Google Shape;467;p26"/>
          <p:cNvSpPr/>
          <p:nvPr/>
        </p:nvSpPr>
        <p:spPr>
          <a:xfrm>
            <a:off x="4061880" y="2157690"/>
            <a:ext cx="3423900" cy="29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812"/>
              <a:buFont typeface="Calibri"/>
              <a:buNone/>
            </a:pPr>
            <a:r>
              <a:rPr b="1" i="0" lang="en-GB" sz="812" u="none" cap="none" strike="noStrike">
                <a:solidFill>
                  <a:srgbClr val="FFFFFF"/>
                </a:solidFill>
                <a:latin typeface="Calibri"/>
                <a:ea typeface="Calibri"/>
                <a:cs typeface="Calibri"/>
                <a:sym typeface="Calibri"/>
              </a:rPr>
              <a:t>Full Dine-In Outlet</a:t>
            </a:r>
            <a:r>
              <a:rPr b="1" lang="en-GB" sz="812">
                <a:solidFill>
                  <a:srgbClr val="FFFFFF"/>
                </a:solidFill>
                <a:latin typeface="Calibri"/>
                <a:ea typeface="Calibri"/>
                <a:cs typeface="Calibri"/>
                <a:sym typeface="Calibri"/>
              </a:rPr>
              <a:t>: R</a:t>
            </a:r>
            <a:r>
              <a:rPr b="1" i="0" lang="en-GB" sz="812" u="none" cap="none" strike="noStrike">
                <a:solidFill>
                  <a:srgbClr val="FFFFFF"/>
                </a:solidFill>
                <a:latin typeface="Calibri"/>
                <a:ea typeface="Calibri"/>
                <a:cs typeface="Calibri"/>
                <a:sym typeface="Calibri"/>
              </a:rPr>
              <a:t>M 600K-800K</a:t>
            </a:r>
            <a:endParaRPr b="0" i="0" sz="812" u="none" cap="none" strike="noStrike">
              <a:solidFill>
                <a:srgbClr val="000000"/>
              </a:solidFill>
              <a:latin typeface="Calibri"/>
              <a:ea typeface="Calibri"/>
              <a:cs typeface="Calibri"/>
              <a:sym typeface="Calibri"/>
            </a:endParaRPr>
          </a:p>
        </p:txBody>
      </p:sp>
      <p:sp>
        <p:nvSpPr>
          <p:cNvPr id="468" name="Google Shape;468;p26"/>
          <p:cNvSpPr/>
          <p:nvPr/>
        </p:nvSpPr>
        <p:spPr>
          <a:xfrm>
            <a:off x="3964975" y="2545308"/>
            <a:ext cx="839700" cy="290700"/>
          </a:xfrm>
          <a:prstGeom prst="rect">
            <a:avLst/>
          </a:prstGeom>
          <a:solidFill>
            <a:srgbClr val="3E7C74"/>
          </a:solidFill>
          <a:ln>
            <a:noFill/>
          </a:ln>
        </p:spPr>
        <p:txBody>
          <a:bodyPr anchorCtr="0" anchor="ctr" bIns="64600" lIns="64600" spcFirstLastPara="1" rIns="64600" wrap="square" tIns="64600">
            <a:noAutofit/>
          </a:bodyPr>
          <a:lstStyle/>
          <a:p>
            <a:pPr indent="0" lvl="0" marL="0" rtl="0" algn="l">
              <a:spcBef>
                <a:spcPts val="0"/>
              </a:spcBef>
              <a:spcAft>
                <a:spcPts val="0"/>
              </a:spcAft>
              <a:buNone/>
            </a:pPr>
            <a:r>
              <a:t/>
            </a:r>
            <a:endParaRPr/>
          </a:p>
        </p:txBody>
      </p:sp>
      <p:sp>
        <p:nvSpPr>
          <p:cNvPr id="469" name="Google Shape;469;p26"/>
          <p:cNvSpPr/>
          <p:nvPr/>
        </p:nvSpPr>
        <p:spPr>
          <a:xfrm>
            <a:off x="4901727" y="2545308"/>
            <a:ext cx="2907300" cy="29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2417"/>
              </a:buClr>
              <a:buSzPts val="812"/>
              <a:buFont typeface="Calibri"/>
              <a:buNone/>
            </a:pPr>
            <a:r>
              <a:rPr b="1" i="0" lang="en-GB" sz="812" u="none" cap="none" strike="noStrike">
                <a:solidFill>
                  <a:srgbClr val="3B2417"/>
                </a:solidFill>
                <a:latin typeface="Calibri"/>
                <a:ea typeface="Calibri"/>
                <a:cs typeface="Calibri"/>
                <a:sym typeface="Calibri"/>
              </a:rPr>
              <a:t>Kopi Express</a:t>
            </a:r>
            <a:r>
              <a:rPr b="1" lang="en-GB" sz="812">
                <a:solidFill>
                  <a:srgbClr val="3B2417"/>
                </a:solidFill>
                <a:latin typeface="Calibri"/>
                <a:ea typeface="Calibri"/>
                <a:cs typeface="Calibri"/>
                <a:sym typeface="Calibri"/>
              </a:rPr>
              <a:t>: </a:t>
            </a:r>
            <a:r>
              <a:rPr b="1" i="0" lang="en-GB" sz="812" u="none" cap="none" strike="noStrike">
                <a:solidFill>
                  <a:srgbClr val="3B2417"/>
                </a:solidFill>
                <a:latin typeface="Calibri"/>
                <a:ea typeface="Calibri"/>
                <a:cs typeface="Calibri"/>
                <a:sym typeface="Calibri"/>
              </a:rPr>
              <a:t>a fraction of the cost</a:t>
            </a:r>
            <a:endParaRPr b="0" i="0" sz="812" u="none" cap="none" strike="noStrike">
              <a:solidFill>
                <a:srgbClr val="000000"/>
              </a:solidFill>
              <a:latin typeface="Calibri"/>
              <a:ea typeface="Calibri"/>
              <a:cs typeface="Calibri"/>
              <a:sym typeface="Calibri"/>
            </a:endParaRPr>
          </a:p>
        </p:txBody>
      </p:sp>
      <p:sp>
        <p:nvSpPr>
          <p:cNvPr id="470" name="Google Shape;470;p26"/>
          <p:cNvSpPr/>
          <p:nvPr/>
        </p:nvSpPr>
        <p:spPr>
          <a:xfrm>
            <a:off x="4094182" y="4580917"/>
            <a:ext cx="3811500" cy="355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52F"/>
              </a:buClr>
              <a:buSzPts val="777"/>
              <a:buFont typeface="Calibri"/>
              <a:buNone/>
            </a:pPr>
            <a:r>
              <a:t/>
            </a:r>
            <a:endParaRPr b="0" i="0" sz="777" u="none" cap="none" strike="noStrike">
              <a:solidFill>
                <a:srgbClr val="000000"/>
              </a:solidFill>
              <a:latin typeface="Calibri"/>
              <a:ea typeface="Calibri"/>
              <a:cs typeface="Calibri"/>
              <a:sym typeface="Calibri"/>
            </a:endParaRPr>
          </a:p>
        </p:txBody>
      </p:sp>
      <p:pic>
        <p:nvPicPr>
          <p:cNvPr id="471" name="Google Shape;471;p26" title="Gemini_Generated_Image_amnpozamnpozamnp.png"/>
          <p:cNvPicPr preferRelativeResize="0"/>
          <p:nvPr/>
        </p:nvPicPr>
        <p:blipFill rotWithShape="1">
          <a:blip r:embed="rId4">
            <a:alphaModFix/>
          </a:blip>
          <a:srcRect b="0" l="16111" r="10457" t="0"/>
          <a:stretch/>
        </p:blipFill>
        <p:spPr>
          <a:xfrm>
            <a:off x="363525" y="1651913"/>
            <a:ext cx="3016126" cy="2240275"/>
          </a:xfrm>
          <a:prstGeom prst="rect">
            <a:avLst/>
          </a:prstGeom>
          <a:noFill/>
          <a:ln>
            <a:noFill/>
          </a:ln>
        </p:spPr>
      </p:pic>
      <p:sp>
        <p:nvSpPr>
          <p:cNvPr id="472" name="Google Shape;472;p26"/>
          <p:cNvSpPr/>
          <p:nvPr/>
        </p:nvSpPr>
        <p:spPr>
          <a:xfrm>
            <a:off x="3910183" y="3298052"/>
            <a:ext cx="4725900" cy="217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2417"/>
              </a:buClr>
              <a:buSzPts val="1070"/>
              <a:buFont typeface="Calibri"/>
              <a:buNone/>
            </a:pPr>
            <a:r>
              <a:rPr b="1" lang="en-GB" sz="1070">
                <a:solidFill>
                  <a:srgbClr val="3B2417"/>
                </a:solidFill>
                <a:latin typeface="Calibri"/>
                <a:ea typeface="Calibri"/>
                <a:cs typeface="Calibri"/>
                <a:sym typeface="Calibri"/>
              </a:rPr>
              <a:t>No cashier</a:t>
            </a:r>
            <a:endParaRPr b="0" i="0" sz="1070" u="none" cap="none" strike="noStrike">
              <a:solidFill>
                <a:srgbClr val="000000"/>
              </a:solidFill>
              <a:latin typeface="Calibri"/>
              <a:ea typeface="Calibri"/>
              <a:cs typeface="Calibri"/>
              <a:sym typeface="Calibri"/>
            </a:endParaRPr>
          </a:p>
        </p:txBody>
      </p:sp>
      <p:sp>
        <p:nvSpPr>
          <p:cNvPr id="473" name="Google Shape;473;p26"/>
          <p:cNvSpPr/>
          <p:nvPr/>
        </p:nvSpPr>
        <p:spPr>
          <a:xfrm>
            <a:off x="3910183" y="3508250"/>
            <a:ext cx="4725900" cy="28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4A3C"/>
              </a:buClr>
              <a:buSzPts val="912"/>
              <a:buFont typeface="Calibri"/>
              <a:buNone/>
            </a:pPr>
            <a:r>
              <a:rPr lang="en-GB" sz="912">
                <a:solidFill>
                  <a:srgbClr val="5A4A3C"/>
                </a:solidFill>
                <a:latin typeface="Calibri"/>
                <a:ea typeface="Calibri"/>
                <a:cs typeface="Calibri"/>
                <a:sym typeface="Calibri"/>
              </a:rPr>
              <a:t>Self-order kiosks and app order cuts labour cost</a:t>
            </a:r>
            <a:endParaRPr b="0" i="0" sz="912" u="none" cap="none" strike="noStrike">
              <a:solidFill>
                <a:srgbClr val="000000"/>
              </a:solidFill>
              <a:latin typeface="Calibri"/>
              <a:ea typeface="Calibri"/>
              <a:cs typeface="Calibri"/>
              <a:sym typeface="Calibri"/>
            </a:endParaRPr>
          </a:p>
        </p:txBody>
      </p:sp>
      <p:sp>
        <p:nvSpPr>
          <p:cNvPr id="474" name="Google Shape;474;p26"/>
          <p:cNvSpPr/>
          <p:nvPr/>
        </p:nvSpPr>
        <p:spPr>
          <a:xfrm>
            <a:off x="3910183" y="3877908"/>
            <a:ext cx="4725900" cy="217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2417"/>
              </a:buClr>
              <a:buSzPts val="1070"/>
              <a:buFont typeface="Calibri"/>
              <a:buNone/>
            </a:pPr>
            <a:r>
              <a:rPr b="1" lang="en-GB" sz="1070">
                <a:solidFill>
                  <a:srgbClr val="3B2417"/>
                </a:solidFill>
                <a:latin typeface="Calibri"/>
                <a:ea typeface="Calibri"/>
                <a:cs typeface="Calibri"/>
                <a:sym typeface="Calibri"/>
              </a:rPr>
              <a:t>Data forecasts demand</a:t>
            </a:r>
            <a:endParaRPr b="0" i="0" sz="1070" u="none" cap="none" strike="noStrike">
              <a:solidFill>
                <a:srgbClr val="000000"/>
              </a:solidFill>
              <a:latin typeface="Calibri"/>
              <a:ea typeface="Calibri"/>
              <a:cs typeface="Calibri"/>
              <a:sym typeface="Calibri"/>
            </a:endParaRPr>
          </a:p>
        </p:txBody>
      </p:sp>
      <p:sp>
        <p:nvSpPr>
          <p:cNvPr id="475" name="Google Shape;475;p26"/>
          <p:cNvSpPr/>
          <p:nvPr/>
        </p:nvSpPr>
        <p:spPr>
          <a:xfrm>
            <a:off x="3910183" y="4088106"/>
            <a:ext cx="4725900" cy="28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4A3C"/>
              </a:buClr>
              <a:buSzPts val="912"/>
              <a:buFont typeface="Calibri"/>
              <a:buNone/>
            </a:pPr>
            <a:r>
              <a:rPr lang="en-GB" sz="912">
                <a:solidFill>
                  <a:srgbClr val="5A4A3C"/>
                </a:solidFill>
                <a:latin typeface="Calibri"/>
                <a:ea typeface="Calibri"/>
                <a:cs typeface="Calibri"/>
                <a:sym typeface="Calibri"/>
              </a:rPr>
              <a:t>Data collected from orders made digitally can help forecast demand and cut food waste</a:t>
            </a:r>
            <a:endParaRPr b="0" i="0" sz="912" u="none" cap="none" strike="noStrike">
              <a:solidFill>
                <a:srgbClr val="000000"/>
              </a:solidFill>
              <a:latin typeface="Calibri"/>
              <a:ea typeface="Calibri"/>
              <a:cs typeface="Calibri"/>
              <a:sym typeface="Calibri"/>
            </a:endParaRPr>
          </a:p>
        </p:txBody>
      </p:sp>
      <p:sp>
        <p:nvSpPr>
          <p:cNvPr id="476" name="Google Shape;476;p26"/>
          <p:cNvSpPr/>
          <p:nvPr/>
        </p:nvSpPr>
        <p:spPr>
          <a:xfrm>
            <a:off x="3910183" y="1871277"/>
            <a:ext cx="4725900" cy="217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2417"/>
              </a:buClr>
              <a:buSzPts val="1070"/>
              <a:buFont typeface="Calibri"/>
              <a:buNone/>
            </a:pPr>
            <a:r>
              <a:rPr b="1" lang="en-GB" sz="1070">
                <a:solidFill>
                  <a:srgbClr val="3B2417"/>
                </a:solidFill>
                <a:latin typeface="Calibri"/>
                <a:ea typeface="Calibri"/>
                <a:cs typeface="Calibri"/>
                <a:sym typeface="Calibri"/>
              </a:rPr>
              <a:t>Lower set up cost </a:t>
            </a:r>
            <a:endParaRPr b="0" i="0" sz="1070" u="none" cap="none" strike="noStrike">
              <a:solidFill>
                <a:srgbClr val="000000"/>
              </a:solidFill>
              <a:latin typeface="Calibri"/>
              <a:ea typeface="Calibri"/>
              <a:cs typeface="Calibri"/>
              <a:sym typeface="Calibri"/>
            </a:endParaRPr>
          </a:p>
        </p:txBody>
      </p:sp>
      <p:sp>
        <p:nvSpPr>
          <p:cNvPr id="477" name="Google Shape;477;p26"/>
          <p:cNvSpPr/>
          <p:nvPr/>
        </p:nvSpPr>
        <p:spPr>
          <a:xfrm>
            <a:off x="3910183" y="2922125"/>
            <a:ext cx="4725900" cy="289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4A3C"/>
              </a:buClr>
              <a:buSzPts val="912"/>
              <a:buFont typeface="Calibri"/>
              <a:buNone/>
            </a:pPr>
            <a:r>
              <a:rPr lang="en-GB" sz="912">
                <a:solidFill>
                  <a:srgbClr val="5A4A3C"/>
                </a:solidFill>
                <a:latin typeface="Calibri"/>
                <a:ea typeface="Calibri"/>
                <a:cs typeface="Calibri"/>
                <a:sym typeface="Calibri"/>
              </a:rPr>
              <a:t>Smaller space required for kiosks, reducing rental cost</a:t>
            </a:r>
            <a:endParaRPr b="0" i="0" sz="912" u="none" cap="none" strike="noStrike">
              <a:solidFill>
                <a:srgbClr val="000000"/>
              </a:solidFill>
              <a:latin typeface="Calibri"/>
              <a:ea typeface="Calibri"/>
              <a:cs typeface="Calibri"/>
              <a:sym typeface="Calibri"/>
            </a:endParaRPr>
          </a:p>
        </p:txBody>
      </p:sp>
      <p:sp>
        <p:nvSpPr>
          <p:cNvPr id="478" name="Google Shape;478;p26"/>
          <p:cNvSpPr/>
          <p:nvPr/>
        </p:nvSpPr>
        <p:spPr>
          <a:xfrm>
            <a:off x="3745973" y="4457746"/>
            <a:ext cx="5218800" cy="398700"/>
          </a:xfrm>
          <a:prstGeom prst="roundRect">
            <a:avLst>
              <a:gd fmla="val 10909" name="adj"/>
            </a:avLst>
          </a:prstGeom>
          <a:solidFill>
            <a:srgbClr val="F3E4DA"/>
          </a:solidFill>
          <a:ln>
            <a:noFill/>
          </a:ln>
        </p:spPr>
        <p:txBody>
          <a:bodyPr anchorCtr="0" anchor="ctr" bIns="72475" lIns="72475" spcFirstLastPara="1" rIns="72475" wrap="square" tIns="72475">
            <a:noAutofit/>
          </a:bodyPr>
          <a:lstStyle/>
          <a:p>
            <a:pPr indent="0" lvl="0" marL="0" rtl="0" algn="l">
              <a:spcBef>
                <a:spcPts val="0"/>
              </a:spcBef>
              <a:spcAft>
                <a:spcPts val="0"/>
              </a:spcAft>
              <a:buNone/>
            </a:pPr>
            <a:r>
              <a:t/>
            </a:r>
            <a:endParaRPr/>
          </a:p>
        </p:txBody>
      </p:sp>
      <p:sp>
        <p:nvSpPr>
          <p:cNvPr id="479" name="Google Shape;479;p26"/>
          <p:cNvSpPr/>
          <p:nvPr/>
        </p:nvSpPr>
        <p:spPr>
          <a:xfrm>
            <a:off x="3890937" y="4457746"/>
            <a:ext cx="4928700" cy="39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4552F"/>
              </a:buClr>
              <a:buSzPts val="872"/>
              <a:buFont typeface="Calibri"/>
              <a:buNone/>
            </a:pPr>
            <a:r>
              <a:rPr i="1" lang="en-GB" sz="872">
                <a:solidFill>
                  <a:srgbClr val="B4552F"/>
                </a:solidFill>
                <a:latin typeface="Calibri"/>
                <a:ea typeface="Calibri"/>
                <a:cs typeface="Calibri"/>
                <a:sym typeface="Calibri"/>
              </a:rPr>
              <a:t>Reduces: Capital and operating expenditure (CAPEX and OPEX) </a:t>
            </a:r>
            <a:endParaRPr i="1" sz="872">
              <a:solidFill>
                <a:srgbClr val="B4552F"/>
              </a:solidFill>
              <a:latin typeface="Calibri"/>
              <a:ea typeface="Calibri"/>
              <a:cs typeface="Calibri"/>
              <a:sym typeface="Calibri"/>
            </a:endParaRPr>
          </a:p>
        </p:txBody>
      </p:sp>
      <p:sp>
        <p:nvSpPr>
          <p:cNvPr id="480" name="Google Shape;480;p26"/>
          <p:cNvSpPr txBox="1"/>
          <p:nvPr/>
        </p:nvSpPr>
        <p:spPr>
          <a:xfrm>
            <a:off x="1364588" y="3947500"/>
            <a:ext cx="1014000" cy="14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600">
                <a:solidFill>
                  <a:schemeClr val="dk2"/>
                </a:solidFill>
                <a:latin typeface="Calibri"/>
                <a:ea typeface="Calibri"/>
                <a:cs typeface="Calibri"/>
                <a:sym typeface="Calibri"/>
              </a:rPr>
              <a:t>AI Generated image (Google Gemini, 2026)</a:t>
            </a:r>
            <a:endParaRPr sz="600">
              <a:solidFill>
                <a:schemeClr val="dk2"/>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27"/>
          <p:cNvSpPr txBox="1"/>
          <p:nvPr>
            <p:ph type="title"/>
          </p:nvPr>
        </p:nvSpPr>
        <p:spPr>
          <a:xfrm>
            <a:off x="2535475" y="1908450"/>
            <a:ext cx="4816500" cy="7455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GB"/>
              <a:t>Conclusion:</a:t>
            </a:r>
            <a:endParaRPr/>
          </a:p>
          <a:p>
            <a:pPr indent="0" lvl="0" marL="0" rtl="0" algn="l">
              <a:spcBef>
                <a:spcPts val="0"/>
              </a:spcBef>
              <a:spcAft>
                <a:spcPts val="0"/>
              </a:spcAft>
              <a:buNone/>
            </a:pPr>
            <a:r>
              <a:rPr lang="en-GB"/>
              <a:t>How it all comes together as one system</a:t>
            </a:r>
            <a:endParaRPr/>
          </a:p>
        </p:txBody>
      </p:sp>
      <p:sp>
        <p:nvSpPr>
          <p:cNvPr id="486" name="Google Shape;486;p27"/>
          <p:cNvSpPr txBox="1"/>
          <p:nvPr/>
        </p:nvSpPr>
        <p:spPr>
          <a:xfrm>
            <a:off x="334075" y="4377925"/>
            <a:ext cx="2201400" cy="53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lt1"/>
                </a:solidFill>
                <a:latin typeface="Oswald"/>
                <a:ea typeface="Oswald"/>
                <a:cs typeface="Oswald"/>
                <a:sym typeface="Oswald"/>
              </a:rPr>
              <a:t>PRESENTER</a:t>
            </a:r>
            <a:endParaRPr sz="1800">
              <a:solidFill>
                <a:schemeClr val="lt1"/>
              </a:solidFill>
              <a:latin typeface="Oswald"/>
              <a:ea typeface="Oswald"/>
              <a:cs typeface="Oswald"/>
              <a:sym typeface="Oswald"/>
            </a:endParaRPr>
          </a:p>
          <a:p>
            <a:pPr indent="0" lvl="0" marL="0" rtl="0" algn="l">
              <a:spcBef>
                <a:spcPts val="0"/>
              </a:spcBef>
              <a:spcAft>
                <a:spcPts val="0"/>
              </a:spcAft>
              <a:buNone/>
            </a:pPr>
            <a:r>
              <a:rPr lang="en-GB" sz="1800">
                <a:solidFill>
                  <a:schemeClr val="lt1"/>
                </a:solidFill>
                <a:latin typeface="Oswald"/>
                <a:ea typeface="Oswald"/>
                <a:cs typeface="Oswald"/>
                <a:sym typeface="Oswald"/>
              </a:rPr>
              <a:t>SAM</a:t>
            </a:r>
            <a:endParaRPr sz="1800">
              <a:solidFill>
                <a:schemeClr val="lt1"/>
              </a:solidFill>
              <a:latin typeface="Oswald"/>
              <a:ea typeface="Oswald"/>
              <a:cs typeface="Oswald"/>
              <a:sym typeface="Oswald"/>
            </a:endParaRPr>
          </a:p>
        </p:txBody>
      </p:sp>
      <p:sp>
        <p:nvSpPr>
          <p:cNvPr id="487" name="Google Shape;487;p27"/>
          <p:cNvSpPr txBox="1"/>
          <p:nvPr/>
        </p:nvSpPr>
        <p:spPr>
          <a:xfrm>
            <a:off x="622825" y="1820850"/>
            <a:ext cx="1047000" cy="92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3800">
                <a:solidFill>
                  <a:schemeClr val="lt1"/>
                </a:solidFill>
                <a:latin typeface="Alfa Slab One"/>
                <a:ea typeface="Alfa Slab One"/>
                <a:cs typeface="Alfa Slab One"/>
                <a:sym typeface="Alfa Slab One"/>
              </a:rPr>
              <a:t>4</a:t>
            </a:r>
            <a:endParaRPr sz="3800">
              <a:solidFill>
                <a:schemeClr val="lt1"/>
              </a:solidFill>
              <a:latin typeface="Alfa Slab One"/>
              <a:ea typeface="Alfa Slab One"/>
              <a:cs typeface="Alfa Slab One"/>
              <a:sym typeface="Alfa Slab One"/>
            </a:endParaRPr>
          </a:p>
        </p:txBody>
      </p:sp>
      <p:sp>
        <p:nvSpPr>
          <p:cNvPr id="488" name="Google Shape;488;p27"/>
          <p:cNvSpPr/>
          <p:nvPr/>
        </p:nvSpPr>
        <p:spPr>
          <a:xfrm>
            <a:off x="2494697" y="1767150"/>
            <a:ext cx="4469400" cy="1028100"/>
          </a:xfrm>
          <a:prstGeom prst="roundRect">
            <a:avLst>
              <a:gd fmla="val 16667" name="adj"/>
            </a:avLst>
          </a:prstGeom>
          <a:noFill/>
          <a:ln cap="flat" cmpd="sng" w="38100">
            <a:solidFill>
              <a:srgbClr val="533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swald"/>
              <a:ea typeface="Oswald"/>
              <a:cs typeface="Oswald"/>
              <a:sym typeface="Oswa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pic>
        <p:nvPicPr>
          <p:cNvPr id="493" name="Google Shape;493;p28" title="logo.png"/>
          <p:cNvPicPr preferRelativeResize="0"/>
          <p:nvPr/>
        </p:nvPicPr>
        <p:blipFill>
          <a:blip r:embed="rId3">
            <a:alphaModFix/>
          </a:blip>
          <a:stretch>
            <a:fillRect/>
          </a:stretch>
        </p:blipFill>
        <p:spPr>
          <a:xfrm>
            <a:off x="7743638" y="59725"/>
            <a:ext cx="1304024" cy="1165525"/>
          </a:xfrm>
          <a:prstGeom prst="rect">
            <a:avLst/>
          </a:prstGeom>
          <a:noFill/>
          <a:ln>
            <a:noFill/>
          </a:ln>
        </p:spPr>
      </p:pic>
      <p:sp>
        <p:nvSpPr>
          <p:cNvPr id="494" name="Google Shape;494;p28"/>
          <p:cNvSpPr txBox="1"/>
          <p:nvPr>
            <p:ph type="title"/>
          </p:nvPr>
        </p:nvSpPr>
        <p:spPr>
          <a:xfrm>
            <a:off x="270025" y="3095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GB">
                <a:latin typeface="Cambria"/>
                <a:ea typeface="Cambria"/>
                <a:cs typeface="Cambria"/>
                <a:sym typeface="Cambria"/>
              </a:rPr>
              <a:t>One system, three wins.</a:t>
            </a:r>
            <a:endParaRPr b="1">
              <a:latin typeface="Cambria"/>
              <a:ea typeface="Cambria"/>
              <a:cs typeface="Cambria"/>
              <a:sym typeface="Cambria"/>
            </a:endParaRPr>
          </a:p>
        </p:txBody>
      </p:sp>
      <p:grpSp>
        <p:nvGrpSpPr>
          <p:cNvPr id="495" name="Google Shape;495;p28"/>
          <p:cNvGrpSpPr/>
          <p:nvPr/>
        </p:nvGrpSpPr>
        <p:grpSpPr>
          <a:xfrm>
            <a:off x="1358007" y="1396007"/>
            <a:ext cx="3603946" cy="3051284"/>
            <a:chOff x="3955097" y="1638861"/>
            <a:chExt cx="3172767" cy="2686226"/>
          </a:xfrm>
        </p:grpSpPr>
        <p:cxnSp>
          <p:nvCxnSpPr>
            <p:cNvPr id="496" name="Google Shape;496;p28"/>
            <p:cNvCxnSpPr/>
            <p:nvPr/>
          </p:nvCxnSpPr>
          <p:spPr>
            <a:xfrm>
              <a:off x="5541417" y="2237241"/>
              <a:ext cx="886200" cy="1258500"/>
            </a:xfrm>
            <a:prstGeom prst="straightConnector1">
              <a:avLst/>
            </a:prstGeom>
            <a:noFill/>
            <a:ln cap="flat" cmpd="sng" w="21250">
              <a:solidFill>
                <a:srgbClr val="5A4A3C"/>
              </a:solidFill>
              <a:prstDash val="solid"/>
              <a:round/>
              <a:headEnd len="sm" w="sm" type="none"/>
              <a:tailEnd len="med" w="med" type="triangle"/>
            </a:ln>
          </p:spPr>
        </p:cxnSp>
        <p:cxnSp>
          <p:nvCxnSpPr>
            <p:cNvPr id="497" name="Google Shape;497;p28"/>
            <p:cNvCxnSpPr/>
            <p:nvPr/>
          </p:nvCxnSpPr>
          <p:spPr>
            <a:xfrm rot="10800000">
              <a:off x="4655200" y="3495867"/>
              <a:ext cx="1772400" cy="0"/>
            </a:xfrm>
            <a:prstGeom prst="straightConnector1">
              <a:avLst/>
            </a:prstGeom>
            <a:noFill/>
            <a:ln cap="flat" cmpd="sng" w="21250">
              <a:solidFill>
                <a:srgbClr val="5A4A3C"/>
              </a:solidFill>
              <a:prstDash val="solid"/>
              <a:round/>
              <a:headEnd len="sm" w="sm" type="none"/>
              <a:tailEnd len="med" w="med" type="triangle"/>
            </a:ln>
          </p:spPr>
        </p:cxnSp>
        <p:cxnSp>
          <p:nvCxnSpPr>
            <p:cNvPr id="498" name="Google Shape;498;p28"/>
            <p:cNvCxnSpPr/>
            <p:nvPr/>
          </p:nvCxnSpPr>
          <p:spPr>
            <a:xfrm flipH="1" rot="10800000">
              <a:off x="4655233" y="2237367"/>
              <a:ext cx="886200" cy="1258500"/>
            </a:xfrm>
            <a:prstGeom prst="straightConnector1">
              <a:avLst/>
            </a:prstGeom>
            <a:noFill/>
            <a:ln cap="flat" cmpd="sng" w="21250">
              <a:solidFill>
                <a:srgbClr val="5A4A3C"/>
              </a:solidFill>
              <a:prstDash val="solid"/>
              <a:round/>
              <a:headEnd len="sm" w="sm" type="none"/>
              <a:tailEnd len="med" w="med" type="triangle"/>
            </a:ln>
          </p:spPr>
        </p:cxnSp>
        <p:sp>
          <p:nvSpPr>
            <p:cNvPr id="499" name="Google Shape;499;p28"/>
            <p:cNvSpPr/>
            <p:nvPr/>
          </p:nvSpPr>
          <p:spPr>
            <a:xfrm>
              <a:off x="5083610" y="1638861"/>
              <a:ext cx="915600" cy="915600"/>
            </a:xfrm>
            <a:prstGeom prst="ellipse">
              <a:avLst/>
            </a:prstGeom>
            <a:solidFill>
              <a:srgbClr val="B4552F"/>
            </a:solidFill>
            <a:ln cap="flat" cmpd="sng" w="16975">
              <a:solidFill>
                <a:srgbClr val="533F00"/>
              </a:solidFill>
              <a:prstDash val="solid"/>
              <a:round/>
              <a:headEnd len="sm" w="sm" type="none"/>
              <a:tailEnd len="sm" w="sm" type="none"/>
            </a:ln>
          </p:spPr>
          <p:txBody>
            <a:bodyPr anchorCtr="0" anchor="ctr" bIns="61175" lIns="61175" spcFirstLastPara="1" rIns="61175" wrap="square" tIns="61175">
              <a:noAutofit/>
            </a:bodyPr>
            <a:lstStyle/>
            <a:p>
              <a:pPr indent="0" lvl="0" marL="0" rtl="0" algn="l">
                <a:spcBef>
                  <a:spcPts val="0"/>
                </a:spcBef>
                <a:spcAft>
                  <a:spcPts val="0"/>
                </a:spcAft>
                <a:buNone/>
              </a:pPr>
              <a:r>
                <a:t/>
              </a:r>
              <a:endParaRPr/>
            </a:p>
          </p:txBody>
        </p:sp>
        <p:sp>
          <p:nvSpPr>
            <p:cNvPr id="500" name="Google Shape;500;p28"/>
            <p:cNvSpPr/>
            <p:nvPr/>
          </p:nvSpPr>
          <p:spPr>
            <a:xfrm>
              <a:off x="4841280" y="2721949"/>
              <a:ext cx="1400400" cy="188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4"/>
                <a:buFont typeface="Cambria"/>
                <a:buNone/>
              </a:pPr>
              <a:r>
                <a:rPr b="1" lang="en-GB" sz="1004">
                  <a:solidFill>
                    <a:srgbClr val="5A4632"/>
                  </a:solidFill>
                  <a:latin typeface="Cambria"/>
                  <a:ea typeface="Cambria"/>
                  <a:cs typeface="Cambria"/>
                  <a:sym typeface="Cambria"/>
                </a:rPr>
                <a:t>App</a:t>
              </a:r>
              <a:endParaRPr b="0" i="0" sz="1004" u="none" cap="none" strike="noStrike">
                <a:solidFill>
                  <a:srgbClr val="5A4632"/>
                </a:solidFill>
                <a:latin typeface="Calibri"/>
                <a:ea typeface="Calibri"/>
                <a:cs typeface="Calibri"/>
                <a:sym typeface="Calibri"/>
              </a:endParaRPr>
            </a:p>
          </p:txBody>
        </p:sp>
        <p:sp>
          <p:nvSpPr>
            <p:cNvPr id="501" name="Google Shape;501;p28"/>
            <p:cNvSpPr/>
            <p:nvPr/>
          </p:nvSpPr>
          <p:spPr>
            <a:xfrm>
              <a:off x="4841280" y="2905061"/>
              <a:ext cx="1400400" cy="16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C9B0"/>
                </a:buClr>
                <a:buSzPts val="736"/>
                <a:buFont typeface="Calibri"/>
                <a:buNone/>
              </a:pPr>
              <a:r>
                <a:rPr b="0" i="1" lang="en-GB" sz="736" u="none" cap="none" strike="noStrike">
                  <a:solidFill>
                    <a:srgbClr val="6B5D4F"/>
                  </a:solidFill>
                  <a:latin typeface="Calibri"/>
                  <a:ea typeface="Calibri"/>
                  <a:cs typeface="Calibri"/>
                  <a:sym typeface="Calibri"/>
                </a:rPr>
                <a:t>owned data</a:t>
              </a:r>
              <a:endParaRPr b="0" i="0" sz="736" u="none" cap="none" strike="noStrike">
                <a:solidFill>
                  <a:srgbClr val="6B5D4F"/>
                </a:solidFill>
                <a:latin typeface="Calibri"/>
                <a:ea typeface="Calibri"/>
                <a:cs typeface="Calibri"/>
                <a:sym typeface="Calibri"/>
              </a:endParaRPr>
            </a:p>
          </p:txBody>
        </p:sp>
        <p:sp>
          <p:nvSpPr>
            <p:cNvPr id="502" name="Google Shape;502;p28"/>
            <p:cNvSpPr/>
            <p:nvPr/>
          </p:nvSpPr>
          <p:spPr>
            <a:xfrm>
              <a:off x="5969818" y="3038087"/>
              <a:ext cx="915600" cy="915600"/>
            </a:xfrm>
            <a:prstGeom prst="ellipse">
              <a:avLst/>
            </a:prstGeom>
            <a:solidFill>
              <a:srgbClr val="C9A66B"/>
            </a:solidFill>
            <a:ln cap="flat" cmpd="sng" w="16975">
              <a:solidFill>
                <a:srgbClr val="533F00"/>
              </a:solidFill>
              <a:prstDash val="solid"/>
              <a:round/>
              <a:headEnd len="sm" w="sm" type="none"/>
              <a:tailEnd len="sm" w="sm" type="none"/>
            </a:ln>
          </p:spPr>
          <p:txBody>
            <a:bodyPr anchorCtr="0" anchor="ctr" bIns="61175" lIns="61175" spcFirstLastPara="1" rIns="61175" wrap="square" tIns="61175">
              <a:noAutofit/>
            </a:bodyPr>
            <a:lstStyle/>
            <a:p>
              <a:pPr indent="0" lvl="0" marL="0" rtl="0" algn="l">
                <a:spcBef>
                  <a:spcPts val="0"/>
                </a:spcBef>
                <a:spcAft>
                  <a:spcPts val="0"/>
                </a:spcAft>
                <a:buNone/>
              </a:pPr>
              <a:r>
                <a:t/>
              </a:r>
              <a:endParaRPr sz="1590"/>
            </a:p>
          </p:txBody>
        </p:sp>
        <p:sp>
          <p:nvSpPr>
            <p:cNvPr id="503" name="Google Shape;503;p28"/>
            <p:cNvSpPr/>
            <p:nvPr/>
          </p:nvSpPr>
          <p:spPr>
            <a:xfrm>
              <a:off x="5727463" y="3980575"/>
              <a:ext cx="1400400" cy="188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4"/>
                <a:buFont typeface="Cambria"/>
                <a:buNone/>
              </a:pPr>
              <a:r>
                <a:rPr b="1" i="0" lang="en-GB" sz="1004" u="none" cap="none" strike="noStrike">
                  <a:solidFill>
                    <a:srgbClr val="5A4632"/>
                  </a:solidFill>
                  <a:latin typeface="Cambria"/>
                  <a:ea typeface="Cambria"/>
                  <a:cs typeface="Cambria"/>
                  <a:sym typeface="Cambria"/>
                </a:rPr>
                <a:t>Kopi Express (Kiosk)</a:t>
              </a:r>
              <a:endParaRPr b="0" i="0" sz="1004" u="none" cap="none" strike="noStrike">
                <a:solidFill>
                  <a:srgbClr val="5A4632"/>
                </a:solidFill>
                <a:latin typeface="Calibri"/>
                <a:ea typeface="Calibri"/>
                <a:cs typeface="Calibri"/>
                <a:sym typeface="Calibri"/>
              </a:endParaRPr>
            </a:p>
          </p:txBody>
        </p:sp>
        <p:sp>
          <p:nvSpPr>
            <p:cNvPr id="504" name="Google Shape;504;p28"/>
            <p:cNvSpPr/>
            <p:nvPr/>
          </p:nvSpPr>
          <p:spPr>
            <a:xfrm>
              <a:off x="5727463" y="4163687"/>
              <a:ext cx="1400400" cy="16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C9B0"/>
                </a:buClr>
                <a:buSzPts val="736"/>
                <a:buFont typeface="Calibri"/>
                <a:buNone/>
              </a:pPr>
              <a:r>
                <a:rPr b="0" i="1" lang="en-GB" sz="736" u="none" cap="none" strike="noStrike">
                  <a:solidFill>
                    <a:srgbClr val="5A4632"/>
                  </a:solidFill>
                  <a:latin typeface="Calibri"/>
                  <a:ea typeface="Calibri"/>
                  <a:cs typeface="Calibri"/>
                  <a:sym typeface="Calibri"/>
                </a:rPr>
                <a:t>efficient formats</a:t>
              </a:r>
              <a:endParaRPr b="0" i="0" sz="736" u="none" cap="none" strike="noStrike">
                <a:solidFill>
                  <a:srgbClr val="5A4632"/>
                </a:solidFill>
                <a:latin typeface="Calibri"/>
                <a:ea typeface="Calibri"/>
                <a:cs typeface="Calibri"/>
                <a:sym typeface="Calibri"/>
              </a:endParaRPr>
            </a:p>
          </p:txBody>
        </p:sp>
        <p:sp>
          <p:nvSpPr>
            <p:cNvPr id="505" name="Google Shape;505;p28"/>
            <p:cNvSpPr/>
            <p:nvPr/>
          </p:nvSpPr>
          <p:spPr>
            <a:xfrm>
              <a:off x="4197452" y="3038087"/>
              <a:ext cx="915600" cy="915600"/>
            </a:xfrm>
            <a:prstGeom prst="ellipse">
              <a:avLst/>
            </a:prstGeom>
            <a:solidFill>
              <a:srgbClr val="3E7C74"/>
            </a:solidFill>
            <a:ln cap="flat" cmpd="sng" w="16975">
              <a:solidFill>
                <a:srgbClr val="533F00"/>
              </a:solidFill>
              <a:prstDash val="solid"/>
              <a:round/>
              <a:headEnd len="sm" w="sm" type="none"/>
              <a:tailEnd len="sm" w="sm" type="none"/>
            </a:ln>
          </p:spPr>
          <p:txBody>
            <a:bodyPr anchorCtr="0" anchor="ctr" bIns="61175" lIns="61175" spcFirstLastPara="1" rIns="61175" wrap="square" tIns="61175">
              <a:noAutofit/>
            </a:bodyPr>
            <a:lstStyle/>
            <a:p>
              <a:pPr indent="0" lvl="0" marL="0" rtl="0" algn="l">
                <a:spcBef>
                  <a:spcPts val="0"/>
                </a:spcBef>
                <a:spcAft>
                  <a:spcPts val="0"/>
                </a:spcAft>
                <a:buNone/>
              </a:pPr>
              <a:r>
                <a:t/>
              </a:r>
              <a:endParaRPr/>
            </a:p>
          </p:txBody>
        </p:sp>
        <p:sp>
          <p:nvSpPr>
            <p:cNvPr id="506" name="Google Shape;506;p28"/>
            <p:cNvSpPr/>
            <p:nvPr/>
          </p:nvSpPr>
          <p:spPr>
            <a:xfrm>
              <a:off x="3955097" y="3980575"/>
              <a:ext cx="1400400" cy="188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4"/>
                <a:buFont typeface="Cambria"/>
                <a:buNone/>
              </a:pPr>
              <a:r>
                <a:rPr b="1" lang="en-GB" sz="1004">
                  <a:solidFill>
                    <a:srgbClr val="5A4632"/>
                  </a:solidFill>
                  <a:latin typeface="Cambria"/>
                  <a:ea typeface="Cambria"/>
                  <a:cs typeface="Cambria"/>
                  <a:sym typeface="Cambria"/>
                </a:rPr>
                <a:t>Loyalty Programme</a:t>
              </a:r>
              <a:endParaRPr b="0" i="0" sz="1004" u="none" cap="none" strike="noStrike">
                <a:solidFill>
                  <a:srgbClr val="5A4632"/>
                </a:solidFill>
                <a:latin typeface="Calibri"/>
                <a:ea typeface="Calibri"/>
                <a:cs typeface="Calibri"/>
                <a:sym typeface="Calibri"/>
              </a:endParaRPr>
            </a:p>
          </p:txBody>
        </p:sp>
        <p:sp>
          <p:nvSpPr>
            <p:cNvPr id="507" name="Google Shape;507;p28"/>
            <p:cNvSpPr/>
            <p:nvPr/>
          </p:nvSpPr>
          <p:spPr>
            <a:xfrm>
              <a:off x="3955097" y="4163687"/>
              <a:ext cx="1400400" cy="161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8C9B0"/>
                </a:buClr>
                <a:buSzPts val="736"/>
                <a:buFont typeface="Calibri"/>
                <a:buNone/>
              </a:pPr>
              <a:r>
                <a:rPr i="1" lang="en-GB" sz="736">
                  <a:solidFill>
                    <a:srgbClr val="5A4632"/>
                  </a:solidFill>
                  <a:latin typeface="Calibri"/>
                  <a:ea typeface="Calibri"/>
                  <a:cs typeface="Calibri"/>
                  <a:sym typeface="Calibri"/>
                </a:rPr>
                <a:t>Brand stickiness</a:t>
              </a:r>
              <a:endParaRPr b="0" i="0" sz="736" u="none" cap="none" strike="noStrike">
                <a:solidFill>
                  <a:srgbClr val="5A4632"/>
                </a:solidFill>
                <a:latin typeface="Calibri"/>
                <a:ea typeface="Calibri"/>
                <a:cs typeface="Calibri"/>
                <a:sym typeface="Calibri"/>
              </a:endParaRPr>
            </a:p>
          </p:txBody>
        </p:sp>
        <p:pic>
          <p:nvPicPr>
            <p:cNvPr id="508" name="Google Shape;508;p28" title="icons8-mobile-phone-50.png"/>
            <p:cNvPicPr preferRelativeResize="0"/>
            <p:nvPr/>
          </p:nvPicPr>
          <p:blipFill>
            <a:blip r:embed="rId4">
              <a:alphaModFix/>
            </a:blip>
            <a:stretch>
              <a:fillRect/>
            </a:stretch>
          </p:blipFill>
          <p:spPr>
            <a:xfrm>
              <a:off x="5303338" y="1858812"/>
              <a:ext cx="476250" cy="476250"/>
            </a:xfrm>
            <a:prstGeom prst="rect">
              <a:avLst/>
            </a:prstGeom>
            <a:noFill/>
            <a:ln>
              <a:noFill/>
            </a:ln>
          </p:spPr>
        </p:pic>
        <p:pic>
          <p:nvPicPr>
            <p:cNvPr id="509" name="Google Shape;509;p28" title="icons8-heart-50.png"/>
            <p:cNvPicPr preferRelativeResize="0"/>
            <p:nvPr/>
          </p:nvPicPr>
          <p:blipFill>
            <a:blip r:embed="rId5">
              <a:alphaModFix/>
            </a:blip>
            <a:stretch>
              <a:fillRect/>
            </a:stretch>
          </p:blipFill>
          <p:spPr>
            <a:xfrm>
              <a:off x="4417163" y="3257737"/>
              <a:ext cx="476250" cy="476250"/>
            </a:xfrm>
            <a:prstGeom prst="rect">
              <a:avLst/>
            </a:prstGeom>
            <a:noFill/>
            <a:ln>
              <a:noFill/>
            </a:ln>
          </p:spPr>
        </p:pic>
        <p:pic>
          <p:nvPicPr>
            <p:cNvPr id="510" name="Google Shape;510;p28" title="icons8-shop-50.png"/>
            <p:cNvPicPr preferRelativeResize="0"/>
            <p:nvPr/>
          </p:nvPicPr>
          <p:blipFill>
            <a:blip r:embed="rId6">
              <a:alphaModFix/>
            </a:blip>
            <a:stretch>
              <a:fillRect/>
            </a:stretch>
          </p:blipFill>
          <p:spPr>
            <a:xfrm>
              <a:off x="6189538" y="3285400"/>
              <a:ext cx="476250" cy="476250"/>
            </a:xfrm>
            <a:prstGeom prst="rect">
              <a:avLst/>
            </a:prstGeom>
            <a:noFill/>
            <a:ln>
              <a:noFill/>
            </a:ln>
          </p:spPr>
        </p:pic>
      </p:grpSp>
      <p:sp>
        <p:nvSpPr>
          <p:cNvPr id="511" name="Google Shape;511;p28"/>
          <p:cNvSpPr/>
          <p:nvPr/>
        </p:nvSpPr>
        <p:spPr>
          <a:xfrm>
            <a:off x="358852" y="859550"/>
            <a:ext cx="63093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C9B0"/>
              </a:buClr>
              <a:buSzPts val="1500"/>
              <a:buFont typeface="Calibri"/>
              <a:buNone/>
            </a:pPr>
            <a:r>
              <a:rPr b="1" i="1" lang="en-GB" sz="1500">
                <a:solidFill>
                  <a:srgbClr val="C9A66B"/>
                </a:solidFill>
                <a:latin typeface="Calibri"/>
                <a:ea typeface="Calibri"/>
                <a:cs typeface="Calibri"/>
                <a:sym typeface="Calibri"/>
              </a:rPr>
              <a:t>App</a:t>
            </a:r>
            <a:r>
              <a:rPr b="1" i="1" lang="en-GB" sz="1500" u="none" cap="none" strike="noStrike">
                <a:solidFill>
                  <a:srgbClr val="C9A66B"/>
                </a:solidFill>
                <a:latin typeface="Calibri"/>
                <a:ea typeface="Calibri"/>
                <a:cs typeface="Calibri"/>
                <a:sym typeface="Calibri"/>
              </a:rPr>
              <a:t> generates the data that powers Kopi Express</a:t>
            </a:r>
            <a:r>
              <a:rPr b="1" i="1" lang="en-GB" sz="1500">
                <a:solidFill>
                  <a:srgbClr val="C9A66B"/>
                </a:solidFill>
                <a:latin typeface="Calibri"/>
                <a:ea typeface="Calibri"/>
                <a:cs typeface="Calibri"/>
                <a:sym typeface="Calibri"/>
              </a:rPr>
              <a:t> and the loyalty program</a:t>
            </a:r>
            <a:endParaRPr b="1" i="1" sz="1500" u="none" cap="none" strike="noStrike">
              <a:solidFill>
                <a:srgbClr val="C9A66B"/>
              </a:solidFill>
              <a:latin typeface="Calibri"/>
              <a:ea typeface="Calibri"/>
              <a:cs typeface="Calibri"/>
              <a:sym typeface="Calibri"/>
            </a:endParaRPr>
          </a:p>
        </p:txBody>
      </p:sp>
      <p:grpSp>
        <p:nvGrpSpPr>
          <p:cNvPr id="512" name="Google Shape;512;p28"/>
          <p:cNvGrpSpPr/>
          <p:nvPr/>
        </p:nvGrpSpPr>
        <p:grpSpPr>
          <a:xfrm>
            <a:off x="5741305" y="1580056"/>
            <a:ext cx="2534720" cy="2683178"/>
            <a:chOff x="588000" y="1638857"/>
            <a:chExt cx="2177782" cy="2305334"/>
          </a:xfrm>
        </p:grpSpPr>
        <p:sp>
          <p:nvSpPr>
            <p:cNvPr id="513" name="Google Shape;513;p28"/>
            <p:cNvSpPr/>
            <p:nvPr/>
          </p:nvSpPr>
          <p:spPr>
            <a:xfrm>
              <a:off x="588000" y="2566675"/>
              <a:ext cx="2177700" cy="514200"/>
            </a:xfrm>
            <a:prstGeom prst="roundRect">
              <a:avLst>
                <a:gd fmla="val 9412" name="adj"/>
              </a:avLst>
            </a:prstGeom>
            <a:solidFill>
              <a:srgbClr val="5A4632"/>
            </a:solidFill>
            <a:ln>
              <a:noFill/>
            </a:ln>
          </p:spPr>
          <p:txBody>
            <a:bodyPr anchorCtr="0" anchor="ctr" bIns="70375" lIns="70375" spcFirstLastPara="1" rIns="70375" wrap="square" tIns="70375">
              <a:noAutofit/>
            </a:bodyPr>
            <a:lstStyle/>
            <a:p>
              <a:pPr indent="0" lvl="0" marL="0" rtl="0" algn="l">
                <a:spcBef>
                  <a:spcPts val="0"/>
                </a:spcBef>
                <a:spcAft>
                  <a:spcPts val="0"/>
                </a:spcAft>
                <a:buNone/>
              </a:pPr>
              <a:r>
                <a:t/>
              </a:r>
              <a:endParaRPr/>
            </a:p>
          </p:txBody>
        </p:sp>
        <p:sp>
          <p:nvSpPr>
            <p:cNvPr id="514" name="Google Shape;514;p28"/>
            <p:cNvSpPr/>
            <p:nvPr/>
          </p:nvSpPr>
          <p:spPr>
            <a:xfrm>
              <a:off x="739227" y="2566675"/>
              <a:ext cx="1875300" cy="51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66B"/>
                </a:buClr>
                <a:buSzPts val="1540"/>
                <a:buFont typeface="Calibri"/>
                <a:buNone/>
              </a:pPr>
              <a:r>
                <a:rPr b="1" i="0" lang="en-GB" sz="1540" u="none" cap="none" strike="noStrike">
                  <a:solidFill>
                    <a:srgbClr val="C9A66B"/>
                  </a:solidFill>
                  <a:latin typeface="Calibri"/>
                  <a:ea typeface="Calibri"/>
                  <a:cs typeface="Calibri"/>
                  <a:sym typeface="Calibri"/>
                </a:rPr>
                <a:t>+15%</a:t>
              </a:r>
              <a:r>
                <a:rPr b="1" lang="en-GB" sz="1540">
                  <a:solidFill>
                    <a:srgbClr val="C9A66B"/>
                  </a:solidFill>
                  <a:latin typeface="Calibri"/>
                  <a:ea typeface="Calibri"/>
                  <a:cs typeface="Calibri"/>
                  <a:sym typeface="Calibri"/>
                </a:rPr>
                <a:t>*</a:t>
              </a:r>
              <a:r>
                <a:rPr b="1" i="0" lang="en-GB" sz="1540" u="none" cap="none" strike="noStrike">
                  <a:solidFill>
                    <a:srgbClr val="C9A66B"/>
                  </a:solidFill>
                  <a:latin typeface="Calibri"/>
                  <a:ea typeface="Calibri"/>
                  <a:cs typeface="Calibri"/>
                  <a:sym typeface="Calibri"/>
                </a:rPr>
                <a:t> </a:t>
              </a:r>
              <a:r>
                <a:rPr b="0" i="0" lang="en-GB" sz="808" u="none" cap="none" strike="noStrike">
                  <a:solidFill>
                    <a:srgbClr val="D8C9B0"/>
                  </a:solidFill>
                  <a:latin typeface="Calibri"/>
                  <a:ea typeface="Calibri"/>
                  <a:cs typeface="Calibri"/>
                  <a:sym typeface="Calibri"/>
                </a:rPr>
                <a:t>Revenue uplift</a:t>
              </a:r>
              <a:endParaRPr b="0" i="0" sz="1540" u="none" cap="none" strike="noStrike">
                <a:solidFill>
                  <a:srgbClr val="000000"/>
                </a:solidFill>
                <a:latin typeface="Calibri"/>
                <a:ea typeface="Calibri"/>
                <a:cs typeface="Calibri"/>
                <a:sym typeface="Calibri"/>
              </a:endParaRPr>
            </a:p>
            <a:p>
              <a:pPr indent="0" lvl="0" marL="0" marR="0" rtl="0" algn="l">
                <a:spcBef>
                  <a:spcPts val="0"/>
                </a:spcBef>
                <a:spcAft>
                  <a:spcPts val="0"/>
                </a:spcAft>
                <a:buClr>
                  <a:srgbClr val="D8C9B0"/>
                </a:buClr>
                <a:buSzPts val="808"/>
                <a:buFont typeface="Calibri"/>
                <a:buNone/>
              </a:pPr>
              <a:r>
                <a:rPr b="0" i="0" lang="en-GB" sz="808" u="none" cap="none" strike="noStrike">
                  <a:solidFill>
                    <a:srgbClr val="D8C9B0"/>
                  </a:solidFill>
                  <a:latin typeface="Calibri"/>
                  <a:ea typeface="Calibri"/>
                  <a:cs typeface="Calibri"/>
                  <a:sym typeface="Calibri"/>
                </a:rPr>
                <a:t>(personalisation)</a:t>
              </a:r>
              <a:endParaRPr b="0" i="0" sz="1540" u="none" cap="none" strike="noStrike">
                <a:solidFill>
                  <a:srgbClr val="000000"/>
                </a:solidFill>
                <a:latin typeface="Calibri"/>
                <a:ea typeface="Calibri"/>
                <a:cs typeface="Calibri"/>
                <a:sym typeface="Calibri"/>
              </a:endParaRPr>
            </a:p>
          </p:txBody>
        </p:sp>
        <p:sp>
          <p:nvSpPr>
            <p:cNvPr id="515" name="Google Shape;515;p28"/>
            <p:cNvSpPr/>
            <p:nvPr/>
          </p:nvSpPr>
          <p:spPr>
            <a:xfrm>
              <a:off x="588082" y="1638857"/>
              <a:ext cx="2177700" cy="514200"/>
            </a:xfrm>
            <a:prstGeom prst="roundRect">
              <a:avLst>
                <a:gd fmla="val 9412" name="adj"/>
              </a:avLst>
            </a:prstGeom>
            <a:solidFill>
              <a:srgbClr val="5A4632"/>
            </a:solidFill>
            <a:ln>
              <a:noFill/>
            </a:ln>
          </p:spPr>
          <p:txBody>
            <a:bodyPr anchorCtr="0" anchor="ctr" bIns="70375" lIns="70375" spcFirstLastPara="1" rIns="70375" wrap="square" tIns="70375">
              <a:noAutofit/>
            </a:bodyPr>
            <a:lstStyle/>
            <a:p>
              <a:pPr indent="0" lvl="0" marL="0" rtl="0" algn="l">
                <a:spcBef>
                  <a:spcPts val="0"/>
                </a:spcBef>
                <a:spcAft>
                  <a:spcPts val="0"/>
                </a:spcAft>
                <a:buNone/>
              </a:pPr>
              <a:r>
                <a:t/>
              </a:r>
              <a:endParaRPr/>
            </a:p>
          </p:txBody>
        </p:sp>
        <p:sp>
          <p:nvSpPr>
            <p:cNvPr id="516" name="Google Shape;516;p28"/>
            <p:cNvSpPr/>
            <p:nvPr/>
          </p:nvSpPr>
          <p:spPr>
            <a:xfrm>
              <a:off x="670294" y="1638857"/>
              <a:ext cx="1875300" cy="51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66B"/>
                </a:buClr>
                <a:buSzPts val="1540"/>
                <a:buFont typeface="Calibri"/>
                <a:buNone/>
              </a:pPr>
              <a:r>
                <a:rPr b="1" lang="en-GB" sz="1540">
                  <a:solidFill>
                    <a:srgbClr val="C9A66B"/>
                  </a:solidFill>
                  <a:latin typeface="Calibri"/>
                  <a:ea typeface="Calibri"/>
                  <a:cs typeface="Calibri"/>
                  <a:sym typeface="Calibri"/>
                </a:rPr>
                <a:t>-</a:t>
              </a:r>
              <a:r>
                <a:rPr b="1" i="0" lang="en-GB" sz="1540" u="none" cap="none" strike="noStrike">
                  <a:solidFill>
                    <a:srgbClr val="C9A66B"/>
                  </a:solidFill>
                  <a:latin typeface="Calibri"/>
                  <a:ea typeface="Calibri"/>
                  <a:cs typeface="Calibri"/>
                  <a:sym typeface="Calibri"/>
                </a:rPr>
                <a:t>30</a:t>
              </a:r>
              <a:r>
                <a:rPr b="1" lang="en-GB" sz="1540">
                  <a:solidFill>
                    <a:srgbClr val="C9A66B"/>
                  </a:solidFill>
                  <a:latin typeface="Calibri"/>
                  <a:ea typeface="Calibri"/>
                  <a:cs typeface="Calibri"/>
                  <a:sym typeface="Calibri"/>
                </a:rPr>
                <a:t> to </a:t>
              </a:r>
              <a:r>
                <a:rPr b="1" i="0" lang="en-GB" sz="1540" u="none" cap="none" strike="noStrike">
                  <a:solidFill>
                    <a:srgbClr val="C9A66B"/>
                  </a:solidFill>
                  <a:latin typeface="Calibri"/>
                  <a:ea typeface="Calibri"/>
                  <a:cs typeface="Calibri"/>
                  <a:sym typeface="Calibri"/>
                </a:rPr>
                <a:t>40%</a:t>
              </a:r>
              <a:r>
                <a:rPr b="1" lang="en-GB" sz="1540">
                  <a:solidFill>
                    <a:srgbClr val="C9A66B"/>
                  </a:solidFill>
                  <a:latin typeface="Calibri"/>
                  <a:ea typeface="Calibri"/>
                  <a:cs typeface="Calibri"/>
                  <a:sym typeface="Calibri"/>
                </a:rPr>
                <a:t>*</a:t>
              </a:r>
              <a:r>
                <a:rPr b="1" i="0" lang="en-GB" sz="1540" u="none" cap="none" strike="noStrike">
                  <a:solidFill>
                    <a:srgbClr val="C9A66B"/>
                  </a:solidFill>
                  <a:latin typeface="Calibri"/>
                  <a:ea typeface="Calibri"/>
                  <a:cs typeface="Calibri"/>
                  <a:sym typeface="Calibri"/>
                </a:rPr>
                <a:t> </a:t>
              </a:r>
              <a:r>
                <a:rPr lang="en-GB" sz="808">
                  <a:solidFill>
                    <a:srgbClr val="D8C9B0"/>
                  </a:solidFill>
                  <a:latin typeface="Calibri"/>
                  <a:ea typeface="Calibri"/>
                  <a:cs typeface="Calibri"/>
                  <a:sym typeface="Calibri"/>
                </a:rPr>
                <a:t>In food </a:t>
              </a:r>
              <a:r>
                <a:rPr b="0" i="0" lang="en-GB" sz="808" u="none" cap="none" strike="noStrike">
                  <a:solidFill>
                    <a:srgbClr val="D8C9B0"/>
                  </a:solidFill>
                  <a:latin typeface="Calibri"/>
                  <a:ea typeface="Calibri"/>
                  <a:cs typeface="Calibri"/>
                  <a:sym typeface="Calibri"/>
                </a:rPr>
                <a:t>wast</a:t>
              </a:r>
              <a:r>
                <a:rPr lang="en-GB" sz="808">
                  <a:solidFill>
                    <a:srgbClr val="D8C9B0"/>
                  </a:solidFill>
                  <a:latin typeface="Calibri"/>
                  <a:ea typeface="Calibri"/>
                  <a:cs typeface="Calibri"/>
                  <a:sym typeface="Calibri"/>
                </a:rPr>
                <a:t>age</a:t>
              </a:r>
              <a:endParaRPr b="0" i="0" sz="1540" u="none" cap="none" strike="noStrike">
                <a:solidFill>
                  <a:srgbClr val="000000"/>
                </a:solidFill>
                <a:latin typeface="Calibri"/>
                <a:ea typeface="Calibri"/>
                <a:cs typeface="Calibri"/>
                <a:sym typeface="Calibri"/>
              </a:endParaRPr>
            </a:p>
            <a:p>
              <a:pPr indent="0" lvl="0" marL="0" marR="0" rtl="0" algn="l">
                <a:spcBef>
                  <a:spcPts val="0"/>
                </a:spcBef>
                <a:spcAft>
                  <a:spcPts val="0"/>
                </a:spcAft>
                <a:buClr>
                  <a:srgbClr val="D8C9B0"/>
                </a:buClr>
                <a:buSzPts val="808"/>
                <a:buFont typeface="Calibri"/>
                <a:buNone/>
              </a:pPr>
              <a:r>
                <a:rPr b="0" i="0" lang="en-GB" sz="808" u="none" cap="none" strike="noStrike">
                  <a:solidFill>
                    <a:srgbClr val="D8C9B0"/>
                  </a:solidFill>
                  <a:latin typeface="Calibri"/>
                  <a:ea typeface="Calibri"/>
                  <a:cs typeface="Calibri"/>
                  <a:sym typeface="Calibri"/>
                </a:rPr>
                <a:t>(demand forecasting)</a:t>
              </a:r>
              <a:endParaRPr b="0" i="0" sz="1540" u="none" cap="none" strike="noStrike">
                <a:solidFill>
                  <a:srgbClr val="000000"/>
                </a:solidFill>
                <a:latin typeface="Calibri"/>
                <a:ea typeface="Calibri"/>
                <a:cs typeface="Calibri"/>
                <a:sym typeface="Calibri"/>
              </a:endParaRPr>
            </a:p>
          </p:txBody>
        </p:sp>
        <p:sp>
          <p:nvSpPr>
            <p:cNvPr id="517" name="Google Shape;517;p28"/>
            <p:cNvSpPr/>
            <p:nvPr/>
          </p:nvSpPr>
          <p:spPr>
            <a:xfrm>
              <a:off x="588037" y="3429991"/>
              <a:ext cx="2177700" cy="514200"/>
            </a:xfrm>
            <a:prstGeom prst="roundRect">
              <a:avLst>
                <a:gd fmla="val 9412" name="adj"/>
              </a:avLst>
            </a:prstGeom>
            <a:solidFill>
              <a:srgbClr val="5A4632"/>
            </a:solidFill>
            <a:ln>
              <a:noFill/>
            </a:ln>
          </p:spPr>
          <p:txBody>
            <a:bodyPr anchorCtr="0" anchor="ctr" bIns="70375" lIns="70375" spcFirstLastPara="1" rIns="70375" wrap="square" tIns="70375">
              <a:noAutofit/>
            </a:bodyPr>
            <a:lstStyle/>
            <a:p>
              <a:pPr indent="0" lvl="0" marL="0" rtl="0" algn="l">
                <a:spcBef>
                  <a:spcPts val="0"/>
                </a:spcBef>
                <a:spcAft>
                  <a:spcPts val="0"/>
                </a:spcAft>
                <a:buNone/>
              </a:pPr>
              <a:r>
                <a:t/>
              </a:r>
              <a:endParaRPr/>
            </a:p>
          </p:txBody>
        </p:sp>
        <p:sp>
          <p:nvSpPr>
            <p:cNvPr id="518" name="Google Shape;518;p28"/>
            <p:cNvSpPr/>
            <p:nvPr/>
          </p:nvSpPr>
          <p:spPr>
            <a:xfrm>
              <a:off x="739263" y="3429991"/>
              <a:ext cx="1875300" cy="51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66B"/>
                </a:buClr>
                <a:buSzPts val="1540"/>
                <a:buFont typeface="Calibri"/>
                <a:buNone/>
              </a:pPr>
              <a:r>
                <a:rPr b="1" i="0" lang="en-GB" sz="1540" u="none" cap="none" strike="noStrike">
                  <a:solidFill>
                    <a:srgbClr val="C9A66B"/>
                  </a:solidFill>
                  <a:latin typeface="Calibri"/>
                  <a:ea typeface="Calibri"/>
                  <a:cs typeface="Calibri"/>
                  <a:sym typeface="Calibri"/>
                </a:rPr>
                <a:t>+30-50%* </a:t>
              </a:r>
              <a:r>
                <a:rPr b="0" i="0" lang="en-GB" sz="808" u="none" cap="none" strike="noStrike">
                  <a:solidFill>
                    <a:srgbClr val="D8C9B0"/>
                  </a:solidFill>
                  <a:latin typeface="Calibri"/>
                  <a:ea typeface="Calibri"/>
                  <a:cs typeface="Calibri"/>
                  <a:sym typeface="Calibri"/>
                </a:rPr>
                <a:t>Visit frequency</a:t>
              </a:r>
              <a:endParaRPr b="0" i="0" sz="1540" u="none" cap="none" strike="noStrike">
                <a:solidFill>
                  <a:srgbClr val="000000"/>
                </a:solidFill>
                <a:latin typeface="Calibri"/>
                <a:ea typeface="Calibri"/>
                <a:cs typeface="Calibri"/>
                <a:sym typeface="Calibri"/>
              </a:endParaRPr>
            </a:p>
            <a:p>
              <a:pPr indent="0" lvl="0" marL="0" marR="0" rtl="0" algn="l">
                <a:spcBef>
                  <a:spcPts val="0"/>
                </a:spcBef>
                <a:spcAft>
                  <a:spcPts val="0"/>
                </a:spcAft>
                <a:buClr>
                  <a:srgbClr val="D8C9B0"/>
                </a:buClr>
                <a:buSzPts val="808"/>
                <a:buFont typeface="Calibri"/>
                <a:buNone/>
              </a:pPr>
              <a:r>
                <a:rPr b="0" i="0" lang="en-GB" sz="808" u="none" cap="none" strike="noStrike">
                  <a:solidFill>
                    <a:srgbClr val="D8C9B0"/>
                  </a:solidFill>
                  <a:latin typeface="Calibri"/>
                  <a:ea typeface="Calibri"/>
                  <a:cs typeface="Calibri"/>
                  <a:sym typeface="Calibri"/>
                </a:rPr>
                <a:t>(loyalty members)</a:t>
              </a:r>
              <a:endParaRPr b="0" i="0" sz="1540" u="none" cap="none" strike="noStrike">
                <a:solidFill>
                  <a:srgbClr val="000000"/>
                </a:solidFill>
                <a:latin typeface="Calibri"/>
                <a:ea typeface="Calibri"/>
                <a:cs typeface="Calibri"/>
                <a:sym typeface="Calibri"/>
              </a:endParaRPr>
            </a:p>
          </p:txBody>
        </p:sp>
      </p:grpSp>
      <p:sp>
        <p:nvSpPr>
          <p:cNvPr id="519" name="Google Shape;519;p28"/>
          <p:cNvSpPr/>
          <p:nvPr/>
        </p:nvSpPr>
        <p:spPr>
          <a:xfrm>
            <a:off x="5741300" y="4507025"/>
            <a:ext cx="34431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8C9B0"/>
              </a:buClr>
              <a:buSzPts val="1500"/>
              <a:buFont typeface="Calibri"/>
              <a:buNone/>
            </a:pPr>
            <a:r>
              <a:rPr b="1" i="1" lang="en-GB" sz="800">
                <a:solidFill>
                  <a:srgbClr val="C9A66B"/>
                </a:solidFill>
                <a:latin typeface="Calibri"/>
                <a:ea typeface="Calibri"/>
                <a:cs typeface="Calibri"/>
                <a:sym typeface="Calibri"/>
              </a:rPr>
              <a:t>*Values are based on real world estimates of similar initiatives</a:t>
            </a:r>
            <a:endParaRPr b="1" i="1" sz="800">
              <a:solidFill>
                <a:srgbClr val="C9A66B"/>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29"/>
          <p:cNvSpPr txBox="1"/>
          <p:nvPr>
            <p:ph type="title"/>
          </p:nvPr>
        </p:nvSpPr>
        <p:spPr>
          <a:xfrm>
            <a:off x="2894850" y="1976850"/>
            <a:ext cx="3354300" cy="1189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GB" sz="3600"/>
              <a:t>Thank you!</a:t>
            </a:r>
            <a:endParaRPr sz="36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30"/>
          <p:cNvSpPr txBox="1"/>
          <p:nvPr>
            <p:ph type="title"/>
          </p:nvPr>
        </p:nvSpPr>
        <p:spPr>
          <a:xfrm>
            <a:off x="311700" y="2008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GB">
                <a:latin typeface="Cambria"/>
                <a:ea typeface="Cambria"/>
                <a:cs typeface="Cambria"/>
                <a:sym typeface="Cambria"/>
              </a:rPr>
              <a:t>References</a:t>
            </a:r>
            <a:endParaRPr b="1">
              <a:latin typeface="Cambria"/>
              <a:ea typeface="Cambria"/>
              <a:cs typeface="Cambria"/>
              <a:sym typeface="Cambria"/>
            </a:endParaRPr>
          </a:p>
        </p:txBody>
      </p:sp>
      <p:sp>
        <p:nvSpPr>
          <p:cNvPr id="530" name="Google Shape;530;p30"/>
          <p:cNvSpPr txBox="1"/>
          <p:nvPr>
            <p:ph idx="1" type="body"/>
          </p:nvPr>
        </p:nvSpPr>
        <p:spPr>
          <a:xfrm>
            <a:off x="311700" y="843675"/>
            <a:ext cx="8520600" cy="4107300"/>
          </a:xfrm>
          <a:prstGeom prst="rect">
            <a:avLst/>
          </a:prstGeom>
        </p:spPr>
        <p:txBody>
          <a:bodyPr anchorCtr="0" anchor="t" bIns="91425" lIns="91425" spcFirstLastPara="1" rIns="91425" wrap="square" tIns="91425">
            <a:normAutofit fontScale="92500" lnSpcReduction="20000"/>
          </a:bodyPr>
          <a:lstStyle/>
          <a:p>
            <a:pPr indent="0" lvl="0" marL="0" rtl="0" algn="l">
              <a:lnSpc>
                <a:spcPct val="75000"/>
              </a:lnSpc>
              <a:spcBef>
                <a:spcPts val="0"/>
              </a:spcBef>
              <a:spcAft>
                <a:spcPts val="0"/>
              </a:spcAft>
              <a:buSzPct val="105440"/>
              <a:buNone/>
            </a:pPr>
            <a:r>
              <a:rPr lang="en-GB" sz="965">
                <a:latin typeface="Calibri"/>
                <a:ea typeface="Calibri"/>
                <a:cs typeface="Calibri"/>
                <a:sym typeface="Calibri"/>
              </a:rPr>
              <a:t>The Edge Singapore. (2019). Don't know what to eat? Let TabSquare personalise your menu. Yahoo Finance. </a:t>
            </a:r>
            <a:r>
              <a:rPr lang="en-GB" sz="965" u="sng">
                <a:solidFill>
                  <a:schemeClr val="hlink"/>
                </a:solidFill>
                <a:latin typeface="Calibri"/>
                <a:ea typeface="Calibri"/>
                <a:cs typeface="Calibri"/>
                <a:sym typeface="Calibri"/>
                <a:hlinkClick r:id="rId3"/>
              </a:rPr>
              <a:t>https://sg.finance.yahoo.com/news/don-t-know-eat-let-091115470.htm</a:t>
            </a:r>
            <a:r>
              <a:rPr lang="en-GB" sz="965" u="sng">
                <a:solidFill>
                  <a:schemeClr val="hlink"/>
                </a:solidFill>
                <a:latin typeface="Calibri"/>
                <a:ea typeface="Calibri"/>
                <a:cs typeface="Calibri"/>
                <a:sym typeface="Calibri"/>
                <a:hlinkClick r:id="rId4"/>
              </a:rPr>
              <a:t>l</a:t>
            </a:r>
            <a:endParaRPr sz="965">
              <a:latin typeface="Calibri"/>
              <a:ea typeface="Calibri"/>
              <a:cs typeface="Calibri"/>
              <a:sym typeface="Calibri"/>
            </a:endParaRPr>
          </a:p>
          <a:p>
            <a:pPr indent="0" lvl="0" marL="0" rtl="0" algn="l">
              <a:lnSpc>
                <a:spcPct val="75000"/>
              </a:lnSpc>
              <a:spcBef>
                <a:spcPts val="0"/>
              </a:spcBef>
              <a:spcAft>
                <a:spcPts val="0"/>
              </a:spcAft>
              <a:buSzPct val="105440"/>
              <a:buNone/>
            </a:pPr>
            <a:r>
              <a:t/>
            </a:r>
            <a:endParaRPr sz="965">
              <a:latin typeface="Calibri"/>
              <a:ea typeface="Calibri"/>
              <a:cs typeface="Calibri"/>
              <a:sym typeface="Calibri"/>
            </a:endParaRPr>
          </a:p>
          <a:p>
            <a:pPr indent="0" lvl="0" marL="0" rtl="0" algn="l">
              <a:lnSpc>
                <a:spcPct val="75000"/>
              </a:lnSpc>
              <a:spcBef>
                <a:spcPts val="0"/>
              </a:spcBef>
              <a:spcAft>
                <a:spcPts val="0"/>
              </a:spcAft>
              <a:buSzPct val="105440"/>
              <a:buNone/>
            </a:pPr>
            <a:r>
              <a:rPr lang="en-GB" sz="965">
                <a:latin typeface="Calibri"/>
                <a:ea typeface="Calibri"/>
                <a:cs typeface="Calibri"/>
                <a:sym typeface="Calibri"/>
              </a:rPr>
              <a:t>Lazada Malaysia. (2025). OLDTOWN White Coffee Malaysia official online store. </a:t>
            </a:r>
            <a:r>
              <a:rPr lang="en-GB" sz="965" u="sng">
                <a:solidFill>
                  <a:schemeClr val="hlink"/>
                </a:solidFill>
                <a:latin typeface="Calibri"/>
                <a:ea typeface="Calibri"/>
                <a:cs typeface="Calibri"/>
                <a:sym typeface="Calibri"/>
                <a:hlinkClick r:id="rId5"/>
              </a:rPr>
              <a:t>https://www.lazada.com.my/shop/oldtown-white-coffee</a:t>
            </a:r>
            <a:r>
              <a:rPr lang="en-GB" sz="965" u="sng">
                <a:solidFill>
                  <a:schemeClr val="hlink"/>
                </a:solidFill>
                <a:latin typeface="Calibri"/>
                <a:ea typeface="Calibri"/>
                <a:cs typeface="Calibri"/>
                <a:sym typeface="Calibri"/>
                <a:hlinkClick r:id="rId6"/>
              </a:rPr>
              <a:t>/</a:t>
            </a:r>
            <a:endParaRPr sz="965">
              <a:latin typeface="Calibri"/>
              <a:ea typeface="Calibri"/>
              <a:cs typeface="Calibri"/>
              <a:sym typeface="Calibri"/>
            </a:endParaRPr>
          </a:p>
          <a:p>
            <a:pPr indent="0" lvl="0" marL="0" rtl="0" algn="l">
              <a:lnSpc>
                <a:spcPct val="75000"/>
              </a:lnSpc>
              <a:spcBef>
                <a:spcPts val="0"/>
              </a:spcBef>
              <a:spcAft>
                <a:spcPts val="0"/>
              </a:spcAft>
              <a:buSzPct val="105440"/>
              <a:buNone/>
            </a:pPr>
            <a:r>
              <a:t/>
            </a:r>
            <a:endParaRPr sz="965">
              <a:latin typeface="Calibri"/>
              <a:ea typeface="Calibri"/>
              <a:cs typeface="Calibri"/>
              <a:sym typeface="Calibri"/>
            </a:endParaRPr>
          </a:p>
          <a:p>
            <a:pPr indent="0" lvl="0" marL="0" rtl="0" algn="l">
              <a:lnSpc>
                <a:spcPct val="75000"/>
              </a:lnSpc>
              <a:spcBef>
                <a:spcPts val="0"/>
              </a:spcBef>
              <a:spcAft>
                <a:spcPts val="0"/>
              </a:spcAft>
              <a:buSzPct val="105440"/>
              <a:buNone/>
            </a:pPr>
            <a:r>
              <a:rPr lang="en-GB" sz="965">
                <a:latin typeface="Calibri"/>
                <a:ea typeface="Calibri"/>
                <a:cs typeface="Calibri"/>
                <a:sym typeface="Calibri"/>
              </a:rPr>
              <a:t>Mini Me Insights. (2024, June 9). OLDTOWN White Coffee robotic chef and barista open for franchise. </a:t>
            </a:r>
            <a:r>
              <a:rPr lang="en-GB" sz="965" u="sng">
                <a:solidFill>
                  <a:schemeClr val="hlink"/>
                </a:solidFill>
                <a:latin typeface="Calibri"/>
                <a:ea typeface="Calibri"/>
                <a:cs typeface="Calibri"/>
                <a:sym typeface="Calibri"/>
                <a:hlinkClick r:id="rId7"/>
              </a:rPr>
              <a:t>https://www.minimeinsights.com/2024/06/09/oldtown-white-coffee-robotic-chef-and-barista-open-for-franchise/</a:t>
            </a:r>
            <a:endParaRPr sz="965">
              <a:latin typeface="Calibri"/>
              <a:ea typeface="Calibri"/>
              <a:cs typeface="Calibri"/>
              <a:sym typeface="Calibri"/>
            </a:endParaRPr>
          </a:p>
          <a:p>
            <a:pPr indent="0" lvl="0" marL="0" rtl="0" algn="l">
              <a:lnSpc>
                <a:spcPct val="75000"/>
              </a:lnSpc>
              <a:spcBef>
                <a:spcPts val="0"/>
              </a:spcBef>
              <a:spcAft>
                <a:spcPts val="0"/>
              </a:spcAft>
              <a:buSzPct val="105440"/>
              <a:buNone/>
            </a:pPr>
            <a:r>
              <a:t/>
            </a:r>
            <a:endParaRPr sz="965">
              <a:latin typeface="Calibri"/>
              <a:ea typeface="Calibri"/>
              <a:cs typeface="Calibri"/>
              <a:sym typeface="Calibri"/>
            </a:endParaRPr>
          </a:p>
          <a:p>
            <a:pPr indent="0" lvl="0" marL="0" rtl="0" algn="l">
              <a:lnSpc>
                <a:spcPct val="75000"/>
              </a:lnSpc>
              <a:spcBef>
                <a:spcPts val="0"/>
              </a:spcBef>
              <a:spcAft>
                <a:spcPts val="0"/>
              </a:spcAft>
              <a:buSzPct val="105440"/>
              <a:buNone/>
            </a:pPr>
            <a:r>
              <a:rPr lang="en-GB" sz="965">
                <a:latin typeface="Calibri"/>
                <a:ea typeface="Calibri"/>
                <a:cs typeface="Calibri"/>
                <a:sym typeface="Calibri"/>
              </a:rPr>
              <a:t>Vulcan Post. (2026). SGD 4 coffee, 81 stores: How is Luckin Coffee expanding rapidly in Singapore while keeping its coffee so cheap? </a:t>
            </a:r>
            <a:r>
              <a:rPr lang="en-GB" sz="965" u="sng">
                <a:solidFill>
                  <a:schemeClr val="hlink"/>
                </a:solidFill>
                <a:latin typeface="Calibri"/>
                <a:ea typeface="Calibri"/>
                <a:cs typeface="Calibri"/>
                <a:sym typeface="Calibri"/>
                <a:hlinkClick r:id="rId8"/>
              </a:rPr>
              <a:t>https://vulcanpost.com/910825/luckin-coffee-singapore-expansion/</a:t>
            </a:r>
            <a:endParaRPr sz="965">
              <a:latin typeface="Calibri"/>
              <a:ea typeface="Calibri"/>
              <a:cs typeface="Calibri"/>
              <a:sym typeface="Calibri"/>
            </a:endParaRPr>
          </a:p>
          <a:p>
            <a:pPr indent="0" lvl="0" marL="0" rtl="0" algn="l">
              <a:lnSpc>
                <a:spcPct val="75000"/>
              </a:lnSpc>
              <a:spcBef>
                <a:spcPts val="0"/>
              </a:spcBef>
              <a:spcAft>
                <a:spcPts val="0"/>
              </a:spcAft>
              <a:buSzPct val="105440"/>
              <a:buNone/>
            </a:pPr>
            <a:r>
              <a:t/>
            </a:r>
            <a:endParaRPr sz="965">
              <a:latin typeface="Calibri"/>
              <a:ea typeface="Calibri"/>
              <a:cs typeface="Calibri"/>
              <a:sym typeface="Calibri"/>
            </a:endParaRPr>
          </a:p>
          <a:p>
            <a:pPr indent="0" lvl="0" marL="0" rtl="0" algn="l">
              <a:lnSpc>
                <a:spcPct val="95000"/>
              </a:lnSpc>
              <a:spcBef>
                <a:spcPts val="0"/>
              </a:spcBef>
              <a:spcAft>
                <a:spcPts val="0"/>
              </a:spcAft>
              <a:buNone/>
            </a:pPr>
            <a:r>
              <a:rPr lang="en-GB" sz="965">
                <a:latin typeface="Calibri"/>
                <a:ea typeface="Calibri"/>
                <a:cs typeface="Calibri"/>
                <a:sym typeface="Calibri"/>
              </a:rPr>
              <a:t>Inside Retail Asia. (2026, March 3). Luckin Coffee's 30,000-store moment: Can scale sustain China's coffee boom? </a:t>
            </a:r>
            <a:r>
              <a:rPr lang="en-GB" sz="965" u="sng">
                <a:solidFill>
                  <a:schemeClr val="hlink"/>
                </a:solidFill>
                <a:latin typeface="Calibri"/>
                <a:ea typeface="Calibri"/>
                <a:cs typeface="Calibri"/>
                <a:sym typeface="Calibri"/>
                <a:hlinkClick r:id="rId9"/>
              </a:rPr>
              <a:t>https://insideretail.asia/2026/03/03/luckin-coffees-30000-store-moment-can-scale-sustain-chinas-coffee-boom/</a:t>
            </a:r>
            <a:endParaRPr sz="965">
              <a:latin typeface="Calibri"/>
              <a:ea typeface="Calibri"/>
              <a:cs typeface="Calibri"/>
              <a:sym typeface="Calibri"/>
            </a:endParaRPr>
          </a:p>
          <a:p>
            <a:pPr indent="0" lvl="0" marL="0" rtl="0" algn="l">
              <a:lnSpc>
                <a:spcPct val="95000"/>
              </a:lnSpc>
              <a:spcBef>
                <a:spcPts val="0"/>
              </a:spcBef>
              <a:spcAft>
                <a:spcPts val="0"/>
              </a:spcAft>
              <a:buNone/>
            </a:pPr>
            <a:r>
              <a:t/>
            </a:r>
            <a:endParaRPr sz="965">
              <a:latin typeface="Calibri"/>
              <a:ea typeface="Calibri"/>
              <a:cs typeface="Calibri"/>
              <a:sym typeface="Calibri"/>
            </a:endParaRPr>
          </a:p>
          <a:p>
            <a:pPr indent="0" lvl="0" marL="0" rtl="0" algn="l">
              <a:lnSpc>
                <a:spcPct val="95000"/>
              </a:lnSpc>
              <a:spcBef>
                <a:spcPts val="0"/>
              </a:spcBef>
              <a:spcAft>
                <a:spcPts val="0"/>
              </a:spcAft>
              <a:buNone/>
            </a:pPr>
            <a:r>
              <a:rPr lang="en-GB" sz="965">
                <a:latin typeface="Calibri"/>
                <a:ea typeface="Calibri"/>
                <a:cs typeface="Calibri"/>
                <a:sym typeface="Calibri"/>
              </a:rPr>
              <a:t>Momentum Works. (2025). Luckin Coffee: Rise, fall, and reinvention – Part 4. </a:t>
            </a:r>
            <a:r>
              <a:rPr lang="en-GB" sz="965" u="sng">
                <a:solidFill>
                  <a:schemeClr val="hlink"/>
                </a:solidFill>
                <a:latin typeface="Calibri"/>
                <a:ea typeface="Calibri"/>
                <a:cs typeface="Calibri"/>
                <a:sym typeface="Calibri"/>
                <a:hlinkClick r:id="rId10"/>
              </a:rPr>
              <a:t>https://thelowdown.momentum.asia/luckin-coffee-rise-fall-and-reinvention-part-4/</a:t>
            </a:r>
            <a:endParaRPr sz="965">
              <a:latin typeface="Calibri"/>
              <a:ea typeface="Calibri"/>
              <a:cs typeface="Calibri"/>
              <a:sym typeface="Calibri"/>
            </a:endParaRPr>
          </a:p>
          <a:p>
            <a:pPr indent="0" lvl="0" marL="0" rtl="0" algn="l">
              <a:lnSpc>
                <a:spcPct val="95000"/>
              </a:lnSpc>
              <a:spcBef>
                <a:spcPts val="0"/>
              </a:spcBef>
              <a:spcAft>
                <a:spcPts val="0"/>
              </a:spcAft>
              <a:buNone/>
            </a:pPr>
            <a:r>
              <a:t/>
            </a:r>
            <a:endParaRPr sz="965">
              <a:latin typeface="Calibri"/>
              <a:ea typeface="Calibri"/>
              <a:cs typeface="Calibri"/>
              <a:sym typeface="Calibri"/>
            </a:endParaRPr>
          </a:p>
          <a:p>
            <a:pPr indent="0" lvl="0" marL="0" rtl="0" algn="l">
              <a:lnSpc>
                <a:spcPct val="95000"/>
              </a:lnSpc>
              <a:spcBef>
                <a:spcPts val="0"/>
              </a:spcBef>
              <a:spcAft>
                <a:spcPts val="0"/>
              </a:spcAft>
              <a:buNone/>
            </a:pPr>
            <a:r>
              <a:rPr lang="en-GB" sz="965">
                <a:latin typeface="Calibri"/>
                <a:ea typeface="Calibri"/>
                <a:cs typeface="Calibri"/>
                <a:sym typeface="Calibri"/>
              </a:rPr>
              <a:t>TabSquare. (n.d.). OldTown White Coffee chooses automation | Try TabSquare for your restaurant's success [Video]. YouTube. </a:t>
            </a:r>
            <a:r>
              <a:rPr lang="en-GB" sz="965" u="sng">
                <a:solidFill>
                  <a:schemeClr val="hlink"/>
                </a:solidFill>
                <a:latin typeface="Calibri"/>
                <a:ea typeface="Calibri"/>
                <a:cs typeface="Calibri"/>
                <a:sym typeface="Calibri"/>
                <a:hlinkClick r:id="rId11"/>
              </a:rPr>
              <a:t>https://www.youtube.com/watch?v=zNAbk8IIpo</a:t>
            </a:r>
            <a:r>
              <a:rPr lang="en-GB" sz="965" u="sng">
                <a:solidFill>
                  <a:schemeClr val="hlink"/>
                </a:solidFill>
                <a:latin typeface="Calibri"/>
                <a:ea typeface="Calibri"/>
                <a:cs typeface="Calibri"/>
                <a:sym typeface="Calibri"/>
                <a:hlinkClick r:id="rId12"/>
              </a:rPr>
              <a:t>I</a:t>
            </a:r>
            <a:endParaRPr sz="965">
              <a:latin typeface="Calibri"/>
              <a:ea typeface="Calibri"/>
              <a:cs typeface="Calibri"/>
              <a:sym typeface="Calibri"/>
            </a:endParaRPr>
          </a:p>
          <a:p>
            <a:pPr indent="0" lvl="0" marL="0" rtl="0" algn="l">
              <a:lnSpc>
                <a:spcPct val="95000"/>
              </a:lnSpc>
              <a:spcBef>
                <a:spcPts val="0"/>
              </a:spcBef>
              <a:spcAft>
                <a:spcPts val="0"/>
              </a:spcAft>
              <a:buNone/>
            </a:pPr>
            <a:r>
              <a:t/>
            </a:r>
            <a:endParaRPr sz="965">
              <a:latin typeface="Calibri"/>
              <a:ea typeface="Calibri"/>
              <a:cs typeface="Calibri"/>
              <a:sym typeface="Calibri"/>
            </a:endParaRPr>
          </a:p>
          <a:p>
            <a:pPr indent="0" lvl="0" marL="0" rtl="0" algn="l">
              <a:spcBef>
                <a:spcPts val="0"/>
              </a:spcBef>
              <a:spcAft>
                <a:spcPts val="0"/>
              </a:spcAft>
              <a:buNone/>
            </a:pPr>
            <a:r>
              <a:rPr lang="en-GB" sz="965">
                <a:latin typeface="Calibri"/>
                <a:ea typeface="Calibri"/>
                <a:cs typeface="Calibri"/>
                <a:sym typeface="Calibri"/>
              </a:rPr>
              <a:t>BackScoop. (2024). OldTown White Coffee: The brand that introduced Malaysian white coffee to the world. </a:t>
            </a:r>
            <a:r>
              <a:rPr lang="en-GB" sz="965" u="sng">
                <a:solidFill>
                  <a:schemeClr val="hlink"/>
                </a:solidFill>
                <a:latin typeface="Calibri"/>
                <a:ea typeface="Calibri"/>
                <a:cs typeface="Calibri"/>
                <a:sym typeface="Calibri"/>
                <a:hlinkClick r:id="rId13"/>
              </a:rPr>
              <a:t>https://www.backscoop.com/newsletter-posts/oldtown-white-coffee-the-brand-that-introduced-malaysian-white-coffee-to-the-world</a:t>
            </a:r>
            <a:endParaRPr sz="965">
              <a:latin typeface="Calibri"/>
              <a:ea typeface="Calibri"/>
              <a:cs typeface="Calibri"/>
              <a:sym typeface="Calibri"/>
            </a:endParaRPr>
          </a:p>
          <a:p>
            <a:pPr indent="0" lvl="0" marL="0" rtl="0" algn="l">
              <a:spcBef>
                <a:spcPts val="0"/>
              </a:spcBef>
              <a:spcAft>
                <a:spcPts val="0"/>
              </a:spcAft>
              <a:buNone/>
            </a:pPr>
            <a:r>
              <a:t/>
            </a:r>
            <a:endParaRPr sz="965">
              <a:latin typeface="Calibri"/>
              <a:ea typeface="Calibri"/>
              <a:cs typeface="Calibri"/>
              <a:sym typeface="Calibri"/>
            </a:endParaRPr>
          </a:p>
          <a:p>
            <a:pPr indent="0" lvl="0" marL="0" rtl="0" algn="l">
              <a:spcBef>
                <a:spcPts val="0"/>
              </a:spcBef>
              <a:spcAft>
                <a:spcPts val="0"/>
              </a:spcAft>
              <a:buNone/>
            </a:pPr>
            <a:r>
              <a:rPr lang="en-GB" sz="965">
                <a:latin typeface="Calibri"/>
                <a:ea typeface="Calibri"/>
                <a:cs typeface="Calibri"/>
                <a:sym typeface="Calibri"/>
              </a:rPr>
              <a:t>GeekyAnts. (2025). AI demand forecasting for restaurants: Cut food waste and boost margins. </a:t>
            </a:r>
            <a:r>
              <a:rPr lang="en-GB" sz="965" u="sng">
                <a:solidFill>
                  <a:schemeClr val="hlink"/>
                </a:solidFill>
                <a:latin typeface="Calibri"/>
                <a:ea typeface="Calibri"/>
                <a:cs typeface="Calibri"/>
                <a:sym typeface="Calibri"/>
                <a:hlinkClick r:id="rId14"/>
              </a:rPr>
              <a:t>https://geekyants.com/blog/ai-demand-forecasting-for-restaurants-cut-food-waste-boost-margins</a:t>
            </a:r>
            <a:endParaRPr sz="965">
              <a:latin typeface="Calibri"/>
              <a:ea typeface="Calibri"/>
              <a:cs typeface="Calibri"/>
              <a:sym typeface="Calibri"/>
            </a:endParaRPr>
          </a:p>
          <a:p>
            <a:pPr indent="0" lvl="0" marL="0" rtl="0" algn="l">
              <a:spcBef>
                <a:spcPts val="0"/>
              </a:spcBef>
              <a:spcAft>
                <a:spcPts val="0"/>
              </a:spcAft>
              <a:buNone/>
            </a:pPr>
            <a:r>
              <a:t/>
            </a:r>
            <a:endParaRPr sz="965">
              <a:latin typeface="Calibri"/>
              <a:ea typeface="Calibri"/>
              <a:cs typeface="Calibri"/>
              <a:sym typeface="Calibri"/>
            </a:endParaRPr>
          </a:p>
          <a:p>
            <a:pPr indent="0" lvl="0" marL="0" rtl="0" algn="l">
              <a:lnSpc>
                <a:spcPct val="95000"/>
              </a:lnSpc>
              <a:spcBef>
                <a:spcPts val="0"/>
              </a:spcBef>
              <a:spcAft>
                <a:spcPts val="0"/>
              </a:spcAft>
              <a:buNone/>
            </a:pPr>
            <a:r>
              <a:rPr lang="en-GB" sz="965">
                <a:latin typeface="Calibri"/>
                <a:ea typeface="Calibri"/>
                <a:cs typeface="Calibri"/>
                <a:sym typeface="Calibri"/>
              </a:rPr>
              <a:t>Jobaaj Learnings. (2025). Starbucks Rewards: A global loyalty ecosystem case study. </a:t>
            </a:r>
            <a:r>
              <a:rPr lang="en-GB" sz="965" u="sng">
                <a:solidFill>
                  <a:schemeClr val="hlink"/>
                </a:solidFill>
                <a:latin typeface="Calibri"/>
                <a:ea typeface="Calibri"/>
                <a:cs typeface="Calibri"/>
                <a:sym typeface="Calibri"/>
                <a:hlinkClick r:id="rId15"/>
              </a:rPr>
              <a:t>https://www.jobaajlearnings.com/casestudies/Starbucks-Rewards-A-Global-Loyalty-Ecosystem-Case-Study</a:t>
            </a:r>
            <a:endParaRPr sz="965">
              <a:latin typeface="Calibri"/>
              <a:ea typeface="Calibri"/>
              <a:cs typeface="Calibri"/>
              <a:sym typeface="Calibri"/>
            </a:endParaRPr>
          </a:p>
          <a:p>
            <a:pPr indent="0" lvl="0" marL="0" rtl="0" algn="l">
              <a:lnSpc>
                <a:spcPct val="95000"/>
              </a:lnSpc>
              <a:spcBef>
                <a:spcPts val="0"/>
              </a:spcBef>
              <a:spcAft>
                <a:spcPts val="0"/>
              </a:spcAft>
              <a:buNone/>
            </a:pPr>
            <a:r>
              <a:t/>
            </a:r>
            <a:endParaRPr sz="965">
              <a:latin typeface="Calibri"/>
              <a:ea typeface="Calibri"/>
              <a:cs typeface="Calibri"/>
              <a:sym typeface="Calibri"/>
            </a:endParaRPr>
          </a:p>
          <a:p>
            <a:pPr indent="0" lvl="0" marL="0" rtl="0" algn="l">
              <a:lnSpc>
                <a:spcPct val="75000"/>
              </a:lnSpc>
              <a:spcBef>
                <a:spcPts val="0"/>
              </a:spcBef>
              <a:spcAft>
                <a:spcPts val="0"/>
              </a:spcAft>
              <a:buSzPct val="105440"/>
              <a:buNone/>
            </a:pPr>
            <a:r>
              <a:t/>
            </a:r>
            <a:endParaRPr sz="965">
              <a:latin typeface="Calibri"/>
              <a:ea typeface="Calibri"/>
              <a:cs typeface="Calibri"/>
              <a:sym typeface="Calibri"/>
            </a:endParaRPr>
          </a:p>
          <a:p>
            <a:pPr indent="0" lvl="0" marL="0" rtl="0" algn="l">
              <a:lnSpc>
                <a:spcPct val="75000"/>
              </a:lnSpc>
              <a:spcBef>
                <a:spcPts val="0"/>
              </a:spcBef>
              <a:spcAft>
                <a:spcPts val="0"/>
              </a:spcAft>
              <a:buSzPct val="105440"/>
              <a:buNone/>
            </a:pPr>
            <a:r>
              <a:rPr lang="en-GB" sz="965">
                <a:latin typeface="Calibri"/>
                <a:ea typeface="Calibri"/>
                <a:cs typeface="Calibri"/>
                <a:sym typeface="Calibri"/>
              </a:rPr>
              <a:t>GoSnappy.io. (2024). 10 ways AI can help your restaurant increase margins. </a:t>
            </a:r>
            <a:r>
              <a:rPr lang="en-GB" sz="965" u="sng">
                <a:solidFill>
                  <a:schemeClr val="hlink"/>
                </a:solidFill>
                <a:latin typeface="Calibri"/>
                <a:ea typeface="Calibri"/>
                <a:cs typeface="Calibri"/>
                <a:sym typeface="Calibri"/>
                <a:hlinkClick r:id="rId16"/>
              </a:rPr>
              <a:t>https://gosnappy.io/blog/ways-ai-can-help-your-restaurant/</a:t>
            </a:r>
            <a:endParaRPr sz="965">
              <a:latin typeface="Calibri"/>
              <a:ea typeface="Calibri"/>
              <a:cs typeface="Calibri"/>
              <a:sym typeface="Calibri"/>
            </a:endParaRPr>
          </a:p>
          <a:p>
            <a:pPr indent="0" lvl="0" marL="0" rtl="0" algn="l">
              <a:lnSpc>
                <a:spcPct val="75000"/>
              </a:lnSpc>
              <a:spcBef>
                <a:spcPts val="1200"/>
              </a:spcBef>
              <a:spcAft>
                <a:spcPts val="0"/>
              </a:spcAft>
              <a:buSzPct val="105440"/>
              <a:buNone/>
            </a:pPr>
            <a:r>
              <a:rPr lang="en-GB" sz="965">
                <a:latin typeface="Calibri"/>
                <a:ea typeface="Calibri"/>
                <a:cs typeface="Calibri"/>
                <a:sym typeface="Calibri"/>
              </a:rPr>
              <a:t>Google Gemini. (2026). Digital micro-kiosk design for Old Town White Coffee inspired by Luckin Coffee [AI-generated image]. </a:t>
            </a:r>
            <a:r>
              <a:rPr lang="en-GB" sz="965" u="sng">
                <a:solidFill>
                  <a:schemeClr val="hlink"/>
                </a:solidFill>
                <a:latin typeface="Calibri"/>
                <a:ea typeface="Calibri"/>
                <a:cs typeface="Calibri"/>
                <a:sym typeface="Calibri"/>
                <a:hlinkClick r:id="rId17"/>
              </a:rPr>
              <a:t>https://gemini.google.com</a:t>
            </a:r>
            <a:endParaRPr sz="965">
              <a:latin typeface="Calibri"/>
              <a:ea typeface="Calibri"/>
              <a:cs typeface="Calibri"/>
              <a:sym typeface="Calibri"/>
            </a:endParaRPr>
          </a:p>
          <a:p>
            <a:pPr indent="0" lvl="0" marL="0" rtl="0" algn="l">
              <a:lnSpc>
                <a:spcPct val="75000"/>
              </a:lnSpc>
              <a:spcBef>
                <a:spcPts val="1200"/>
              </a:spcBef>
              <a:spcAft>
                <a:spcPts val="1200"/>
              </a:spcAft>
              <a:buSzPct val="105440"/>
              <a:buNone/>
            </a:pPr>
            <a:r>
              <a:t/>
            </a:r>
            <a:endParaRPr sz="965">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